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196f876d3054159" /><Relationship Type="http://schemas.openxmlformats.org/officeDocument/2006/relationships/extended-properties" Target="/docProps/app.xml" Id="Rf40e4fde07e540d0" /><Relationship Type="http://schemas.openxmlformats.org/officeDocument/2006/relationships/officeDocument" Target="/ppt/presentation.xml" Id="Rc71fb0b969cd437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b8a9bb0b4bb43a3"/>
  </p:sldMasterIdLst>
  <p:notesMasterIdLst>
    <p:notesMasterId xmlns:r="http://schemas.openxmlformats.org/officeDocument/2006/relationships" r:id="R14d5732aa33b4286"/>
  </p:notesMasterIdLst>
  <p:sldIdLst>
    <p:sldId xmlns:r="http://schemas.openxmlformats.org/officeDocument/2006/relationships" id="256" r:id="R39beee84dbd44931"/>
    <p:sldId xmlns:r="http://schemas.openxmlformats.org/officeDocument/2006/relationships" id="257" r:id="R2e8fb0a07e674464"/>
    <p:sldId xmlns:r="http://schemas.openxmlformats.org/officeDocument/2006/relationships" id="258" r:id="R45d9a8feb8764408"/>
    <p:sldId xmlns:r="http://schemas.openxmlformats.org/officeDocument/2006/relationships" id="259" r:id="Rdc95aaaf759944a3"/>
    <p:sldId xmlns:r="http://schemas.openxmlformats.org/officeDocument/2006/relationships" id="260" r:id="Rfbc65746a17b407c"/>
    <p:sldId xmlns:r="http://schemas.openxmlformats.org/officeDocument/2006/relationships" id="261" r:id="Re2aa0d3211cd48ab"/>
    <p:sldId xmlns:r="http://schemas.openxmlformats.org/officeDocument/2006/relationships" id="262" r:id="R234bd704a8904fca"/>
    <p:sldId xmlns:r="http://schemas.openxmlformats.org/officeDocument/2006/relationships" id="263" r:id="R4f2b0447e980469b"/>
    <p:sldId xmlns:r="http://schemas.openxmlformats.org/officeDocument/2006/relationships" id="264" r:id="R5ef95a40b5334422"/>
    <p:sldId xmlns:r="http://schemas.openxmlformats.org/officeDocument/2006/relationships" id="265" r:id="R309152384f404a07"/>
    <p:sldId xmlns:r="http://schemas.openxmlformats.org/officeDocument/2006/relationships" id="266" r:id="Rd735338991c14184"/>
    <p:sldId xmlns:r="http://schemas.openxmlformats.org/officeDocument/2006/relationships" id="267" r:id="Rb39acccda36249ba"/>
    <p:sldId xmlns:r="http://schemas.openxmlformats.org/officeDocument/2006/relationships" id="268" r:id="Re8b8ee70bfdf46bb"/>
    <p:sldId xmlns:r="http://schemas.openxmlformats.org/officeDocument/2006/relationships" id="269" r:id="R25fcc0bc17e54045"/>
    <p:sldId xmlns:r="http://schemas.openxmlformats.org/officeDocument/2006/relationships" id="270" r:id="R5f447bfe4f4c43f7"/>
    <p:sldId xmlns:r="http://schemas.openxmlformats.org/officeDocument/2006/relationships" id="271" r:id="R733f67d16bb04388"/>
    <p:sldId xmlns:r="http://schemas.openxmlformats.org/officeDocument/2006/relationships" id="272" r:id="R7bc0c61817924510"/>
    <p:sldId xmlns:r="http://schemas.openxmlformats.org/officeDocument/2006/relationships" id="273" r:id="R542c4e7cb49b4ef8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1cc13594d4143d3" /><Relationship Type="http://schemas.openxmlformats.org/officeDocument/2006/relationships/slideMaster" Target="/ppt/slideMasters/slideMaster1.xml" Id="R4b8a9bb0b4bb43a3" /><Relationship Type="http://schemas.openxmlformats.org/officeDocument/2006/relationships/notesMaster" Target="/ppt/notesMasters/notesMaster1.xml" Id="R14d5732aa33b4286" /><Relationship Type="http://schemas.openxmlformats.org/officeDocument/2006/relationships/presProps" Target="/ppt/presProps.xml" Id="R3391bf516df34b12" /><Relationship Type="http://schemas.openxmlformats.org/officeDocument/2006/relationships/tableStyles" Target="/ppt/tableStyles.xml" Id="R58f00ac6598e47b2" /><Relationship Type="http://schemas.openxmlformats.org/officeDocument/2006/relationships/slide" Target="/ppt/slides/slide1.xml" Id="R39beee84dbd44931" /><Relationship Type="http://schemas.openxmlformats.org/officeDocument/2006/relationships/slide" Target="/ppt/slides/slide2.xml" Id="R2e8fb0a07e674464" /><Relationship Type="http://schemas.openxmlformats.org/officeDocument/2006/relationships/slide" Target="/ppt/slides/slide3.xml" Id="R45d9a8feb8764408" /><Relationship Type="http://schemas.openxmlformats.org/officeDocument/2006/relationships/slide" Target="/ppt/slides/slide4.xml" Id="Rdc95aaaf759944a3" /><Relationship Type="http://schemas.openxmlformats.org/officeDocument/2006/relationships/slide" Target="/ppt/slides/slide5.xml" Id="Rfbc65746a17b407c" /><Relationship Type="http://schemas.openxmlformats.org/officeDocument/2006/relationships/slide" Target="/ppt/slides/slide6.xml" Id="Re2aa0d3211cd48ab" /><Relationship Type="http://schemas.openxmlformats.org/officeDocument/2006/relationships/slide" Target="/ppt/slides/slide7.xml" Id="R234bd704a8904fca" /><Relationship Type="http://schemas.openxmlformats.org/officeDocument/2006/relationships/slide" Target="/ppt/slides/slide8.xml" Id="R4f2b0447e980469b" /><Relationship Type="http://schemas.openxmlformats.org/officeDocument/2006/relationships/slide" Target="/ppt/slides/slide9.xml" Id="R5ef95a40b5334422" /><Relationship Type="http://schemas.openxmlformats.org/officeDocument/2006/relationships/slide" Target="/ppt/slides/slide10.xml" Id="R309152384f404a07" /><Relationship Type="http://schemas.openxmlformats.org/officeDocument/2006/relationships/slide" Target="/ppt/slides/slide11.xml" Id="Rd735338991c14184" /><Relationship Type="http://schemas.openxmlformats.org/officeDocument/2006/relationships/slide" Target="/ppt/slides/slide12.xml" Id="Rb39acccda36249ba" /><Relationship Type="http://schemas.openxmlformats.org/officeDocument/2006/relationships/slide" Target="/ppt/slides/slide13.xml" Id="Re8b8ee70bfdf46bb" /><Relationship Type="http://schemas.openxmlformats.org/officeDocument/2006/relationships/slide" Target="/ppt/slides/slide14.xml" Id="R25fcc0bc17e54045" /><Relationship Type="http://schemas.openxmlformats.org/officeDocument/2006/relationships/slide" Target="/ppt/slides/slide15.xml" Id="R5f447bfe4f4c43f7" /><Relationship Type="http://schemas.openxmlformats.org/officeDocument/2006/relationships/slide" Target="/ppt/slides/slide16.xml" Id="R733f67d16bb04388" /><Relationship Type="http://schemas.openxmlformats.org/officeDocument/2006/relationships/slide" Target="/ppt/slides/slide17.xml" Id="R7bc0c61817924510" /><Relationship Type="http://schemas.openxmlformats.org/officeDocument/2006/relationships/slide" Target="/ppt/slides/slide18.xml" Id="R542c4e7cb49b4ef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f88741ca571458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843d54477494459" /><Relationship Type="http://schemas.openxmlformats.org/officeDocument/2006/relationships/notesMaster" Target="/ppt/notesMasters/notesMaster1.xml" Id="R7ca4bbb8d842484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a30d4653fc84c55" /><Relationship Type="http://schemas.openxmlformats.org/officeDocument/2006/relationships/notesMaster" Target="/ppt/notesMasters/notesMaster1.xml" Id="R5c2f71f91cfe4ab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f22feb0f80e4990" /><Relationship Type="http://schemas.openxmlformats.org/officeDocument/2006/relationships/notesMaster" Target="/ppt/notesMasters/notesMaster1.xml" Id="R2689ce843d504e3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496f48352bf4bec" /><Relationship Type="http://schemas.openxmlformats.org/officeDocument/2006/relationships/notesMaster" Target="/ppt/notesMasters/notesMaster1.xml" Id="R9fd35aa0c1d04a9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906243d3abe45a2" /><Relationship Type="http://schemas.openxmlformats.org/officeDocument/2006/relationships/notesMaster" Target="/ppt/notesMasters/notesMaster1.xml" Id="Rc757249bcf8d487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5041cf3b5d94ca7" /><Relationship Type="http://schemas.openxmlformats.org/officeDocument/2006/relationships/notesMaster" Target="/ppt/notesMasters/notesMaster1.xml" Id="Ra7d045bcb0f1469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75bf816ed734429" /><Relationship Type="http://schemas.openxmlformats.org/officeDocument/2006/relationships/notesMaster" Target="/ppt/notesMasters/notesMaster1.xml" Id="R7f135088de56450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426aeb04ece4b44" /><Relationship Type="http://schemas.openxmlformats.org/officeDocument/2006/relationships/notesMaster" Target="/ppt/notesMasters/notesMaster1.xml" Id="Rb69a8ba41c85467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e815ac08ce64434" /><Relationship Type="http://schemas.openxmlformats.org/officeDocument/2006/relationships/notesMaster" Target="/ppt/notesMasters/notesMaster1.xml" Id="R63ed98390fb0465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24fe7fc2d674477" /><Relationship Type="http://schemas.openxmlformats.org/officeDocument/2006/relationships/notesMaster" Target="/ppt/notesMasters/notesMaster1.xml" Id="Rb2e1f806d84d488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03c624c3e8e43e8" /><Relationship Type="http://schemas.openxmlformats.org/officeDocument/2006/relationships/notesMaster" Target="/ppt/notesMasters/notesMaster1.xml" Id="R1ca6f3f9ff194dc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31996f08d894e39" /><Relationship Type="http://schemas.openxmlformats.org/officeDocument/2006/relationships/notesMaster" Target="/ppt/notesMasters/notesMaster1.xml" Id="R890a1e5947b64af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c57aa71bc50453d" /><Relationship Type="http://schemas.openxmlformats.org/officeDocument/2006/relationships/notesMaster" Target="/ppt/notesMasters/notesMaster1.xml" Id="Re1c8a758e8ba4eb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ed51519c961241ea" /><Relationship Type="http://schemas.openxmlformats.org/officeDocument/2006/relationships/notesMaster" Target="/ppt/notesMasters/notesMaster1.xml" Id="Rd35f773b954b4756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d3ce0efd1b36467e" /><Relationship Type="http://schemas.openxmlformats.org/officeDocument/2006/relationships/notesMaster" Target="/ppt/notesMasters/notesMaster1.xml" Id="Rdadc4f273a22483e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1047af44fdea4544" /><Relationship Type="http://schemas.openxmlformats.org/officeDocument/2006/relationships/notesMaster" Target="/ppt/notesMasters/notesMaster1.xml" Id="R966d50a937404f7a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0c04accd2b2a47e9" /><Relationship Type="http://schemas.openxmlformats.org/officeDocument/2006/relationships/notesMaster" Target="/ppt/notesMasters/notesMaster1.xml" Id="Rc022507f31dc4be4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596c195c3a6d48f9" /><Relationship Type="http://schemas.openxmlformats.org/officeDocument/2006/relationships/notesMaster" Target="/ppt/notesMasters/notesMaster1.xml" Id="Rb568cce86b3f402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원문: Exponential View, The State of the AI Economy 2026.</a:t>
            </a:r>
          </a:p>
          <a:p xmlns:a="http://schemas.openxmlformats.org/drawingml/2006/main">
            <a:r>
              <a:t>강의 목적: 시장 수치를 현업 AX 과제 선정 기준으로 번역한다.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시장 브리핑의 요지는 수요는 검증되었지만 기업 내부 가치는 아직 설계 문제라는 점이다.</a:t>
            </a:r>
          </a:p>
          <a:p xmlns:a="http://schemas.openxmlformats.org/drawingml/2006/main">
            <a:r>
              <a:t>AX 과제는 도구 사용법이 아니라 업무 산출물의 변화로 잡아야 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수치: 매출 $110B TTM, $175B run-rate, 3x faster, $1B 추가 매출 시간이 180일에서 2일 미만.</a:t>
            </a:r>
          </a:p>
          <a:p xmlns:a="http://schemas.openxmlformats.org/drawingml/2006/main">
            <a:r>
              <a:t>신세계 I&amp;C에는 AI 예산을 실험이 아니라 업무 시스템 전환 관점으로 볼 필요가 있다는 메시지.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보고서는 앱, 모델, 호스팅 매출을 중복 제거해 수요를 본다.</a:t>
            </a:r>
          </a:p>
          <a:p xmlns:a="http://schemas.openxmlformats.org/drawingml/2006/main">
            <a:r>
              <a:t>기업 내부 AX에서는 이 스택을 그대로 사내 업무 루프로 번역해야 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AI revenue는 GDP 대비 0.42%, IT sector는 9.4%.</a:t>
            </a:r>
          </a:p>
          <a:p xmlns:a="http://schemas.openxmlformats.org/drawingml/2006/main">
            <a:r>
              <a:t>기업 현업에서는 과제별 비용 절감, 처리량 증가, 품질 향상을 먼저 측정해야 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S&amp;P 500 AI impact claims 중 비용 절감, 시간 절약, 처리량 증가가 70%.</a:t>
            </a:r>
          </a:p>
          <a:p xmlns:a="http://schemas.openxmlformats.org/drawingml/2006/main">
            <a:r>
              <a:t>워크샵에서는 이 네 가지 중 하나로 과제를 설명하게 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핵심 수치: $2T cumulative CapEx, $535B above trend, $111B depreciation, 19% headroom.</a:t>
            </a:r>
          </a:p>
          <a:p xmlns:a="http://schemas.openxmlformats.org/drawingml/2006/main">
            <a:r>
              <a:t>현업 과제에서는 토큰 사용량과 업무 효과를 같이 기록해야 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보고서의 1GW capacity 예시는 토큰 가격의 하한선을 설명한다.</a:t>
            </a:r>
          </a:p>
          <a:p xmlns:a="http://schemas.openxmlformats.org/drawingml/2006/main">
            <a:r>
              <a:t>신세계 I&amp;C에서는 토큰을 많이 쓰는 과제보다 산출물이 검증되는 과제를 우선해야 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Global token volumes exceed 30Q/month and grow 14x YoY.</a:t>
            </a:r>
          </a:p>
          <a:p xmlns:a="http://schemas.openxmlformats.org/drawingml/2006/main">
            <a:r>
              <a:t>Agentic workload는 도구 호출과 reasoning 때문에 작업당 토큰 사용량이 커진다.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보고서는 가격 탄력성 1.2-1.8을 제시한다.</a:t>
            </a:r>
          </a:p>
          <a:p xmlns:a="http://schemas.openxmlformats.org/drawingml/2006/main">
            <a:r>
              <a:t>가격이 내려가면 이전에 비경제적이던 업무도 시도할 수 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보고서는 quality-adjusted output tokens를 가치 단위 후보로 제시한다.</a:t>
            </a:r>
          </a:p>
          <a:p xmlns:a="http://schemas.openxmlformats.org/drawingml/2006/main">
            <a:r>
              <a:t>워크샵 스프레드시트에는 산출물, 검증 기준, 완료 증거를 기록하도록 연결한다.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보고서의 stack 관점: chips, hosting, foundation models, apps.</a:t>
            </a:r>
          </a:p>
          <a:p xmlns:a="http://schemas.openxmlformats.org/drawingml/2006/main">
            <a:r>
              <a:t>신세계 I&amp;C는 app/workflow layer에서 현업 가치와 방어력을 만든다.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참가자 명단의 직무 분포를 반영한 과제 후보 영역이다.</a:t>
            </a:r>
          </a:p>
          <a:p xmlns:a="http://schemas.openxmlformats.org/drawingml/2006/main">
            <a:r>
              <a:t>각 팀은 영역보다 실제 업무 입력/출력/검증 기준을 먼저 정의해야 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워크샵에서 과제 후보를 선택할 때 이 2x2를 사용한다.</a:t>
            </a:r>
          </a:p>
          <a:p xmlns:a="http://schemas.openxmlformats.org/drawingml/2006/main">
            <a:r>
              <a:t>Start quadrant: 반복이 높고 위험이 낮거나 검증 기준이 명확한 업무.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워크샵 평가 루브릭과 동일한 기준이다.</a:t>
            </a:r>
          </a:p>
          <a:p xmlns:a="http://schemas.openxmlformats.org/drawingml/2006/main">
            <a:r>
              <a:t>다섯 질문 중 하나라도 답하지 못하면 과제를 좁힌다.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시장 브리핑을 끝낸 뒤 워크샵 자료로 전환할 때 쓰는 연결 장표다.</a:t>
            </a:r>
          </a:p>
          <a:p xmlns:a="http://schemas.openxmlformats.org/drawingml/2006/main">
            <a:r>
              <a:t>오늘 결정한 과제가 8월 구현 과제가 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장표에서 워크샵 운영 스프레드시트로 전환한다.</a:t>
            </a:r>
          </a:p>
          <a:p xmlns:a="http://schemas.openxmlformats.org/drawingml/2006/main">
            <a:r>
              <a:t>기록이 8월 구현의 출발점임을 강조한다.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다음 순서는 팀빌딩과 Project Canvas 작성이다.</a:t>
            </a:r>
          </a:p>
          <a:p xmlns:a="http://schemas.openxmlformats.org/drawingml/2006/main">
            <a:r>
              <a:t>시장 브리핑의 결론을 워크샵 행동으로 전환한다.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7049d2b31034bf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6c77712a5c94eb6" /><Relationship Type="http://schemas.openxmlformats.org/officeDocument/2006/relationships/slideLayout" Target="/ppt/slideLayouts/slideLayout1.xml" Id="Rfa9826819210420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a9826819210420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8d53d64f1d49a7" /><Relationship Type="http://schemas.openxmlformats.org/officeDocument/2006/relationships/image" Target="/ppt/media/image.png" Id="R230387bf02eb49eb" /><Relationship Type="http://schemas.openxmlformats.org/officeDocument/2006/relationships/notesSlide" Target="/ppt/notesSlides/notesSlide1.xml" Id="Rcca4b093ba6c448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e690149b0e41e8" /><Relationship Type="http://schemas.openxmlformats.org/officeDocument/2006/relationships/image" Target="/ppt/media/image2.png" Id="R6cb7a6b04432438e" /><Relationship Type="http://schemas.openxmlformats.org/officeDocument/2006/relationships/notesSlide" Target="/ppt/notesSlides/notesSlide2.xml" Id="Rc89d28c282ca45e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ff7a40a5804442" /><Relationship Type="http://schemas.openxmlformats.org/officeDocument/2006/relationships/image" Target="/ppt/media/image3.png" Id="Rd1584291a0824008" /><Relationship Type="http://schemas.openxmlformats.org/officeDocument/2006/relationships/notesSlide" Target="/ppt/notesSlides/notesSlide3.xml" Id="Recdad389cb30490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15e96710fb4246" /><Relationship Type="http://schemas.openxmlformats.org/officeDocument/2006/relationships/image" Target="/ppt/media/image4.png" Id="Rce9ece86c0614198" /><Relationship Type="http://schemas.openxmlformats.org/officeDocument/2006/relationships/notesSlide" Target="/ppt/notesSlides/notesSlide4.xml" Id="R2318a3e603e34e3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54f95940a24f3f" /><Relationship Type="http://schemas.openxmlformats.org/officeDocument/2006/relationships/image" Target="/ppt/media/image5.png" Id="R8eddb5c9e62a46ca" /><Relationship Type="http://schemas.openxmlformats.org/officeDocument/2006/relationships/notesSlide" Target="/ppt/notesSlides/notesSlide5.xml" Id="R0e76530f22214e5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b5d55509ad4944" /><Relationship Type="http://schemas.openxmlformats.org/officeDocument/2006/relationships/image" Target="/ppt/media/image6.png" Id="R4abbbe45942a4a2b" /><Relationship Type="http://schemas.openxmlformats.org/officeDocument/2006/relationships/notesSlide" Target="/ppt/notesSlides/notesSlide6.xml" Id="Rad218348609547b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5a6ab2b2734348" /><Relationship Type="http://schemas.openxmlformats.org/officeDocument/2006/relationships/image" Target="/ppt/media/image7.png" Id="R785838c704a74625" /><Relationship Type="http://schemas.openxmlformats.org/officeDocument/2006/relationships/notesSlide" Target="/ppt/notesSlides/notesSlide7.xml" Id="R0cf08e49c5e847c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98adfa84c743bd" /><Relationship Type="http://schemas.openxmlformats.org/officeDocument/2006/relationships/image" Target="/ppt/media/image8.png" Id="R8353e49920d344ce" /><Relationship Type="http://schemas.openxmlformats.org/officeDocument/2006/relationships/notesSlide" Target="/ppt/notesSlides/notesSlide8.xml" Id="R0062dede4882477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929bd17a284b3e" /><Relationship Type="http://schemas.openxmlformats.org/officeDocument/2006/relationships/image" Target="/ppt/media/image9.png" Id="Rc565e7a4bc004185" /><Relationship Type="http://schemas.openxmlformats.org/officeDocument/2006/relationships/notesSlide" Target="/ppt/notesSlides/notesSlide9.xml" Id="Rdfa8ed469332444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fc70f1d4d54d82" /><Relationship Type="http://schemas.openxmlformats.org/officeDocument/2006/relationships/image" Target="/ppt/media/image10.png" Id="R95e17e48fbc54e00" /><Relationship Type="http://schemas.openxmlformats.org/officeDocument/2006/relationships/notesSlide" Target="/ppt/notesSlides/notesSlide10.xml" Id="Ref100e792f4a49f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8614967a8244ee" /><Relationship Type="http://schemas.openxmlformats.org/officeDocument/2006/relationships/image" Target="/ppt/media/image11.png" Id="R7689992581574386" /><Relationship Type="http://schemas.openxmlformats.org/officeDocument/2006/relationships/notesSlide" Target="/ppt/notesSlides/notesSlide11.xml" Id="Ref208bf028e24c1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44a59050464500" /><Relationship Type="http://schemas.openxmlformats.org/officeDocument/2006/relationships/image" Target="/ppt/media/image12.png" Id="R4d3a1387d0e845c7" /><Relationship Type="http://schemas.openxmlformats.org/officeDocument/2006/relationships/notesSlide" Target="/ppt/notesSlides/notesSlide12.xml" Id="R98addbd740bf4eb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4168862ec341c8" /><Relationship Type="http://schemas.openxmlformats.org/officeDocument/2006/relationships/image" Target="/ppt/media/image13.png" Id="R6a0aae6530f7400e" /><Relationship Type="http://schemas.openxmlformats.org/officeDocument/2006/relationships/notesSlide" Target="/ppt/notesSlides/notesSlide13.xml" Id="R44c203c627c64477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2e1a2cce474dab" /><Relationship Type="http://schemas.openxmlformats.org/officeDocument/2006/relationships/image" Target="/ppt/media/image14.png" Id="R3aade91739c045c7" /><Relationship Type="http://schemas.openxmlformats.org/officeDocument/2006/relationships/notesSlide" Target="/ppt/notesSlides/notesSlide14.xml" Id="Re731e52df86c418b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5dc2601c6a4b4a" /><Relationship Type="http://schemas.openxmlformats.org/officeDocument/2006/relationships/image" Target="/ppt/media/image15.png" Id="R8f781df112bf42c6" /><Relationship Type="http://schemas.openxmlformats.org/officeDocument/2006/relationships/notesSlide" Target="/ppt/notesSlides/notesSlide15.xml" Id="R4f83cb918085465d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632cb5208049f0" /><Relationship Type="http://schemas.openxmlformats.org/officeDocument/2006/relationships/image" Target="/ppt/media/image16.png" Id="R31fb6132d1284655" /><Relationship Type="http://schemas.openxmlformats.org/officeDocument/2006/relationships/notesSlide" Target="/ppt/notesSlides/notesSlide16.xml" Id="R227727801083463e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485547fb57490c" /><Relationship Type="http://schemas.openxmlformats.org/officeDocument/2006/relationships/image" Target="/ppt/media/image17.png" Id="R765b9ded8403449b" /><Relationship Type="http://schemas.openxmlformats.org/officeDocument/2006/relationships/notesSlide" Target="/ppt/notesSlides/notesSlide17.xml" Id="R5884aeb5cf0a4046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9dc1190e8c470a" /><Relationship Type="http://schemas.openxmlformats.org/officeDocument/2006/relationships/image" Target="/ppt/media/image18.png" Id="R9c43c84d1ab1489e" /><Relationship Type="http://schemas.openxmlformats.org/officeDocument/2006/relationships/notesSlide" Target="/ppt/notesSlides/notesSlide18.xml" Id="R48d51efc17c745f0" /></Relationships>
</file>

<file path=ppt/slides/slide1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3B8AF2"/>
            </a:gs>
            <a:gs pos="100000">
              <a:srgbClr val="1455A6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cover-ring-1">
            <a:extLst xmlns:a="http://schemas.openxmlformats.org/drawingml/2006/main">
              <a:ext uri="{FF2B5EF4-FFF2-40B4-BE49-F238E27FC236}">
                <a16:creationId xmlns:a16="http://schemas.microsoft.com/office/drawing/2014/main" id="{677437F2-63F6-4C81-A633-6C8BB38CA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762000" y="-952500"/>
            <a:ext cx="3619500" cy="2476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" name="cover-ring-2">
            <a:extLst xmlns:a="http://schemas.openxmlformats.org/drawingml/2006/main">
              <a:ext uri="{FF2B5EF4-FFF2-40B4-BE49-F238E27FC236}">
                <a16:creationId xmlns:a16="http://schemas.microsoft.com/office/drawing/2014/main" id="{E8DABDDA-860C-46B6-ABAE-0D8CBFA36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" y="-1028700"/>
            <a:ext cx="2857500" cy="2476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" name="cover-orb-1">
            <a:extLst xmlns:a="http://schemas.openxmlformats.org/drawingml/2006/main">
              <a:ext uri="{FF2B5EF4-FFF2-40B4-BE49-F238E27FC236}">
                <a16:creationId xmlns:a16="http://schemas.microsoft.com/office/drawing/2014/main" id="{37485FCF-7C3D-4A8C-A6EE-943B6F4D9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095750"/>
            <a:ext cx="371475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AB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cover-orb-2">
            <a:extLst xmlns:a="http://schemas.openxmlformats.org/drawingml/2006/main">
              <a:ext uri="{FF2B5EF4-FFF2-40B4-BE49-F238E27FC236}">
                <a16:creationId xmlns:a16="http://schemas.microsoft.com/office/drawing/2014/main" id="{6A0D32A1-EADB-4297-A163-3B3B93B64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610100"/>
            <a:ext cx="32385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E8C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logo-backplate">
            <a:extLst xmlns:a="http://schemas.openxmlformats.org/drawingml/2006/main">
              <a:ext uri="{FF2B5EF4-FFF2-40B4-BE49-F238E27FC236}">
                <a16:creationId xmlns:a16="http://schemas.microsoft.com/office/drawing/2014/main" id="{351E3CF9-D6FC-4754-A8EF-FCEB89CBF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171450"/>
            <a:ext cx="1466850" cy="381000"/>
          </a:xfrm>
          <a:prstGeom xmlns:a="http://schemas.openxmlformats.org/drawingml/2006/main" prst="roundRect">
            <a:avLst>
              <a:gd name="adj" fmla="val 4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0387bf02eb49eb"/>
          <a:stretch xmlns:a="http://schemas.openxmlformats.org/drawingml/2006/main"/>
        </p:blipFill>
        <p:spPr>
          <a:xfrm xmlns:a="http://schemas.openxmlformats.org/drawingml/2006/main">
            <a:off x="10648950" y="259612"/>
            <a:ext cx="1257300" cy="204677"/>
          </a:xfrm>
          <a:prstGeom xmlns:a="http://schemas.openxmlformats.org/drawingml/2006/main" prst="rect">
            <a:avLst/>
          </a:prstGeom>
        </p:spPr>
      </p:pic>
      <p:sp>
        <p:nvSpPr>
          <p:cNvPr id="7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D554B5E0-BB8B-4FA1-9727-EE2216AFC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590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5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AI Native EPM (AI4PM)</a:t>
            </a:r>
          </a:p>
        </p:txBody>
      </p:sp>
      <p:sp>
        <p:nvSpPr>
          <p:cNvPr id="8" name="cover-title">
            <a:extLst xmlns:a="http://schemas.openxmlformats.org/drawingml/2006/main">
              <a:ext uri="{FF2B5EF4-FFF2-40B4-BE49-F238E27FC236}">
                <a16:creationId xmlns:a16="http://schemas.microsoft.com/office/drawing/2014/main" id="{A86ED939-0BAB-424B-91C2-11BE87FA0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47875"/>
            <a:ext cx="619125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43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AI Economy</a:t>
            </a:r>
          </a:p>
          <a:p xmlns:a="http://schemas.openxmlformats.org/drawingml/2006/main">
            <a:pPr algn="l">
              <a:defRPr sz="43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43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2026</a:t>
            </a:r>
          </a:p>
          <a:p xmlns:a="http://schemas.openxmlformats.org/drawingml/2006/main">
            <a:pPr algn="l">
              <a:defRPr sz="43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43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시장 브리핑</a:t>
            </a:r>
          </a:p>
        </p:txBody>
      </p:sp>
      <p:sp>
        <p:nvSpPr>
          <p:cNvPr id="9" name="cover-line">
            <a:extLst xmlns:a="http://schemas.openxmlformats.org/drawingml/2006/main">
              <a:ext uri="{FF2B5EF4-FFF2-40B4-BE49-F238E27FC236}">
                <a16:creationId xmlns:a16="http://schemas.microsoft.com/office/drawing/2014/main" id="{1A30DF9B-55B2-4D7A-A876-3490DCA53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38650"/>
            <a:ext cx="3048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DCFDFB12-E942-44DE-97D2-679D1D1B7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86300"/>
            <a:ext cx="685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C400"/>
                </a:solidFill>
                <a:latin typeface="Pretendard"/>
                <a:ea typeface="Pretendard"/>
                <a:cs typeface="Pretendard"/>
              </a:defRPr>
            </a:pPr>
            <a:r>
              <a:rPr sz="1725" b="1">
                <a:solidFill>
                  <a:srgbClr val="FFC400"/>
                </a:solidFill>
                <a:latin typeface="Pretendard"/>
                <a:ea typeface="Pretendard"/>
                <a:cs typeface="Pretendard"/>
              </a:rPr>
              <a:t>신세계 I&amp;C SLP 3기 · 서울대학교 EPM 과정</a:t>
            </a:r>
          </a:p>
          <a:p xmlns:a="http://schemas.openxmlformats.org/drawingml/2006/main">
            <a:pPr algn="l">
              <a:defRPr sz="1725" b="1">
                <a:solidFill>
                  <a:srgbClr val="FFC400"/>
                </a:solidFill>
                <a:latin typeface="Pretendard"/>
                <a:ea typeface="Pretendard"/>
                <a:cs typeface="Pretendard"/>
              </a:defRPr>
            </a:pPr>
            <a:r>
              <a:rPr sz="1725" b="1">
                <a:solidFill>
                  <a:srgbClr val="FFC400"/>
                </a:solidFill>
                <a:latin typeface="Pretendard"/>
                <a:ea typeface="Pretendard"/>
                <a:cs typeface="Pretendard"/>
              </a:rPr>
              <a:t>오늘의 AX 과제 선정을 위한 시장 맥락</a:t>
            </a:r>
          </a:p>
        </p:txBody>
      </p:sp>
      <p:sp>
        <p:nvSpPr>
          <p:cNvPr id="11" name="cover-panel">
            <a:extLst xmlns:a="http://schemas.openxmlformats.org/drawingml/2006/main">
              <a:ext uri="{FF2B5EF4-FFF2-40B4-BE49-F238E27FC236}">
                <a16:creationId xmlns:a16="http://schemas.microsoft.com/office/drawing/2014/main" id="{5E0D6D4B-25ED-4325-B63D-1AD841A29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485900"/>
            <a:ext cx="3048000" cy="2971800"/>
          </a:xfrm>
          <a:prstGeom xmlns:a="http://schemas.openxmlformats.org/drawingml/2006/main" prst="roundRect">
            <a:avLst>
              <a:gd name="adj" fmla="val 897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cover-metric">
            <a:extLst xmlns:a="http://schemas.openxmlformats.org/drawingml/2006/main">
              <a:ext uri="{FF2B5EF4-FFF2-40B4-BE49-F238E27FC236}">
                <a16:creationId xmlns:a16="http://schemas.microsoft.com/office/drawing/2014/main" id="{ACD56B39-7217-4E2A-84D4-28AA3C393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809750"/>
            <a:ext cx="238125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D4D9F"/>
                </a:solidFill>
                <a:latin typeface="Pretendard"/>
                <a:ea typeface="Pretendard"/>
                <a:cs typeface="Pretendard"/>
              </a:defRPr>
            </a:pPr>
            <a:r>
              <a:rPr sz="3300" b="1">
                <a:solidFill>
                  <a:srgbClr val="0D4D9F"/>
                </a:solidFill>
                <a:latin typeface="Pretendard"/>
                <a:ea typeface="Pretendard"/>
                <a:cs typeface="Pretendard"/>
              </a:rPr>
              <a:t>$175B</a:t>
            </a:r>
          </a:p>
          <a:p xmlns:a="http://schemas.openxmlformats.org/drawingml/2006/main">
            <a:pPr algn="l">
              <a:defRPr sz="3300" b="1">
                <a:solidFill>
                  <a:srgbClr val="0D4D9F"/>
                </a:solidFill>
                <a:latin typeface="Pretendard"/>
                <a:ea typeface="Pretendard"/>
                <a:cs typeface="Pretendard"/>
              </a:defRPr>
            </a:pPr>
            <a:r>
              <a:rPr sz="3300" b="1">
                <a:solidFill>
                  <a:srgbClr val="0D4D9F"/>
                </a:solidFill>
                <a:latin typeface="Pretendard"/>
                <a:ea typeface="Pretendard"/>
                <a:cs typeface="Pretendard"/>
              </a:rPr>
              <a:t>30Q+</a:t>
            </a:r>
          </a:p>
          <a:p xmlns:a="http://schemas.openxmlformats.org/drawingml/2006/main">
            <a:pPr algn="l">
              <a:defRPr sz="3300" b="1">
                <a:solidFill>
                  <a:srgbClr val="0D4D9F"/>
                </a:solidFill>
                <a:latin typeface="Pretendard"/>
                <a:ea typeface="Pretendard"/>
                <a:cs typeface="Pretendard"/>
              </a:defRPr>
            </a:pPr>
            <a:r>
              <a:rPr sz="3300" b="1">
                <a:solidFill>
                  <a:srgbClr val="0D4D9F"/>
                </a:solidFill>
                <a:latin typeface="Pretendard"/>
                <a:ea typeface="Pretendard"/>
                <a:cs typeface="Pretendard"/>
              </a:rPr>
              <a:t>$2T</a:t>
            </a:r>
          </a:p>
        </p:txBody>
      </p:sp>
      <p:sp>
        <p:nvSpPr>
          <p:cNvPr id="13" name="cover-note">
            <a:extLst xmlns:a="http://schemas.openxmlformats.org/drawingml/2006/main">
              <a:ext uri="{FF2B5EF4-FFF2-40B4-BE49-F238E27FC236}">
                <a16:creationId xmlns:a16="http://schemas.microsoft.com/office/drawing/2014/main" id="{A56A7869-9DF7-4100-AD54-A93423372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409950"/>
            <a:ext cx="2381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AI는 모델 시연이 아니라</a:t>
            </a:r>
          </a:p>
          <a:p xmlns:a="http://schemas.openxmlformats.org/drawingml/2006/main">
            <a:pPr algn="l">
              <a:defRPr sz="1275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수요, 인프라, 토큰 경제가</a:t>
            </a:r>
          </a:p>
          <a:p xmlns:a="http://schemas.openxmlformats.org/drawingml/2006/main">
            <a:pPr algn="l">
              <a:defRPr sz="1275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움직이는 산업으로</a:t>
            </a:r>
          </a:p>
          <a:p xmlns:a="http://schemas.openxmlformats.org/drawingml/2006/main">
            <a:pPr algn="l">
              <a:defRPr sz="1275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바뀌고 있습니다.</a:t>
            </a:r>
          </a:p>
        </p:txBody>
      </p:sp>
      <p:sp>
        <p:nvSpPr>
          <p:cNvPr id="14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9DE1D4FF-6FA5-40A3-8DE1-7310BD923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800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75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출처: Exponential View, The State of the AI Economy, 2026</a:t>
            </a:r>
          </a:p>
        </p:txBody>
      </p:sp>
      <p:sp>
        <p:nvSpPr>
          <p:cNvPr id="15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47B660A0-836C-4889-A4E9-065955E0F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436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9576893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8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decor-ring-1">
            <a:extLst xmlns:a="http://schemas.openxmlformats.org/drawingml/2006/main">
              <a:ext uri="{FF2B5EF4-FFF2-40B4-BE49-F238E27FC236}">
                <a16:creationId xmlns:a16="http://schemas.microsoft.com/office/drawing/2014/main" id="{8D454BEB-47CC-44E4-9389-4261F0A97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609600" y="-800100"/>
            <a:ext cx="3429000" cy="2095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BFF"/>
            </a:solidFill>
            <a:prstDash val="solid"/>
          </a:ln>
        </p:spPr>
      </p:sp>
      <p:sp>
        <p:nvSpPr>
          <p:cNvPr id="2" name="decor-ring-2">
            <a:extLst xmlns:a="http://schemas.openxmlformats.org/drawingml/2006/main">
              <a:ext uri="{FF2B5EF4-FFF2-40B4-BE49-F238E27FC236}">
                <a16:creationId xmlns:a16="http://schemas.microsoft.com/office/drawing/2014/main" id="{E094C046-F8F0-46D4-9EC5-E3D371A1A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28600" y="-895350"/>
            <a:ext cx="2762250" cy="2095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BFF"/>
            </a:solidFill>
            <a:prstDash val="solid"/>
          </a:ln>
        </p:spPr>
      </p:sp>
      <p:sp>
        <p:nvSpPr>
          <p:cNvPr id="3" name="decor-orb-1">
            <a:extLst xmlns:a="http://schemas.openxmlformats.org/drawingml/2006/main">
              <a:ext uri="{FF2B5EF4-FFF2-40B4-BE49-F238E27FC236}">
                <a16:creationId xmlns:a16="http://schemas.microsoft.com/office/drawing/2014/main" id="{EFDB454D-426E-404D-B2F3-64F424650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838700"/>
            <a:ext cx="333375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E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decor-orb-2">
            <a:extLst xmlns:a="http://schemas.openxmlformats.org/drawingml/2006/main">
              <a:ext uri="{FF2B5EF4-FFF2-40B4-BE49-F238E27FC236}">
                <a16:creationId xmlns:a16="http://schemas.microsoft.com/office/drawing/2014/main" id="{5C871993-E5D3-4C87-A165-FFBAA9A84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5219700"/>
            <a:ext cx="2952750" cy="2190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6D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itle-bar">
            <a:extLst xmlns:a="http://schemas.openxmlformats.org/drawingml/2006/main">
              <a:ext uri="{FF2B5EF4-FFF2-40B4-BE49-F238E27FC236}">
                <a16:creationId xmlns:a16="http://schemas.microsoft.com/office/drawing/2014/main" id="{245D0116-2BE1-4088-8FAA-21C190222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90550"/>
            <a:ext cx="6667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kicker">
            <a:extLst xmlns:a="http://schemas.openxmlformats.org/drawingml/2006/main">
              <a:ext uri="{FF2B5EF4-FFF2-40B4-BE49-F238E27FC236}">
                <a16:creationId xmlns:a16="http://schemas.microsoft.com/office/drawing/2014/main" id="{1C7E5D1C-2E02-4CAB-BFDB-D2123F8B3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F80ED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2F80ED"/>
                </a:solidFill>
                <a:latin typeface="Pretendard"/>
                <a:ea typeface="Pretendard"/>
                <a:cs typeface="Pretendard"/>
              </a:rPr>
              <a:t>EXECUTIVE TAKEAWAY</a:t>
            </a:r>
          </a:p>
        </p:txBody>
      </p:sp>
      <p:sp>
        <p:nvSpPr>
          <p:cNvPr id="7" name="title">
            <a:extLst xmlns:a="http://schemas.openxmlformats.org/drawingml/2006/main">
              <a:ext uri="{FF2B5EF4-FFF2-40B4-BE49-F238E27FC236}">
                <a16:creationId xmlns:a16="http://schemas.microsoft.com/office/drawing/2014/main" id="{A9E78A2B-D492-441F-AC3A-348BF6D83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9906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2700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AI 시장은 빠르게 커지지만, 현업 가치는 아직 설계해야 합니다.</a:t>
            </a:r>
          </a:p>
        </p:txBody>
      </p:sp>
      <p:sp>
        <p:nvSpPr>
          <p:cNvPr id="8" name="subtitle">
            <a:extLst xmlns:a="http://schemas.openxmlformats.org/drawingml/2006/main">
              <a:ext uri="{FF2B5EF4-FFF2-40B4-BE49-F238E27FC236}">
                <a16:creationId xmlns:a16="http://schemas.microsoft.com/office/drawing/2014/main" id="{E305BCF0-0F28-48C8-8399-E99463BE2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990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신세계 I&amp;C에게 중요한 질문은 어떤 모델이 이기느냐보다 어떤 업무에서 토큰을 실제 산출물로 바꾸느냐입니다.</a:t>
            </a:r>
          </a:p>
        </p:txBody>
      </p:sp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b7a6b04432438e"/>
          <a:stretch xmlns:a="http://schemas.openxmlformats.org/drawingml/2006/main"/>
        </p:blipFill>
        <p:spPr>
          <a:xfrm xmlns:a="http://schemas.openxmlformats.org/drawingml/2006/main">
            <a:off x="10668000" y="269137"/>
            <a:ext cx="1257300" cy="204677"/>
          </a:xfrm>
          <a:prstGeom xmlns:a="http://schemas.openxmlformats.org/drawingml/2006/main" prst="rect">
            <a:avLst/>
          </a:prstGeom>
        </p:spPr>
      </p:pic>
      <p:sp>
        <p:nvSpPr>
          <p:cNvPr id="10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E992051C-C3A9-440B-A615-D55DD839C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800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75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출처: Exponential View, The State of the AI Economy, 2026</a:t>
            </a:r>
          </a:p>
        </p:txBody>
      </p:sp>
      <p:sp>
        <p:nvSpPr>
          <p:cNvPr id="11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87AEA69A-A9DE-457E-8D23-307F3F882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436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2" name="metric-card">
            <a:extLst xmlns:a="http://schemas.openxmlformats.org/drawingml/2006/main">
              <a:ext uri="{FF2B5EF4-FFF2-40B4-BE49-F238E27FC236}">
                <a16:creationId xmlns:a16="http://schemas.microsoft.com/office/drawing/2014/main" id="{46091037-50BF-498C-95EE-E18F77004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00300"/>
            <a:ext cx="2552700" cy="2286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4F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metric-value">
            <a:extLst xmlns:a="http://schemas.openxmlformats.org/drawingml/2006/main">
              <a:ext uri="{FF2B5EF4-FFF2-40B4-BE49-F238E27FC236}">
                <a16:creationId xmlns:a16="http://schemas.microsoft.com/office/drawing/2014/main" id="{B91B681B-ABC1-49FA-A649-BA3F37BDA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47950"/>
            <a:ext cx="2133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F80ED"/>
                </a:solidFill>
                <a:latin typeface="Pretendard"/>
                <a:ea typeface="Pretendard"/>
                <a:cs typeface="Pretendard"/>
              </a:defRPr>
            </a:pPr>
            <a:r>
              <a:rPr sz="3150" b="1">
                <a:solidFill>
                  <a:srgbClr val="2F80ED"/>
                </a:solidFill>
                <a:latin typeface="Pretendard"/>
                <a:ea typeface="Pretendard"/>
                <a:cs typeface="Pretendard"/>
              </a:rPr>
              <a:t>$175B</a:t>
            </a:r>
          </a:p>
        </p:txBody>
      </p:sp>
      <p:sp>
        <p:nvSpPr>
          <p:cNvPr id="14" name="metric-label">
            <a:extLst xmlns:a="http://schemas.openxmlformats.org/drawingml/2006/main">
              <a:ext uri="{FF2B5EF4-FFF2-40B4-BE49-F238E27FC236}">
                <a16:creationId xmlns:a16="http://schemas.microsoft.com/office/drawing/2014/main" id="{7B119A88-E2B5-438E-97F2-648F1A6C9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76600"/>
            <a:ext cx="209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1500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수요</a:t>
            </a:r>
          </a:p>
        </p:txBody>
      </p:sp>
      <p:sp>
        <p:nvSpPr>
          <p:cNvPr id="15" name="metric-note">
            <a:extLst xmlns:a="http://schemas.openxmlformats.org/drawingml/2006/main">
              <a:ext uri="{FF2B5EF4-FFF2-40B4-BE49-F238E27FC236}">
                <a16:creationId xmlns:a16="http://schemas.microsoft.com/office/drawing/2014/main" id="{E16EE872-D7BD-4B80-9827-68DB57F59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10000"/>
            <a:ext cx="2095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실제 매출과 외부 고객 지출이 이미</a:t>
            </a:r>
          </a:p>
          <a:p xmlns:a="http://schemas.openxmlformats.org/drawingml/2006/main">
            <a:pPr algn="l">
              <a:defRPr sz="1125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검증됐습니다.</a:t>
            </a:r>
          </a:p>
        </p:txBody>
      </p:sp>
      <p:sp>
        <p:nvSpPr>
          <p:cNvPr id="16" name="metric-card">
            <a:extLst xmlns:a="http://schemas.openxmlformats.org/drawingml/2006/main">
              <a:ext uri="{FF2B5EF4-FFF2-40B4-BE49-F238E27FC236}">
                <a16:creationId xmlns:a16="http://schemas.microsoft.com/office/drawing/2014/main" id="{843C8165-FD0B-4B72-A272-2BA97F6D3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400300"/>
            <a:ext cx="2552700" cy="2286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4F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metric-value">
            <a:extLst xmlns:a="http://schemas.openxmlformats.org/drawingml/2006/main">
              <a:ext uri="{FF2B5EF4-FFF2-40B4-BE49-F238E27FC236}">
                <a16:creationId xmlns:a16="http://schemas.microsoft.com/office/drawing/2014/main" id="{6DA7135C-A464-4D4A-9BD1-87ABB1A30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647950"/>
            <a:ext cx="2133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A67A"/>
                </a:solidFill>
                <a:latin typeface="Pretendard"/>
                <a:ea typeface="Pretendard"/>
                <a:cs typeface="Pretendard"/>
              </a:defRPr>
            </a:pPr>
            <a:r>
              <a:rPr sz="3150" b="1">
                <a:solidFill>
                  <a:srgbClr val="11A67A"/>
                </a:solidFill>
                <a:latin typeface="Pretendard"/>
                <a:ea typeface="Pretendard"/>
                <a:cs typeface="Pretendard"/>
              </a:rPr>
              <a:t>0.42%</a:t>
            </a:r>
          </a:p>
        </p:txBody>
      </p:sp>
      <p:sp>
        <p:nvSpPr>
          <p:cNvPr id="18" name="metric-label">
            <a:extLst xmlns:a="http://schemas.openxmlformats.org/drawingml/2006/main">
              <a:ext uri="{FF2B5EF4-FFF2-40B4-BE49-F238E27FC236}">
                <a16:creationId xmlns:a16="http://schemas.microsoft.com/office/drawing/2014/main" id="{B68FB0BC-CEFB-4AED-A6B7-E4A8A891D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276600"/>
            <a:ext cx="209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1500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경제</a:t>
            </a:r>
          </a:p>
        </p:txBody>
      </p:sp>
      <p:sp>
        <p:nvSpPr>
          <p:cNvPr id="19" name="metric-note">
            <a:extLst xmlns:a="http://schemas.openxmlformats.org/drawingml/2006/main">
              <a:ext uri="{FF2B5EF4-FFF2-40B4-BE49-F238E27FC236}">
                <a16:creationId xmlns:a16="http://schemas.microsoft.com/office/drawing/2014/main" id="{AE96BB5D-B362-48EC-9FC7-CAF82E3BB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810000"/>
            <a:ext cx="2095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기업 손익계산서에서는</a:t>
            </a:r>
          </a:p>
          <a:p xmlns:a="http://schemas.openxmlformats.org/drawingml/2006/main">
            <a:pPr algn="l">
              <a:defRPr sz="1125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아직 초기입니다.</a:t>
            </a:r>
          </a:p>
        </p:txBody>
      </p:sp>
      <p:sp>
        <p:nvSpPr>
          <p:cNvPr id="20" name="metric-card">
            <a:extLst xmlns:a="http://schemas.openxmlformats.org/drawingml/2006/main">
              <a:ext uri="{FF2B5EF4-FFF2-40B4-BE49-F238E27FC236}">
                <a16:creationId xmlns:a16="http://schemas.microsoft.com/office/drawing/2014/main" id="{7D3238F3-AD26-40D2-90D4-B71539395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400300"/>
            <a:ext cx="2552700" cy="2286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4F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1" name="metric-value">
            <a:extLst xmlns:a="http://schemas.openxmlformats.org/drawingml/2006/main">
              <a:ext uri="{FF2B5EF4-FFF2-40B4-BE49-F238E27FC236}">
                <a16:creationId xmlns:a16="http://schemas.microsoft.com/office/drawing/2014/main" id="{B162930B-7320-4B92-9255-3D93F0B21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647950"/>
            <a:ext cx="2133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C400"/>
                </a:solidFill>
                <a:latin typeface="Pretendard"/>
                <a:ea typeface="Pretendard"/>
                <a:cs typeface="Pretendard"/>
              </a:defRPr>
            </a:pPr>
            <a:r>
              <a:rPr sz="3150" b="1">
                <a:solidFill>
                  <a:srgbClr val="FFC400"/>
                </a:solidFill>
                <a:latin typeface="Pretendard"/>
                <a:ea typeface="Pretendard"/>
                <a:cs typeface="Pretendard"/>
              </a:rPr>
              <a:t>$2T</a:t>
            </a:r>
          </a:p>
        </p:txBody>
      </p:sp>
      <p:sp>
        <p:nvSpPr>
          <p:cNvPr id="22" name="metric-label">
            <a:extLst xmlns:a="http://schemas.openxmlformats.org/drawingml/2006/main">
              <a:ext uri="{FF2B5EF4-FFF2-40B4-BE49-F238E27FC236}">
                <a16:creationId xmlns:a16="http://schemas.microsoft.com/office/drawing/2014/main" id="{81A33F17-111D-49C9-9CA5-962651826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276600"/>
            <a:ext cx="209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1500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인프라</a:t>
            </a:r>
          </a:p>
        </p:txBody>
      </p:sp>
      <p:sp>
        <p:nvSpPr>
          <p:cNvPr id="23" name="metric-note">
            <a:extLst xmlns:a="http://schemas.openxmlformats.org/drawingml/2006/main">
              <a:ext uri="{FF2B5EF4-FFF2-40B4-BE49-F238E27FC236}">
                <a16:creationId xmlns:a16="http://schemas.microsoft.com/office/drawing/2014/main" id="{14AA8B6F-73F5-44FB-BFC6-EE4871F82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2095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CapEx와 전력이 토큰 가격</a:t>
            </a:r>
          </a:p>
          <a:p xmlns:a="http://schemas.openxmlformats.org/drawingml/2006/main">
            <a:pPr algn="l">
              <a:defRPr sz="1125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하한선을 만듭니다.</a:t>
            </a:r>
          </a:p>
        </p:txBody>
      </p:sp>
      <p:sp>
        <p:nvSpPr>
          <p:cNvPr id="24" name="metric-card">
            <a:extLst xmlns:a="http://schemas.openxmlformats.org/drawingml/2006/main">
              <a:ext uri="{FF2B5EF4-FFF2-40B4-BE49-F238E27FC236}">
                <a16:creationId xmlns:a16="http://schemas.microsoft.com/office/drawing/2014/main" id="{A38D9557-D771-42B8-A557-6A332E789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400300"/>
            <a:ext cx="2552700" cy="2286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4F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5" name="metric-value">
            <a:extLst xmlns:a="http://schemas.openxmlformats.org/drawingml/2006/main">
              <a:ext uri="{FF2B5EF4-FFF2-40B4-BE49-F238E27FC236}">
                <a16:creationId xmlns:a16="http://schemas.microsoft.com/office/drawing/2014/main" id="{6961EF5F-BC2D-4561-8663-60D1D270D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647950"/>
            <a:ext cx="2133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6B7CFF"/>
                </a:solidFill>
                <a:latin typeface="Pretendard"/>
                <a:ea typeface="Pretendard"/>
                <a:cs typeface="Pretendard"/>
              </a:defRPr>
            </a:pPr>
            <a:r>
              <a:rPr sz="3150" b="1">
                <a:solidFill>
                  <a:srgbClr val="6B7CFF"/>
                </a:solidFill>
                <a:latin typeface="Pretendard"/>
                <a:ea typeface="Pretendard"/>
                <a:cs typeface="Pretendard"/>
              </a:rPr>
              <a:t>Output</a:t>
            </a:r>
          </a:p>
        </p:txBody>
      </p:sp>
      <p:sp>
        <p:nvSpPr>
          <p:cNvPr id="26" name="metric-label">
            <a:extLst xmlns:a="http://schemas.openxmlformats.org/drawingml/2006/main">
              <a:ext uri="{FF2B5EF4-FFF2-40B4-BE49-F238E27FC236}">
                <a16:creationId xmlns:a16="http://schemas.microsoft.com/office/drawing/2014/main" id="{5E09EC53-C15F-4F37-9190-98F70A54A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276600"/>
            <a:ext cx="209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1500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업무</a:t>
            </a:r>
          </a:p>
        </p:txBody>
      </p:sp>
      <p:sp>
        <p:nvSpPr>
          <p:cNvPr id="27" name="metric-note">
            <a:extLst xmlns:a="http://schemas.openxmlformats.org/drawingml/2006/main">
              <a:ext uri="{FF2B5EF4-FFF2-40B4-BE49-F238E27FC236}">
                <a16:creationId xmlns:a16="http://schemas.microsoft.com/office/drawing/2014/main" id="{72451714-148A-4FBA-93C0-84C41631B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810000"/>
            <a:ext cx="2095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토큰보다 검증된 업무</a:t>
            </a:r>
          </a:p>
          <a:p xmlns:a="http://schemas.openxmlformats.org/drawingml/2006/main">
            <a:pPr algn="l">
              <a:defRPr sz="1125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산출물이 중요합니다.</a:t>
            </a:r>
          </a:p>
        </p:txBody>
      </p:sp>
      <p:sp>
        <p:nvSpPr>
          <p:cNvPr id="28" name="bottom-message">
            <a:extLst xmlns:a="http://schemas.openxmlformats.org/drawingml/2006/main">
              <a:ext uri="{FF2B5EF4-FFF2-40B4-BE49-F238E27FC236}">
                <a16:creationId xmlns:a16="http://schemas.microsoft.com/office/drawing/2014/main" id="{745BCC8F-6BE3-487A-AC8C-3276AFD36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0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D4D9F"/>
                </a:solidFill>
                <a:latin typeface="Pretendard"/>
                <a:ea typeface="Pretendard"/>
                <a:cs typeface="Pretendard"/>
              </a:defRPr>
            </a:pPr>
            <a:r>
              <a:rPr sz="1650" b="1">
                <a:solidFill>
                  <a:srgbClr val="0D4D9F"/>
                </a:solidFill>
                <a:latin typeface="Pretendard"/>
                <a:ea typeface="Pretendard"/>
                <a:cs typeface="Pretendard"/>
              </a:rPr>
              <a:t>오늘 오후 워크샵의 방향: 시장을 이해한 뒤, 팀별로 반복 업무 하나를 골라 8월에 작동 데모로 바꿉니다.</a:t>
            </a:r>
          </a:p>
        </p:txBody>
      </p:sp>
    </p:spTree>
    <p:extLst>
      <p:ext uri="{BB962C8B-B14F-4D97-AF65-F5344CB8AC3E}">
        <p14:creationId xmlns:p14="http://schemas.microsoft.com/office/powerpoint/2010/main" val="170101006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8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decor-ring-1">
            <a:extLst xmlns:a="http://schemas.openxmlformats.org/drawingml/2006/main">
              <a:ext uri="{FF2B5EF4-FFF2-40B4-BE49-F238E27FC236}">
                <a16:creationId xmlns:a16="http://schemas.microsoft.com/office/drawing/2014/main" id="{25BAC1CA-8369-4F71-B73D-75F11AF95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609600" y="-800100"/>
            <a:ext cx="3429000" cy="2095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BFF"/>
            </a:solidFill>
            <a:prstDash val="solid"/>
          </a:ln>
        </p:spPr>
      </p:sp>
      <p:sp>
        <p:nvSpPr>
          <p:cNvPr id="2" name="decor-ring-2">
            <a:extLst xmlns:a="http://schemas.openxmlformats.org/drawingml/2006/main">
              <a:ext uri="{FF2B5EF4-FFF2-40B4-BE49-F238E27FC236}">
                <a16:creationId xmlns:a16="http://schemas.microsoft.com/office/drawing/2014/main" id="{81226EC8-37F2-4E28-A5E4-802CF8870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28600" y="-895350"/>
            <a:ext cx="2762250" cy="2095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BFF"/>
            </a:solidFill>
            <a:prstDash val="solid"/>
          </a:ln>
        </p:spPr>
      </p:sp>
      <p:sp>
        <p:nvSpPr>
          <p:cNvPr id="3" name="decor-orb-1">
            <a:extLst xmlns:a="http://schemas.openxmlformats.org/drawingml/2006/main">
              <a:ext uri="{FF2B5EF4-FFF2-40B4-BE49-F238E27FC236}">
                <a16:creationId xmlns:a16="http://schemas.microsoft.com/office/drawing/2014/main" id="{498BB5A8-8F0C-483D-8114-23C132656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838700"/>
            <a:ext cx="333375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E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decor-orb-2">
            <a:extLst xmlns:a="http://schemas.openxmlformats.org/drawingml/2006/main">
              <a:ext uri="{FF2B5EF4-FFF2-40B4-BE49-F238E27FC236}">
                <a16:creationId xmlns:a16="http://schemas.microsoft.com/office/drawing/2014/main" id="{4B53E785-052D-4C87-AC6E-618FEFDFE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5219700"/>
            <a:ext cx="2952750" cy="2190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6D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itle-bar">
            <a:extLst xmlns:a="http://schemas.openxmlformats.org/drawingml/2006/main">
              <a:ext uri="{FF2B5EF4-FFF2-40B4-BE49-F238E27FC236}">
                <a16:creationId xmlns:a16="http://schemas.microsoft.com/office/drawing/2014/main" id="{C756AD0F-0154-4946-9BE9-F8A4F898C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90550"/>
            <a:ext cx="6667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kicker">
            <a:extLst xmlns:a="http://schemas.openxmlformats.org/drawingml/2006/main">
              <a:ext uri="{FF2B5EF4-FFF2-40B4-BE49-F238E27FC236}">
                <a16:creationId xmlns:a16="http://schemas.microsoft.com/office/drawing/2014/main" id="{736C147E-EBF5-4469-9BDA-C019B2130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F80ED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2F80ED"/>
                </a:solidFill>
                <a:latin typeface="Pretendard"/>
                <a:ea typeface="Pretendard"/>
                <a:cs typeface="Pretendard"/>
              </a:rPr>
              <a:t>DEMAND</a:t>
            </a:r>
          </a:p>
        </p:txBody>
      </p:sp>
      <p:sp>
        <p:nvSpPr>
          <p:cNvPr id="7" name="title">
            <a:extLst xmlns:a="http://schemas.openxmlformats.org/drawingml/2006/main">
              <a:ext uri="{FF2B5EF4-FFF2-40B4-BE49-F238E27FC236}">
                <a16:creationId xmlns:a16="http://schemas.microsoft.com/office/drawing/2014/main" id="{A1224E74-368D-4850-834B-E783EE5B6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9906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2700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생성형 AI 매출은 이전 IT 파동보다 빠르게 늘고 있습니다.</a:t>
            </a:r>
          </a:p>
        </p:txBody>
      </p:sp>
      <p:sp>
        <p:nvSpPr>
          <p:cNvPr id="8" name="subtitle">
            <a:extLst xmlns:a="http://schemas.openxmlformats.org/drawingml/2006/main">
              <a:ext uri="{FF2B5EF4-FFF2-40B4-BE49-F238E27FC236}">
                <a16:creationId xmlns:a16="http://schemas.microsoft.com/office/drawing/2014/main" id="{F7DAE8AA-33C6-4411-AB43-C5E64E8B0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990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수요는 실험 예산을 넘어섰고, 모델·앱·호스팅 전반에 실제 지출이 발생하고 있습니다.</a:t>
            </a:r>
          </a:p>
        </p:txBody>
      </p:sp>
      <p:pic>
        <p:nvPicPr>
          <p:cNvPr id="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584291a0824008"/>
          <a:stretch xmlns:a="http://schemas.openxmlformats.org/drawingml/2006/main"/>
        </p:blipFill>
        <p:spPr>
          <a:xfrm xmlns:a="http://schemas.openxmlformats.org/drawingml/2006/main">
            <a:off x="10668000" y="269137"/>
            <a:ext cx="1257300" cy="204677"/>
          </a:xfrm>
          <a:prstGeom xmlns:a="http://schemas.openxmlformats.org/drawingml/2006/main" prst="rect">
            <a:avLst/>
          </a:prstGeom>
        </p:spPr>
      </p:pic>
      <p:sp>
        <p:nvSpPr>
          <p:cNvPr id="10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637546EF-06F9-42FE-8A03-49171AA42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800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75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출처: Exponential View, The State of the AI Economy, 2026</a:t>
            </a:r>
          </a:p>
        </p:txBody>
      </p:sp>
      <p:sp>
        <p:nvSpPr>
          <p:cNvPr id="11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6A32F0A8-A409-46F2-B195-2609EB582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436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12" name="metric-card">
            <a:extLst xmlns:a="http://schemas.openxmlformats.org/drawingml/2006/main">
              <a:ext uri="{FF2B5EF4-FFF2-40B4-BE49-F238E27FC236}">
                <a16:creationId xmlns:a16="http://schemas.microsoft.com/office/drawing/2014/main" id="{B57714D1-7E22-4E2D-810F-09E9786DD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66950"/>
            <a:ext cx="2476500" cy="2381250"/>
          </a:xfrm>
          <a:prstGeom xmlns:a="http://schemas.openxmlformats.org/drawingml/2006/main" prst="roundRect">
            <a:avLst>
              <a:gd name="adj" fmla="val 7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4F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metric-value">
            <a:extLst xmlns:a="http://schemas.openxmlformats.org/drawingml/2006/main">
              <a:ext uri="{FF2B5EF4-FFF2-40B4-BE49-F238E27FC236}">
                <a16:creationId xmlns:a16="http://schemas.microsoft.com/office/drawing/2014/main" id="{DC14B3B1-52FB-40CD-9879-5343CAB51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14600"/>
            <a:ext cx="2057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F80ED"/>
                </a:solidFill>
                <a:latin typeface="Pretendard"/>
                <a:ea typeface="Pretendard"/>
                <a:cs typeface="Pretendard"/>
              </a:defRPr>
            </a:pPr>
            <a:r>
              <a:rPr sz="3150" b="1">
                <a:solidFill>
                  <a:srgbClr val="2F80ED"/>
                </a:solidFill>
                <a:latin typeface="Pretendard"/>
                <a:ea typeface="Pretendard"/>
                <a:cs typeface="Pretendard"/>
              </a:rPr>
              <a:t>$110B</a:t>
            </a:r>
          </a:p>
        </p:txBody>
      </p:sp>
      <p:sp>
        <p:nvSpPr>
          <p:cNvPr id="14" name="metric-label">
            <a:extLst xmlns:a="http://schemas.openxmlformats.org/drawingml/2006/main">
              <a:ext uri="{FF2B5EF4-FFF2-40B4-BE49-F238E27FC236}">
                <a16:creationId xmlns:a16="http://schemas.microsoft.com/office/drawing/2014/main" id="{49DF57ED-01CE-4A4A-9233-4EDC89152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43250"/>
            <a:ext cx="2019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1500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최근 12개월 매출</a:t>
            </a:r>
          </a:p>
        </p:txBody>
      </p:sp>
      <p:sp>
        <p:nvSpPr>
          <p:cNvPr id="15" name="metric-note">
            <a:extLst xmlns:a="http://schemas.openxmlformats.org/drawingml/2006/main">
              <a:ext uri="{FF2B5EF4-FFF2-40B4-BE49-F238E27FC236}">
                <a16:creationId xmlns:a16="http://schemas.microsoft.com/office/drawing/2014/main" id="{0423AB61-7B4E-43A0-8C8F-33353DC00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76650"/>
            <a:ext cx="20193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글로벌 ex-China, 중복</a:t>
            </a:r>
          </a:p>
          <a:p xmlns:a="http://schemas.openxmlformats.org/drawingml/2006/main">
            <a:pPr algn="l">
              <a:defRPr sz="1125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제거 기준</a:t>
            </a:r>
          </a:p>
        </p:txBody>
      </p:sp>
      <p:sp>
        <p:nvSpPr>
          <p:cNvPr id="16" name="metric-card">
            <a:extLst xmlns:a="http://schemas.openxmlformats.org/drawingml/2006/main">
              <a:ext uri="{FF2B5EF4-FFF2-40B4-BE49-F238E27FC236}">
                <a16:creationId xmlns:a16="http://schemas.microsoft.com/office/drawing/2014/main" id="{6AEFB44B-46E1-48F5-A250-22BABACEC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266950"/>
            <a:ext cx="2476500" cy="2381250"/>
          </a:xfrm>
          <a:prstGeom xmlns:a="http://schemas.openxmlformats.org/drawingml/2006/main" prst="roundRect">
            <a:avLst>
              <a:gd name="adj" fmla="val 7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4F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metric-value">
            <a:extLst xmlns:a="http://schemas.openxmlformats.org/drawingml/2006/main">
              <a:ext uri="{FF2B5EF4-FFF2-40B4-BE49-F238E27FC236}">
                <a16:creationId xmlns:a16="http://schemas.microsoft.com/office/drawing/2014/main" id="{0C803305-6E58-41EC-B8C7-026702819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514600"/>
            <a:ext cx="2057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A67A"/>
                </a:solidFill>
                <a:latin typeface="Pretendard"/>
                <a:ea typeface="Pretendard"/>
                <a:cs typeface="Pretendard"/>
              </a:defRPr>
            </a:pPr>
            <a:r>
              <a:rPr sz="3150" b="1">
                <a:solidFill>
                  <a:srgbClr val="11A67A"/>
                </a:solidFill>
                <a:latin typeface="Pretendard"/>
                <a:ea typeface="Pretendard"/>
                <a:cs typeface="Pretendard"/>
              </a:rPr>
              <a:t>$175B</a:t>
            </a:r>
          </a:p>
        </p:txBody>
      </p:sp>
      <p:sp>
        <p:nvSpPr>
          <p:cNvPr id="18" name="metric-label">
            <a:extLst xmlns:a="http://schemas.openxmlformats.org/drawingml/2006/main">
              <a:ext uri="{FF2B5EF4-FFF2-40B4-BE49-F238E27FC236}">
                <a16:creationId xmlns:a16="http://schemas.microsoft.com/office/drawing/2014/main" id="{995B6F8D-3700-4C9F-A3AE-79F62D884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143250"/>
            <a:ext cx="2019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1500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연환산 run-rate</a:t>
            </a:r>
          </a:p>
        </p:txBody>
      </p:sp>
      <p:sp>
        <p:nvSpPr>
          <p:cNvPr id="19" name="metric-note">
            <a:extLst xmlns:a="http://schemas.openxmlformats.org/drawingml/2006/main">
              <a:ext uri="{FF2B5EF4-FFF2-40B4-BE49-F238E27FC236}">
                <a16:creationId xmlns:a16="http://schemas.microsoft.com/office/drawing/2014/main" id="{A1621662-6EE9-4B8F-9A25-0DDDDF192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676650"/>
            <a:ext cx="20193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2026년 중반 기준 성장 속도</a:t>
            </a:r>
          </a:p>
        </p:txBody>
      </p:sp>
      <p:sp>
        <p:nvSpPr>
          <p:cNvPr id="20" name="metric-card">
            <a:extLst xmlns:a="http://schemas.openxmlformats.org/drawingml/2006/main">
              <a:ext uri="{FF2B5EF4-FFF2-40B4-BE49-F238E27FC236}">
                <a16:creationId xmlns:a16="http://schemas.microsoft.com/office/drawing/2014/main" id="{9F92C6D2-2E95-42E0-AD0F-E14B32345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266950"/>
            <a:ext cx="2476500" cy="2381250"/>
          </a:xfrm>
          <a:prstGeom xmlns:a="http://schemas.openxmlformats.org/drawingml/2006/main" prst="roundRect">
            <a:avLst>
              <a:gd name="adj" fmla="val 7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4F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1" name="metric-value">
            <a:extLst xmlns:a="http://schemas.openxmlformats.org/drawingml/2006/main">
              <a:ext uri="{FF2B5EF4-FFF2-40B4-BE49-F238E27FC236}">
                <a16:creationId xmlns:a16="http://schemas.microsoft.com/office/drawing/2014/main" id="{F8866C47-8D94-48AD-BC79-0E88E1DCA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514600"/>
            <a:ext cx="2057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C400"/>
                </a:solidFill>
                <a:latin typeface="Pretendard"/>
                <a:ea typeface="Pretendard"/>
                <a:cs typeface="Pretendard"/>
              </a:defRPr>
            </a:pPr>
            <a:r>
              <a:rPr sz="3150" b="1">
                <a:solidFill>
                  <a:srgbClr val="FFC400"/>
                </a:solidFill>
                <a:latin typeface="Pretendard"/>
                <a:ea typeface="Pretendard"/>
                <a:cs typeface="Pretendard"/>
              </a:rPr>
              <a:t>3x</a:t>
            </a:r>
          </a:p>
        </p:txBody>
      </p:sp>
      <p:sp>
        <p:nvSpPr>
          <p:cNvPr id="22" name="metric-label">
            <a:extLst xmlns:a="http://schemas.openxmlformats.org/drawingml/2006/main">
              <a:ext uri="{FF2B5EF4-FFF2-40B4-BE49-F238E27FC236}">
                <a16:creationId xmlns:a16="http://schemas.microsoft.com/office/drawing/2014/main" id="{BAB19D5B-A87B-4A4A-B541-F83CFEFDA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143250"/>
            <a:ext cx="2019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1500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이전 IT wave 대비</a:t>
            </a:r>
          </a:p>
        </p:txBody>
      </p:sp>
      <p:sp>
        <p:nvSpPr>
          <p:cNvPr id="23" name="metric-note">
            <a:extLst xmlns:a="http://schemas.openxmlformats.org/drawingml/2006/main">
              <a:ext uri="{FF2B5EF4-FFF2-40B4-BE49-F238E27FC236}">
                <a16:creationId xmlns:a16="http://schemas.microsoft.com/office/drawing/2014/main" id="{528F7CC3-1856-47EF-8F94-6017701FF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676650"/>
            <a:ext cx="20193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첫 해 매출 성장 궤적 기준</a:t>
            </a:r>
          </a:p>
        </p:txBody>
      </p:sp>
      <p:sp>
        <p:nvSpPr>
          <p:cNvPr id="24" name="metric-card">
            <a:extLst xmlns:a="http://schemas.openxmlformats.org/drawingml/2006/main">
              <a:ext uri="{FF2B5EF4-FFF2-40B4-BE49-F238E27FC236}">
                <a16:creationId xmlns:a16="http://schemas.microsoft.com/office/drawing/2014/main" id="{E8092FEE-31C1-479B-A064-B7C31CF5D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266950"/>
            <a:ext cx="2762250" cy="2381250"/>
          </a:xfrm>
          <a:prstGeom xmlns:a="http://schemas.openxmlformats.org/drawingml/2006/main" prst="roundRect">
            <a:avLst>
              <a:gd name="adj" fmla="val 7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4F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5" name="metric-value">
            <a:extLst xmlns:a="http://schemas.openxmlformats.org/drawingml/2006/main">
              <a:ext uri="{FF2B5EF4-FFF2-40B4-BE49-F238E27FC236}">
                <a16:creationId xmlns:a16="http://schemas.microsoft.com/office/drawing/2014/main" id="{5745BBCF-C73B-4735-8CC3-8C816ABB6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514600"/>
            <a:ext cx="23431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6B7CFF"/>
                </a:solidFill>
                <a:latin typeface="Pretendard"/>
                <a:ea typeface="Pretendard"/>
                <a:cs typeface="Pretendard"/>
              </a:defRPr>
            </a:pPr>
            <a:r>
              <a:rPr sz="3150" b="1">
                <a:solidFill>
                  <a:srgbClr val="6B7CFF"/>
                </a:solidFill>
                <a:latin typeface="Pretendard"/>
                <a:ea typeface="Pretendard"/>
                <a:cs typeface="Pretendard"/>
              </a:rPr>
              <a:t>&lt;2일</a:t>
            </a:r>
          </a:p>
        </p:txBody>
      </p:sp>
      <p:sp>
        <p:nvSpPr>
          <p:cNvPr id="26" name="metric-label">
            <a:extLst xmlns:a="http://schemas.openxmlformats.org/drawingml/2006/main">
              <a:ext uri="{FF2B5EF4-FFF2-40B4-BE49-F238E27FC236}">
                <a16:creationId xmlns:a16="http://schemas.microsoft.com/office/drawing/2014/main" id="{A63285F6-C22C-4EE8-92B7-617738974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143250"/>
            <a:ext cx="2305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1500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$1B 추가 매출 시간</a:t>
            </a:r>
          </a:p>
        </p:txBody>
      </p:sp>
      <p:sp>
        <p:nvSpPr>
          <p:cNvPr id="27" name="metric-note">
            <a:extLst xmlns:a="http://schemas.openxmlformats.org/drawingml/2006/main">
              <a:ext uri="{FF2B5EF4-FFF2-40B4-BE49-F238E27FC236}">
                <a16:creationId xmlns:a16="http://schemas.microsoft.com/office/drawing/2014/main" id="{88A8DCEB-BACF-4D96-871B-E78378627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676650"/>
            <a:ext cx="23050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2023년 약 180일에서 90배 빨라짐</a:t>
            </a:r>
          </a:p>
        </p:txBody>
      </p:sp>
      <p:sp>
        <p:nvSpPr>
          <p:cNvPr id="28" name="bar-label">
            <a:extLst xmlns:a="http://schemas.openxmlformats.org/drawingml/2006/main">
              <a:ext uri="{FF2B5EF4-FFF2-40B4-BE49-F238E27FC236}">
                <a16:creationId xmlns:a16="http://schemas.microsoft.com/office/drawing/2014/main" id="{DD01F38B-F271-4D68-AC26-B7FC98AD1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38725"/>
            <a:ext cx="695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분기 매출 성장률</a:t>
            </a:r>
          </a:p>
        </p:txBody>
      </p:sp>
      <p:sp>
        <p:nvSpPr>
          <p:cNvPr id="29" name="bar-bg">
            <a:extLst xmlns:a="http://schemas.openxmlformats.org/drawingml/2006/main">
              <a:ext uri="{FF2B5EF4-FFF2-40B4-BE49-F238E27FC236}">
                <a16:creationId xmlns:a16="http://schemas.microsoft.com/office/drawing/2014/main" id="{9BBCEC45-022E-4522-9845-260AD1DAF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86375"/>
            <a:ext cx="6953250" cy="209550"/>
          </a:xfrm>
          <a:prstGeom xmlns:a="http://schemas.openxmlformats.org/drawingml/2006/main" prst="roundRect">
            <a:avLst>
              <a:gd name="adj" fmla="val 31818"/>
            </a:avLst>
          </a:prstGeom>
          <a:solidFill xmlns:a="http://schemas.openxmlformats.org/drawingml/2006/main">
            <a:srgbClr val="E6EE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bar-fill">
            <a:extLst xmlns:a="http://schemas.openxmlformats.org/drawingml/2006/main">
              <a:ext uri="{FF2B5EF4-FFF2-40B4-BE49-F238E27FC236}">
                <a16:creationId xmlns:a16="http://schemas.microsoft.com/office/drawing/2014/main" id="{90D54D79-5AF9-42E8-906E-7E397778F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86375"/>
            <a:ext cx="6084094" cy="209550"/>
          </a:xfrm>
          <a:prstGeom xmlns:a="http://schemas.openxmlformats.org/drawingml/2006/main" prst="roundRect">
            <a:avLst>
              <a:gd name="adj" fmla="val 31818"/>
            </a:avLst>
          </a:prstGeom>
          <a:solidFill xmlns:a="http://schemas.openxmlformats.org/drawingml/2006/main">
            <a:srgbClr val="2F80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bar-value">
            <a:extLst xmlns:a="http://schemas.openxmlformats.org/drawingml/2006/main">
              <a:ext uri="{FF2B5EF4-FFF2-40B4-BE49-F238E27FC236}">
                <a16:creationId xmlns:a16="http://schemas.microsoft.com/office/drawing/2014/main" id="{F7C92AC2-1643-40BC-9082-40C30DEEB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5248275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F80ED"/>
                </a:solidFill>
                <a:latin typeface="Pretendard"/>
                <a:ea typeface="Pretendard"/>
                <a:cs typeface="Pretendard"/>
              </a:defRPr>
            </a:pPr>
            <a:r>
              <a:rPr sz="1350" b="1">
                <a:solidFill>
                  <a:srgbClr val="2F80ED"/>
                </a:solidFill>
                <a:latin typeface="Pretendard"/>
                <a:ea typeface="Pretendard"/>
                <a:cs typeface="Pretendard"/>
              </a:rPr>
              <a:t>35% QoQ</a:t>
            </a:r>
          </a:p>
        </p:txBody>
      </p:sp>
      <p:sp>
        <p:nvSpPr>
          <p:cNvPr id="32" name="interpretation">
            <a:extLst xmlns:a="http://schemas.openxmlformats.org/drawingml/2006/main">
              <a:ext uri="{FF2B5EF4-FFF2-40B4-BE49-F238E27FC236}">
                <a16:creationId xmlns:a16="http://schemas.microsoft.com/office/drawing/2014/main" id="{C16BF7E0-EB86-416C-A300-55EB3CEA4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953000"/>
            <a:ext cx="2857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1500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해석: AI는 아직 초기지만, 예산</a:t>
            </a:r>
          </a:p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1500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편성 속도와 공급망 투자가 이미</a:t>
            </a:r>
          </a:p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1500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산업 사이클로 움직입니다.</a:t>
            </a:r>
          </a:p>
        </p:txBody>
      </p:sp>
    </p:spTree>
    <p:extLst>
      <p:ext uri="{BB962C8B-B14F-4D97-AF65-F5344CB8AC3E}">
        <p14:creationId xmlns:p14="http://schemas.microsoft.com/office/powerpoint/2010/main" val="94378334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8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decor-ring-1">
            <a:extLst xmlns:a="http://schemas.openxmlformats.org/drawingml/2006/main">
              <a:ext uri="{FF2B5EF4-FFF2-40B4-BE49-F238E27FC236}">
                <a16:creationId xmlns:a16="http://schemas.microsoft.com/office/drawing/2014/main" id="{97C63171-47E4-4F39-9D4D-2DD706A23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609600" y="-800100"/>
            <a:ext cx="3429000" cy="2095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BFF"/>
            </a:solidFill>
            <a:prstDash val="solid"/>
          </a:ln>
        </p:spPr>
      </p:sp>
      <p:sp>
        <p:nvSpPr>
          <p:cNvPr id="2" name="decor-ring-2">
            <a:extLst xmlns:a="http://schemas.openxmlformats.org/drawingml/2006/main">
              <a:ext uri="{FF2B5EF4-FFF2-40B4-BE49-F238E27FC236}">
                <a16:creationId xmlns:a16="http://schemas.microsoft.com/office/drawing/2014/main" id="{6ED7440D-F4C1-40B2-A55D-1052C12B0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28600" y="-895350"/>
            <a:ext cx="2762250" cy="2095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BFF"/>
            </a:solidFill>
            <a:prstDash val="solid"/>
          </a:ln>
        </p:spPr>
      </p:sp>
      <p:sp>
        <p:nvSpPr>
          <p:cNvPr id="3" name="decor-orb-1">
            <a:extLst xmlns:a="http://schemas.openxmlformats.org/drawingml/2006/main">
              <a:ext uri="{FF2B5EF4-FFF2-40B4-BE49-F238E27FC236}">
                <a16:creationId xmlns:a16="http://schemas.microsoft.com/office/drawing/2014/main" id="{50A44A38-2FDE-4715-82D4-D47357066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838700"/>
            <a:ext cx="333375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E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decor-orb-2">
            <a:extLst xmlns:a="http://schemas.openxmlformats.org/drawingml/2006/main">
              <a:ext uri="{FF2B5EF4-FFF2-40B4-BE49-F238E27FC236}">
                <a16:creationId xmlns:a16="http://schemas.microsoft.com/office/drawing/2014/main" id="{EAF7FD16-0D56-46F5-8E52-193D5AB8A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5219700"/>
            <a:ext cx="2952750" cy="2190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6D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itle-bar">
            <a:extLst xmlns:a="http://schemas.openxmlformats.org/drawingml/2006/main">
              <a:ext uri="{FF2B5EF4-FFF2-40B4-BE49-F238E27FC236}">
                <a16:creationId xmlns:a16="http://schemas.microsoft.com/office/drawing/2014/main" id="{0205DF1B-B2ED-4EF7-A406-E86749C47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90550"/>
            <a:ext cx="6667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kicker">
            <a:extLst xmlns:a="http://schemas.openxmlformats.org/drawingml/2006/main">
              <a:ext uri="{FF2B5EF4-FFF2-40B4-BE49-F238E27FC236}">
                <a16:creationId xmlns:a16="http://schemas.microsoft.com/office/drawing/2014/main" id="{7F7EB721-9E28-4A0E-A3B8-F3DCD3F1C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F80ED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2F80ED"/>
                </a:solidFill>
                <a:latin typeface="Pretendard"/>
                <a:ea typeface="Pretendard"/>
                <a:cs typeface="Pretendard"/>
              </a:rPr>
              <a:t>REVENUE STACK</a:t>
            </a:r>
          </a:p>
        </p:txBody>
      </p:sp>
      <p:sp>
        <p:nvSpPr>
          <p:cNvPr id="7" name="title">
            <a:extLst xmlns:a="http://schemas.openxmlformats.org/drawingml/2006/main">
              <a:ext uri="{FF2B5EF4-FFF2-40B4-BE49-F238E27FC236}">
                <a16:creationId xmlns:a16="http://schemas.microsoft.com/office/drawing/2014/main" id="{54741E2F-153E-4DF6-995A-67116528F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9906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2700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AI 매출은 앱, 모델, 호스팅이 연결된 스택에서 발생합니다.</a:t>
            </a:r>
          </a:p>
        </p:txBody>
      </p:sp>
      <p:sp>
        <p:nvSpPr>
          <p:cNvPr id="8" name="subtitle">
            <a:extLst xmlns:a="http://schemas.openxmlformats.org/drawingml/2006/main">
              <a:ext uri="{FF2B5EF4-FFF2-40B4-BE49-F238E27FC236}">
                <a16:creationId xmlns:a16="http://schemas.microsoft.com/office/drawing/2014/main" id="{14377565-8876-4299-B900-19D29AF8A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990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같은 지출을 두 번 세지 않으려면 고객이 실제로 돈을 낸 지점과 토큰 비용 흐름을 분리해야 합니다.</a:t>
            </a:r>
          </a:p>
        </p:txBody>
      </p:sp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9ece86c0614198"/>
          <a:stretch xmlns:a="http://schemas.openxmlformats.org/drawingml/2006/main"/>
        </p:blipFill>
        <p:spPr>
          <a:xfrm xmlns:a="http://schemas.openxmlformats.org/drawingml/2006/main">
            <a:off x="10668000" y="269137"/>
            <a:ext cx="1257300" cy="204677"/>
          </a:xfrm>
          <a:prstGeom xmlns:a="http://schemas.openxmlformats.org/drawingml/2006/main" prst="rect">
            <a:avLst/>
          </a:prstGeom>
        </p:spPr>
      </p:pic>
      <p:sp>
        <p:nvSpPr>
          <p:cNvPr id="10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429A4C75-2FAA-4CF7-9889-995D6F6FA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800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75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출처: Exponential View, The State of the AI Economy, 2026</a:t>
            </a:r>
          </a:p>
        </p:txBody>
      </p:sp>
      <p:sp>
        <p:nvSpPr>
          <p:cNvPr id="11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721C4330-C299-404D-A475-8E8045DFE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436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12" name="stack-block">
            <a:extLst xmlns:a="http://schemas.openxmlformats.org/drawingml/2006/main">
              <a:ext uri="{FF2B5EF4-FFF2-40B4-BE49-F238E27FC236}">
                <a16:creationId xmlns:a16="http://schemas.microsoft.com/office/drawing/2014/main" id="{3F8C0060-DC03-43BC-8F1C-AA1F1071B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47950"/>
            <a:ext cx="2286000" cy="1790700"/>
          </a:xfrm>
          <a:prstGeom xmlns:a="http://schemas.openxmlformats.org/drawingml/2006/main" prst="roundRect">
            <a:avLst>
              <a:gd name="adj" fmla="val 957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4F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stack-accent">
            <a:extLst xmlns:a="http://schemas.openxmlformats.org/drawingml/2006/main">
              <a:ext uri="{FF2B5EF4-FFF2-40B4-BE49-F238E27FC236}">
                <a16:creationId xmlns:a16="http://schemas.microsoft.com/office/drawing/2014/main" id="{240B86CE-A030-4E4E-AC11-B01C6A9E4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47950"/>
            <a:ext cx="2286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stack-title">
            <a:extLst xmlns:a="http://schemas.openxmlformats.org/drawingml/2006/main">
              <a:ext uri="{FF2B5EF4-FFF2-40B4-BE49-F238E27FC236}">
                <a16:creationId xmlns:a16="http://schemas.microsoft.com/office/drawing/2014/main" id="{529FE5E7-6B6E-4525-919B-15672A894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009900"/>
            <a:ext cx="1866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고객</a:t>
            </a:r>
          </a:p>
        </p:txBody>
      </p:sp>
      <p:sp>
        <p:nvSpPr>
          <p:cNvPr id="15" name="stack-body">
            <a:extLst xmlns:a="http://schemas.openxmlformats.org/drawingml/2006/main">
              <a:ext uri="{FF2B5EF4-FFF2-40B4-BE49-F238E27FC236}">
                <a16:creationId xmlns:a16="http://schemas.microsoft.com/office/drawing/2014/main" id="{F9D8C6D6-6ED7-4366-8712-025E5E429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524250"/>
            <a:ext cx="1866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12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업무 사용자가 앱 요금이나</a:t>
            </a:r>
          </a:p>
          <a:p xmlns:a="http://schemas.openxmlformats.org/drawingml/2006/main">
            <a:pPr algn="l">
              <a:defRPr sz="1200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12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토큰 비용을 지불</a:t>
            </a:r>
          </a:p>
        </p:txBody>
      </p:sp>
      <p:sp>
        <p:nvSpPr>
          <p:cNvPr id="16" name="stack-arrow-0-line">
            <a:extLst xmlns:a="http://schemas.openxmlformats.org/drawingml/2006/main">
              <a:ext uri="{FF2B5EF4-FFF2-40B4-BE49-F238E27FC236}">
                <a16:creationId xmlns:a16="http://schemas.microsoft.com/office/drawing/2014/main" id="{C3F6E19B-29D8-48D1-9940-F9693546C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467100"/>
            <a:ext cx="2476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stack-arrow-0-head">
            <a:extLst xmlns:a="http://schemas.openxmlformats.org/drawingml/2006/main">
              <a:ext uri="{FF2B5EF4-FFF2-40B4-BE49-F238E27FC236}">
                <a16:creationId xmlns:a16="http://schemas.microsoft.com/office/drawing/2014/main" id="{0C7D1EF1-CDC8-4588-904D-17F9B6931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429000"/>
            <a:ext cx="228600" cy="2286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stack-block">
            <a:extLst xmlns:a="http://schemas.openxmlformats.org/drawingml/2006/main">
              <a:ext uri="{FF2B5EF4-FFF2-40B4-BE49-F238E27FC236}">
                <a16:creationId xmlns:a16="http://schemas.microsoft.com/office/drawing/2014/main" id="{3509CC50-E165-4103-98EB-11F538366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647950"/>
            <a:ext cx="2286000" cy="1790700"/>
          </a:xfrm>
          <a:prstGeom xmlns:a="http://schemas.openxmlformats.org/drawingml/2006/main" prst="roundRect">
            <a:avLst>
              <a:gd name="adj" fmla="val 957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4F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stack-accent">
            <a:extLst xmlns:a="http://schemas.openxmlformats.org/drawingml/2006/main">
              <a:ext uri="{FF2B5EF4-FFF2-40B4-BE49-F238E27FC236}">
                <a16:creationId xmlns:a16="http://schemas.microsoft.com/office/drawing/2014/main" id="{F550AC8E-3233-4587-96DC-15908A81C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647950"/>
            <a:ext cx="2286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A6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stack-title">
            <a:extLst xmlns:a="http://schemas.openxmlformats.org/drawingml/2006/main">
              <a:ext uri="{FF2B5EF4-FFF2-40B4-BE49-F238E27FC236}">
                <a16:creationId xmlns:a16="http://schemas.microsoft.com/office/drawing/2014/main" id="{2988D781-B377-4533-9555-633A7BE73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009900"/>
            <a:ext cx="1866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Apps</a:t>
            </a:r>
          </a:p>
        </p:txBody>
      </p:sp>
      <p:sp>
        <p:nvSpPr>
          <p:cNvPr id="21" name="stack-body">
            <a:extLst xmlns:a="http://schemas.openxmlformats.org/drawingml/2006/main">
              <a:ext uri="{FF2B5EF4-FFF2-40B4-BE49-F238E27FC236}">
                <a16:creationId xmlns:a16="http://schemas.microsoft.com/office/drawing/2014/main" id="{5E122F15-BBAD-46F3-A418-B0DAAEF57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524250"/>
            <a:ext cx="1866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12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Cursor, Harvey,</a:t>
            </a:r>
          </a:p>
          <a:p xmlns:a="http://schemas.openxmlformats.org/drawingml/2006/main">
            <a:pPr algn="l">
              <a:defRPr sz="1200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12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Codex류 업무 앱</a:t>
            </a:r>
          </a:p>
          <a:p xmlns:a="http://schemas.openxmlformats.org/drawingml/2006/main">
            <a:pPr algn="l">
              <a:defRPr sz="1200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12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토큰 비용을 뺀 가치가 남음</a:t>
            </a:r>
          </a:p>
        </p:txBody>
      </p:sp>
      <p:sp>
        <p:nvSpPr>
          <p:cNvPr id="22" name="stack-arrow-1-line">
            <a:extLst xmlns:a="http://schemas.openxmlformats.org/drawingml/2006/main">
              <a:ext uri="{FF2B5EF4-FFF2-40B4-BE49-F238E27FC236}">
                <a16:creationId xmlns:a16="http://schemas.microsoft.com/office/drawing/2014/main" id="{438F3C35-1AB0-4BE2-8F95-BB9BAE384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467100"/>
            <a:ext cx="2476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A6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stack-arrow-1-head">
            <a:extLst xmlns:a="http://schemas.openxmlformats.org/drawingml/2006/main">
              <a:ext uri="{FF2B5EF4-FFF2-40B4-BE49-F238E27FC236}">
                <a16:creationId xmlns:a16="http://schemas.microsoft.com/office/drawing/2014/main" id="{BD32A9D7-4CB7-4AF3-ABF0-E5E901659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429000"/>
            <a:ext cx="228600" cy="2286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1A6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stack-block">
            <a:extLst xmlns:a="http://schemas.openxmlformats.org/drawingml/2006/main">
              <a:ext uri="{FF2B5EF4-FFF2-40B4-BE49-F238E27FC236}">
                <a16:creationId xmlns:a16="http://schemas.microsoft.com/office/drawing/2014/main" id="{34D1AD09-7A7E-4703-A136-060FE43A6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647950"/>
            <a:ext cx="2286000" cy="1790700"/>
          </a:xfrm>
          <a:prstGeom xmlns:a="http://schemas.openxmlformats.org/drawingml/2006/main" prst="roundRect">
            <a:avLst>
              <a:gd name="adj" fmla="val 957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4F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5" name="stack-accent">
            <a:extLst xmlns:a="http://schemas.openxmlformats.org/drawingml/2006/main">
              <a:ext uri="{FF2B5EF4-FFF2-40B4-BE49-F238E27FC236}">
                <a16:creationId xmlns:a16="http://schemas.microsoft.com/office/drawing/2014/main" id="{588B6AD8-B4A9-4652-92D2-7617E9B7B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647950"/>
            <a:ext cx="2286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7C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stack-title">
            <a:extLst xmlns:a="http://schemas.openxmlformats.org/drawingml/2006/main">
              <a:ext uri="{FF2B5EF4-FFF2-40B4-BE49-F238E27FC236}">
                <a16:creationId xmlns:a16="http://schemas.microsoft.com/office/drawing/2014/main" id="{CA9F45FE-8A1B-4D3D-8C45-521B83ACA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009900"/>
            <a:ext cx="1866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Foundation</a:t>
            </a:r>
          </a:p>
          <a:p xmlns:a="http://schemas.openxmlformats.org/drawingml/2006/main">
            <a:pPr algn="l">
              <a:defRPr sz="2025" b="1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Models</a:t>
            </a:r>
          </a:p>
        </p:txBody>
      </p:sp>
      <p:sp>
        <p:nvSpPr>
          <p:cNvPr id="27" name="stack-body">
            <a:extLst xmlns:a="http://schemas.openxmlformats.org/drawingml/2006/main">
              <a:ext uri="{FF2B5EF4-FFF2-40B4-BE49-F238E27FC236}">
                <a16:creationId xmlns:a16="http://schemas.microsoft.com/office/drawing/2014/main" id="{7E4BD9F6-0021-44FA-86C9-9C3D94AD4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524250"/>
            <a:ext cx="1866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12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모델 API와 frontier 기능</a:t>
            </a:r>
          </a:p>
          <a:p xmlns:a="http://schemas.openxmlformats.org/drawingml/2006/main">
            <a:pPr algn="l">
              <a:defRPr sz="1200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12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추론 비용을 뺀 가치</a:t>
            </a:r>
          </a:p>
        </p:txBody>
      </p:sp>
      <p:sp>
        <p:nvSpPr>
          <p:cNvPr id="28" name="stack-arrow-2-line">
            <a:extLst xmlns:a="http://schemas.openxmlformats.org/drawingml/2006/main">
              <a:ext uri="{FF2B5EF4-FFF2-40B4-BE49-F238E27FC236}">
                <a16:creationId xmlns:a16="http://schemas.microsoft.com/office/drawing/2014/main" id="{F96A88D4-8329-4385-87A4-B923EDA9F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467100"/>
            <a:ext cx="2476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7C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stack-arrow-2-head">
            <a:extLst xmlns:a="http://schemas.openxmlformats.org/drawingml/2006/main">
              <a:ext uri="{FF2B5EF4-FFF2-40B4-BE49-F238E27FC236}">
                <a16:creationId xmlns:a16="http://schemas.microsoft.com/office/drawing/2014/main" id="{CC5B2D36-1C04-45E2-91AA-2CEB533A8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429000"/>
            <a:ext cx="228600" cy="2286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B7C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stack-block">
            <a:extLst xmlns:a="http://schemas.openxmlformats.org/drawingml/2006/main">
              <a:ext uri="{FF2B5EF4-FFF2-40B4-BE49-F238E27FC236}">
                <a16:creationId xmlns:a16="http://schemas.microsoft.com/office/drawing/2014/main" id="{BEF4A7B4-CAA5-4F4C-AF3F-0DE111A5B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647950"/>
            <a:ext cx="2286000" cy="1790700"/>
          </a:xfrm>
          <a:prstGeom xmlns:a="http://schemas.openxmlformats.org/drawingml/2006/main" prst="roundRect">
            <a:avLst>
              <a:gd name="adj" fmla="val 957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4F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1" name="stack-accent">
            <a:extLst xmlns:a="http://schemas.openxmlformats.org/drawingml/2006/main">
              <a:ext uri="{FF2B5EF4-FFF2-40B4-BE49-F238E27FC236}">
                <a16:creationId xmlns:a16="http://schemas.microsoft.com/office/drawing/2014/main" id="{A2ED0B1D-EE4F-4730-803C-8C7BFF1B9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647950"/>
            <a:ext cx="2286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4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stack-title">
            <a:extLst xmlns:a="http://schemas.openxmlformats.org/drawingml/2006/main">
              <a:ext uri="{FF2B5EF4-FFF2-40B4-BE49-F238E27FC236}">
                <a16:creationId xmlns:a16="http://schemas.microsoft.com/office/drawing/2014/main" id="{C4AC2E95-94C5-4244-A92C-773607B3E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009900"/>
            <a:ext cx="1866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Hosting</a:t>
            </a:r>
          </a:p>
        </p:txBody>
      </p:sp>
      <p:sp>
        <p:nvSpPr>
          <p:cNvPr id="33" name="stack-body">
            <a:extLst xmlns:a="http://schemas.openxmlformats.org/drawingml/2006/main">
              <a:ext uri="{FF2B5EF4-FFF2-40B4-BE49-F238E27FC236}">
                <a16:creationId xmlns:a16="http://schemas.microsoft.com/office/drawing/2014/main" id="{84B94C1A-018F-4B9C-95BC-1198D6010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524250"/>
            <a:ext cx="1866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12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클라우드가 칩 CapEx를</a:t>
            </a:r>
          </a:p>
          <a:p xmlns:a="http://schemas.openxmlformats.org/drawingml/2006/main">
            <a:pPr algn="l">
              <a:defRPr sz="1200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12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토큰 OpEx로 전환</a:t>
            </a:r>
          </a:p>
        </p:txBody>
      </p:sp>
      <p:sp>
        <p:nvSpPr>
          <p:cNvPr id="34" name="bottom-message">
            <a:extLst xmlns:a="http://schemas.openxmlformats.org/drawingml/2006/main">
              <a:ext uri="{FF2B5EF4-FFF2-40B4-BE49-F238E27FC236}">
                <a16:creationId xmlns:a16="http://schemas.microsoft.com/office/drawing/2014/main" id="{18DEA3F4-0639-4DD8-B4A5-A4BEB8945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970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D4D9F"/>
                </a:solidFill>
                <a:latin typeface="Pretendard"/>
                <a:ea typeface="Pretendard"/>
                <a:cs typeface="Pretendard"/>
              </a:defRPr>
            </a:pPr>
            <a:r>
              <a:rPr sz="1650" b="1">
                <a:solidFill>
                  <a:srgbClr val="0D4D9F"/>
                </a:solidFill>
                <a:latin typeface="Pretendard"/>
                <a:ea typeface="Pretendard"/>
                <a:cs typeface="Pretendard"/>
              </a:rPr>
              <a:t>신세계 I&amp;C 관점: 모델 자체보다 ‘업무 앱 + 내부 데이터 + 검증 루프’가 가치 포착 지점입니다.</a:t>
            </a:r>
          </a:p>
        </p:txBody>
      </p:sp>
    </p:spTree>
    <p:extLst>
      <p:ext uri="{BB962C8B-B14F-4D97-AF65-F5344CB8AC3E}">
        <p14:creationId xmlns:p14="http://schemas.microsoft.com/office/powerpoint/2010/main" val="191739503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8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decor-ring-1">
            <a:extLst xmlns:a="http://schemas.openxmlformats.org/drawingml/2006/main">
              <a:ext uri="{FF2B5EF4-FFF2-40B4-BE49-F238E27FC236}">
                <a16:creationId xmlns:a16="http://schemas.microsoft.com/office/drawing/2014/main" id="{EADD81C3-6435-48E2-A96F-CFF4EE40D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609600" y="-800100"/>
            <a:ext cx="3429000" cy="2095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BFF"/>
            </a:solidFill>
            <a:prstDash val="solid"/>
          </a:ln>
        </p:spPr>
      </p:sp>
      <p:sp>
        <p:nvSpPr>
          <p:cNvPr id="2" name="decor-ring-2">
            <a:extLst xmlns:a="http://schemas.openxmlformats.org/drawingml/2006/main">
              <a:ext uri="{FF2B5EF4-FFF2-40B4-BE49-F238E27FC236}">
                <a16:creationId xmlns:a16="http://schemas.microsoft.com/office/drawing/2014/main" id="{4D2E6C40-51E2-4CE2-8294-5B4CB6677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28600" y="-895350"/>
            <a:ext cx="2762250" cy="2095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BFF"/>
            </a:solidFill>
            <a:prstDash val="solid"/>
          </a:ln>
        </p:spPr>
      </p:sp>
      <p:sp>
        <p:nvSpPr>
          <p:cNvPr id="3" name="decor-orb-1">
            <a:extLst xmlns:a="http://schemas.openxmlformats.org/drawingml/2006/main">
              <a:ext uri="{FF2B5EF4-FFF2-40B4-BE49-F238E27FC236}">
                <a16:creationId xmlns:a16="http://schemas.microsoft.com/office/drawing/2014/main" id="{4B4D1492-7632-4674-89E1-8FE161853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838700"/>
            <a:ext cx="333375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E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decor-orb-2">
            <a:extLst xmlns:a="http://schemas.openxmlformats.org/drawingml/2006/main">
              <a:ext uri="{FF2B5EF4-FFF2-40B4-BE49-F238E27FC236}">
                <a16:creationId xmlns:a16="http://schemas.microsoft.com/office/drawing/2014/main" id="{66E411B7-CAF0-4DDB-83CC-E166FFCCE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5219700"/>
            <a:ext cx="2952750" cy="2190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6D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itle-bar">
            <a:extLst xmlns:a="http://schemas.openxmlformats.org/drawingml/2006/main">
              <a:ext uri="{FF2B5EF4-FFF2-40B4-BE49-F238E27FC236}">
                <a16:creationId xmlns:a16="http://schemas.microsoft.com/office/drawing/2014/main" id="{5A1EEB29-FC9D-42D7-85EB-77F8CAF93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90550"/>
            <a:ext cx="6667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kicker">
            <a:extLst xmlns:a="http://schemas.openxmlformats.org/drawingml/2006/main">
              <a:ext uri="{FF2B5EF4-FFF2-40B4-BE49-F238E27FC236}">
                <a16:creationId xmlns:a16="http://schemas.microsoft.com/office/drawing/2014/main" id="{3F581B7C-6169-4690-95BF-D5D0B210F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F80ED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2F80ED"/>
                </a:solidFill>
                <a:latin typeface="Pretendard"/>
                <a:ea typeface="Pretendard"/>
                <a:cs typeface="Pretendard"/>
              </a:rPr>
              <a:t>ECONOMY</a:t>
            </a:r>
          </a:p>
        </p:txBody>
      </p:sp>
      <p:sp>
        <p:nvSpPr>
          <p:cNvPr id="7" name="title">
            <a:extLst xmlns:a="http://schemas.openxmlformats.org/drawingml/2006/main">
              <a:ext uri="{FF2B5EF4-FFF2-40B4-BE49-F238E27FC236}">
                <a16:creationId xmlns:a16="http://schemas.microsoft.com/office/drawing/2014/main" id="{66CFE040-DD34-4864-B46F-63369AAE3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9906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2700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거시적으로는 크지만, 기업 내부 적용은 아직 초기입니다.</a:t>
            </a:r>
          </a:p>
        </p:txBody>
      </p:sp>
      <p:sp>
        <p:nvSpPr>
          <p:cNvPr id="8" name="subtitle">
            <a:extLst xmlns:a="http://schemas.openxmlformats.org/drawingml/2006/main">
              <a:ext uri="{FF2B5EF4-FFF2-40B4-BE49-F238E27FC236}">
                <a16:creationId xmlns:a16="http://schemas.microsoft.com/office/drawing/2014/main" id="{FB2D6015-958C-4E63-953A-F89A1BEF9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990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AI 매출은 빠르게 늘어도 GDP와 기업 P&amp;L에서는 아직 작은 비중입니다. 그래서 초기 과제는 검증 가능한 업무 효율에서 시작합니다.</a:t>
            </a:r>
          </a:p>
        </p:txBody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ddb5c9e62a46ca"/>
          <a:stretch xmlns:a="http://schemas.openxmlformats.org/drawingml/2006/main"/>
        </p:blipFill>
        <p:spPr>
          <a:xfrm xmlns:a="http://schemas.openxmlformats.org/drawingml/2006/main">
            <a:off x="10668000" y="269137"/>
            <a:ext cx="1257300" cy="204677"/>
          </a:xfrm>
          <a:prstGeom xmlns:a="http://schemas.openxmlformats.org/drawingml/2006/main" prst="rect">
            <a:avLst/>
          </a:prstGeom>
        </p:spPr>
      </p:pic>
      <p:sp>
        <p:nvSpPr>
          <p:cNvPr id="10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E5D47A79-0E6F-45EB-9DE5-4371C8439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800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75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출처: Exponential View, The State of the AI Economy, 2026</a:t>
            </a:r>
          </a:p>
        </p:txBody>
      </p:sp>
      <p:sp>
        <p:nvSpPr>
          <p:cNvPr id="11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B0668A27-36A2-4CB5-8F85-F5167C0A4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436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5</a:t>
            </a:r>
          </a:p>
        </p:txBody>
      </p:sp>
      <p:sp>
        <p:nvSpPr>
          <p:cNvPr id="12" name="bar-label">
            <a:extLst xmlns:a="http://schemas.openxmlformats.org/drawingml/2006/main">
              <a:ext uri="{FF2B5EF4-FFF2-40B4-BE49-F238E27FC236}">
                <a16:creationId xmlns:a16="http://schemas.microsoft.com/office/drawing/2014/main" id="{FA431AF4-5975-4D4F-85F8-568AD5B4C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495550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AI revenue / US GDP</a:t>
            </a:r>
          </a:p>
        </p:txBody>
      </p:sp>
      <p:sp>
        <p:nvSpPr>
          <p:cNvPr id="13" name="bar-bg">
            <a:extLst xmlns:a="http://schemas.openxmlformats.org/drawingml/2006/main">
              <a:ext uri="{FF2B5EF4-FFF2-40B4-BE49-F238E27FC236}">
                <a16:creationId xmlns:a16="http://schemas.microsoft.com/office/drawing/2014/main" id="{1ED0332E-8616-426F-8CBC-EA4717A83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743200"/>
            <a:ext cx="5905500" cy="304800"/>
          </a:xfrm>
          <a:prstGeom xmlns:a="http://schemas.openxmlformats.org/drawingml/2006/main" prst="roundRect">
            <a:avLst>
              <a:gd name="adj" fmla="val 21875"/>
            </a:avLst>
          </a:prstGeom>
          <a:solidFill xmlns:a="http://schemas.openxmlformats.org/drawingml/2006/main">
            <a:srgbClr val="E6EE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bar-fill">
            <a:extLst xmlns:a="http://schemas.openxmlformats.org/drawingml/2006/main">
              <a:ext uri="{FF2B5EF4-FFF2-40B4-BE49-F238E27FC236}">
                <a16:creationId xmlns:a16="http://schemas.microsoft.com/office/drawing/2014/main" id="{BCA84310-ED63-4F78-9D84-6E0E6543C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743200"/>
            <a:ext cx="248031" cy="304800"/>
          </a:xfrm>
          <a:prstGeom xmlns:a="http://schemas.openxmlformats.org/drawingml/2006/main" prst="roundRect">
            <a:avLst>
              <a:gd name="adj" fmla="val 26882"/>
            </a:avLst>
          </a:prstGeom>
          <a:solidFill xmlns:a="http://schemas.openxmlformats.org/drawingml/2006/main">
            <a:srgbClr val="2F80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bar-value">
            <a:extLst xmlns:a="http://schemas.openxmlformats.org/drawingml/2006/main">
              <a:ext uri="{FF2B5EF4-FFF2-40B4-BE49-F238E27FC236}">
                <a16:creationId xmlns:a16="http://schemas.microsoft.com/office/drawing/2014/main" id="{746B789E-78C9-4895-A63C-7D7DA0378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70510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F80ED"/>
                </a:solidFill>
                <a:latin typeface="Pretendard"/>
                <a:ea typeface="Pretendard"/>
                <a:cs typeface="Pretendard"/>
              </a:defRPr>
            </a:pPr>
            <a:r>
              <a:rPr sz="1350" b="1">
                <a:solidFill>
                  <a:srgbClr val="2F80ED"/>
                </a:solidFill>
                <a:latin typeface="Pretendard"/>
                <a:ea typeface="Pretendard"/>
                <a:cs typeface="Pretendard"/>
              </a:rPr>
              <a:t>0.42%</a:t>
            </a:r>
          </a:p>
        </p:txBody>
      </p:sp>
      <p:sp>
        <p:nvSpPr>
          <p:cNvPr id="16" name="bar-label">
            <a:extLst xmlns:a="http://schemas.openxmlformats.org/drawingml/2006/main">
              <a:ext uri="{FF2B5EF4-FFF2-40B4-BE49-F238E27FC236}">
                <a16:creationId xmlns:a16="http://schemas.microsoft.com/office/drawing/2014/main" id="{2F257DC7-D9C9-4AB4-BB99-0505493C4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371850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IT sector / US GDP</a:t>
            </a:r>
          </a:p>
        </p:txBody>
      </p:sp>
      <p:sp>
        <p:nvSpPr>
          <p:cNvPr id="17" name="bar-bg">
            <a:extLst xmlns:a="http://schemas.openxmlformats.org/drawingml/2006/main">
              <a:ext uri="{FF2B5EF4-FFF2-40B4-BE49-F238E27FC236}">
                <a16:creationId xmlns:a16="http://schemas.microsoft.com/office/drawing/2014/main" id="{C408C312-3A72-4A9B-96F5-F564488FC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19500"/>
            <a:ext cx="5905500" cy="304800"/>
          </a:xfrm>
          <a:prstGeom xmlns:a="http://schemas.openxmlformats.org/drawingml/2006/main" prst="roundRect">
            <a:avLst>
              <a:gd name="adj" fmla="val 21875"/>
            </a:avLst>
          </a:prstGeom>
          <a:solidFill xmlns:a="http://schemas.openxmlformats.org/drawingml/2006/main">
            <a:srgbClr val="E6EE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bar-fill">
            <a:extLst xmlns:a="http://schemas.openxmlformats.org/drawingml/2006/main">
              <a:ext uri="{FF2B5EF4-FFF2-40B4-BE49-F238E27FC236}">
                <a16:creationId xmlns:a16="http://schemas.microsoft.com/office/drawing/2014/main" id="{FBFA1BB6-9870-4928-BCFC-3CE0CF158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19500"/>
            <a:ext cx="5551170" cy="304800"/>
          </a:xfrm>
          <a:prstGeom xmlns:a="http://schemas.openxmlformats.org/drawingml/2006/main" prst="roundRect">
            <a:avLst>
              <a:gd name="adj" fmla="val 21875"/>
            </a:avLst>
          </a:prstGeom>
          <a:solidFill xmlns:a="http://schemas.openxmlformats.org/drawingml/2006/main">
            <a:srgbClr val="11A6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bar-value">
            <a:extLst xmlns:a="http://schemas.openxmlformats.org/drawingml/2006/main">
              <a:ext uri="{FF2B5EF4-FFF2-40B4-BE49-F238E27FC236}">
                <a16:creationId xmlns:a16="http://schemas.microsoft.com/office/drawing/2014/main" id="{48350006-2457-4CBB-8F2C-F50C3D37A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58140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A67A"/>
                </a:solidFill>
                <a:latin typeface="Pretendard"/>
                <a:ea typeface="Pretendard"/>
                <a:cs typeface="Pretendard"/>
              </a:defRPr>
            </a:pPr>
            <a:r>
              <a:rPr sz="1350" b="1">
                <a:solidFill>
                  <a:srgbClr val="11A67A"/>
                </a:solidFill>
                <a:latin typeface="Pretendard"/>
                <a:ea typeface="Pretendard"/>
                <a:cs typeface="Pretendard"/>
              </a:rPr>
              <a:t>9.4%</a:t>
            </a:r>
          </a:p>
        </p:txBody>
      </p:sp>
      <p:sp>
        <p:nvSpPr>
          <p:cNvPr id="20" name="metric-card">
            <a:extLst xmlns:a="http://schemas.openxmlformats.org/drawingml/2006/main">
              <a:ext uri="{FF2B5EF4-FFF2-40B4-BE49-F238E27FC236}">
                <a16:creationId xmlns:a16="http://schemas.microsoft.com/office/drawing/2014/main" id="{F9F41364-7282-4251-98D1-F94EBF602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343150"/>
            <a:ext cx="3143250" cy="2190750"/>
          </a:xfrm>
          <a:prstGeom xmlns:a="http://schemas.openxmlformats.org/drawingml/2006/main" prst="roundRect">
            <a:avLst>
              <a:gd name="adj" fmla="val 78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4F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1" name="metric-value">
            <a:extLst xmlns:a="http://schemas.openxmlformats.org/drawingml/2006/main">
              <a:ext uri="{FF2B5EF4-FFF2-40B4-BE49-F238E27FC236}">
                <a16:creationId xmlns:a16="http://schemas.microsoft.com/office/drawing/2014/main" id="{1E17D862-98AD-4F1D-A400-AE36A3FC5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590800"/>
            <a:ext cx="27241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C400"/>
                </a:solidFill>
                <a:latin typeface="Pretendard"/>
                <a:ea typeface="Pretendard"/>
                <a:cs typeface="Pretendard"/>
              </a:defRPr>
            </a:pPr>
            <a:r>
              <a:rPr sz="3150" b="1">
                <a:solidFill>
                  <a:srgbClr val="FFC400"/>
                </a:solidFill>
                <a:latin typeface="Pretendard"/>
                <a:ea typeface="Pretendard"/>
                <a:cs typeface="Pretendard"/>
              </a:rPr>
              <a:t>32x</a:t>
            </a:r>
          </a:p>
        </p:txBody>
      </p:sp>
      <p:sp>
        <p:nvSpPr>
          <p:cNvPr id="22" name="metric-label">
            <a:extLst xmlns:a="http://schemas.openxmlformats.org/drawingml/2006/main">
              <a:ext uri="{FF2B5EF4-FFF2-40B4-BE49-F238E27FC236}">
                <a16:creationId xmlns:a16="http://schemas.microsoft.com/office/drawing/2014/main" id="{458D136C-1C99-485D-AC6D-6660B9CA8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219450"/>
            <a:ext cx="2686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1500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기업 이익 대비</a:t>
            </a:r>
          </a:p>
        </p:txBody>
      </p:sp>
      <p:sp>
        <p:nvSpPr>
          <p:cNvPr id="23" name="metric-note">
            <a:extLst xmlns:a="http://schemas.openxmlformats.org/drawingml/2006/main">
              <a:ext uri="{FF2B5EF4-FFF2-40B4-BE49-F238E27FC236}">
                <a16:creationId xmlns:a16="http://schemas.microsoft.com/office/drawing/2014/main" id="{5B2F4A38-B975-4577-B78E-113DDDB3C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752850"/>
            <a:ext cx="26860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기업 이익 규모는 전체 GenAI</a:t>
            </a:r>
          </a:p>
          <a:p xmlns:a="http://schemas.openxmlformats.org/drawingml/2006/main">
            <a:pPr algn="l">
              <a:defRPr sz="1125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매출보다 훨씬 큼</a:t>
            </a:r>
          </a:p>
        </p:txBody>
      </p:sp>
      <p:sp>
        <p:nvSpPr>
          <p:cNvPr id="24" name="lesson">
            <a:extLst xmlns:a="http://schemas.openxmlformats.org/drawingml/2006/main">
              <a:ext uri="{FF2B5EF4-FFF2-40B4-BE49-F238E27FC236}">
                <a16:creationId xmlns:a16="http://schemas.microsoft.com/office/drawing/2014/main" id="{16AD526A-C8BB-469A-9F2B-A29852467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095875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1650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강의 포인트: AI 지출이 아직 작다는 것은 기회가 없다는 뜻이 아니라, 각 팀이 업무 가치 측정 방식을</a:t>
            </a:r>
          </a:p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1650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직접 설계해야 한다는 뜻입니다.</a:t>
            </a:r>
          </a:p>
        </p:txBody>
      </p:sp>
    </p:spTree>
    <p:extLst>
      <p:ext uri="{BB962C8B-B14F-4D97-AF65-F5344CB8AC3E}">
        <p14:creationId xmlns:p14="http://schemas.microsoft.com/office/powerpoint/2010/main" val="57608955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8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decor-ring-1">
            <a:extLst xmlns:a="http://schemas.openxmlformats.org/drawingml/2006/main">
              <a:ext uri="{FF2B5EF4-FFF2-40B4-BE49-F238E27FC236}">
                <a16:creationId xmlns:a16="http://schemas.microsoft.com/office/drawing/2014/main" id="{D926C908-6F96-445E-892E-A8DB8A80B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609600" y="-800100"/>
            <a:ext cx="3429000" cy="2095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BFF"/>
            </a:solidFill>
            <a:prstDash val="solid"/>
          </a:ln>
        </p:spPr>
      </p:sp>
      <p:sp>
        <p:nvSpPr>
          <p:cNvPr id="2" name="decor-ring-2">
            <a:extLst xmlns:a="http://schemas.openxmlformats.org/drawingml/2006/main">
              <a:ext uri="{FF2B5EF4-FFF2-40B4-BE49-F238E27FC236}">
                <a16:creationId xmlns:a16="http://schemas.microsoft.com/office/drawing/2014/main" id="{D446094C-AD82-4253-8EBA-B049AD0B2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28600" y="-895350"/>
            <a:ext cx="2762250" cy="2095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BFF"/>
            </a:solidFill>
            <a:prstDash val="solid"/>
          </a:ln>
        </p:spPr>
      </p:sp>
      <p:sp>
        <p:nvSpPr>
          <p:cNvPr id="3" name="decor-orb-1">
            <a:extLst xmlns:a="http://schemas.openxmlformats.org/drawingml/2006/main">
              <a:ext uri="{FF2B5EF4-FFF2-40B4-BE49-F238E27FC236}">
                <a16:creationId xmlns:a16="http://schemas.microsoft.com/office/drawing/2014/main" id="{6E70A856-8843-4F02-9C21-36EBACB5D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838700"/>
            <a:ext cx="333375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E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decor-orb-2">
            <a:extLst xmlns:a="http://schemas.openxmlformats.org/drawingml/2006/main">
              <a:ext uri="{FF2B5EF4-FFF2-40B4-BE49-F238E27FC236}">
                <a16:creationId xmlns:a16="http://schemas.microsoft.com/office/drawing/2014/main" id="{B3E5B0FC-B20D-4FB4-9D4D-21CF5ABC8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5219700"/>
            <a:ext cx="2952750" cy="2190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6D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itle-bar">
            <a:extLst xmlns:a="http://schemas.openxmlformats.org/drawingml/2006/main">
              <a:ext uri="{FF2B5EF4-FFF2-40B4-BE49-F238E27FC236}">
                <a16:creationId xmlns:a16="http://schemas.microsoft.com/office/drawing/2014/main" id="{744D253B-22E5-42C2-BAB8-F5FCB598F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90550"/>
            <a:ext cx="6667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kicker">
            <a:extLst xmlns:a="http://schemas.openxmlformats.org/drawingml/2006/main">
              <a:ext uri="{FF2B5EF4-FFF2-40B4-BE49-F238E27FC236}">
                <a16:creationId xmlns:a16="http://schemas.microsoft.com/office/drawing/2014/main" id="{427D50C3-A370-45F6-BB07-A39F47009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F80ED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2F80ED"/>
                </a:solidFill>
                <a:latin typeface="Pretendard"/>
                <a:ea typeface="Pretendard"/>
                <a:cs typeface="Pretendard"/>
              </a:rPr>
              <a:t>ENTERPRISE IMPACT</a:t>
            </a:r>
          </a:p>
        </p:txBody>
      </p:sp>
      <p:sp>
        <p:nvSpPr>
          <p:cNvPr id="7" name="title">
            <a:extLst xmlns:a="http://schemas.openxmlformats.org/drawingml/2006/main">
              <a:ext uri="{FF2B5EF4-FFF2-40B4-BE49-F238E27FC236}">
                <a16:creationId xmlns:a16="http://schemas.microsoft.com/office/drawing/2014/main" id="{FEC99A2A-F2BE-49C4-A289-0BCD8BE42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9906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2700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초기 기업 사례의 70%는 효율과 비용 절감에 집중됩니다.</a:t>
            </a:r>
          </a:p>
        </p:txBody>
      </p:sp>
      <p:sp>
        <p:nvSpPr>
          <p:cNvPr id="8" name="subtitle">
            <a:extLst xmlns:a="http://schemas.openxmlformats.org/drawingml/2006/main">
              <a:ext uri="{FF2B5EF4-FFF2-40B4-BE49-F238E27FC236}">
                <a16:creationId xmlns:a16="http://schemas.microsoft.com/office/drawing/2014/main" id="{28C2DB98-3009-4619-93FD-ACA07EB3A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990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매출 성장보다 비용 절감 효과가 손익에 더 빠르게 보이기 때문에, 초기 AX 과제도 반복 업무 개선에서 출발합니다.</a:t>
            </a:r>
          </a:p>
        </p:txBody>
      </p:sp>
      <p:pic>
        <p:nvPicPr>
          <p:cNvPr id="4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bbbe45942a4a2b"/>
          <a:stretch xmlns:a="http://schemas.openxmlformats.org/drawingml/2006/main"/>
        </p:blipFill>
        <p:spPr>
          <a:xfrm xmlns:a="http://schemas.openxmlformats.org/drawingml/2006/main">
            <a:off x="10668000" y="269137"/>
            <a:ext cx="1257300" cy="204677"/>
          </a:xfrm>
          <a:prstGeom xmlns:a="http://schemas.openxmlformats.org/drawingml/2006/main" prst="rect">
            <a:avLst/>
          </a:prstGeom>
        </p:spPr>
      </p:pic>
      <p:sp>
        <p:nvSpPr>
          <p:cNvPr id="10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D66A38AC-835E-47EF-BBCB-9259F2C5F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800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75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출처: Exponential View, The State of the AI Economy, 2026</a:t>
            </a:r>
          </a:p>
        </p:txBody>
      </p:sp>
      <p:sp>
        <p:nvSpPr>
          <p:cNvPr id="11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FCE9D4E0-C0FC-4D16-A52C-89691B4A2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436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6</a:t>
            </a:r>
          </a:p>
        </p:txBody>
      </p:sp>
      <p:sp>
        <p:nvSpPr>
          <p:cNvPr id="12" name="bar-label">
            <a:extLst xmlns:a="http://schemas.openxmlformats.org/drawingml/2006/main">
              <a:ext uri="{FF2B5EF4-FFF2-40B4-BE49-F238E27FC236}">
                <a16:creationId xmlns:a16="http://schemas.microsoft.com/office/drawing/2014/main" id="{0FE22D34-3737-4703-8C3C-DC2DE539B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2890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Cost reduction</a:t>
            </a:r>
          </a:p>
        </p:txBody>
      </p:sp>
      <p:sp>
        <p:nvSpPr>
          <p:cNvPr id="13" name="bar-bg">
            <a:extLst xmlns:a="http://schemas.openxmlformats.org/drawingml/2006/main">
              <a:ext uri="{FF2B5EF4-FFF2-40B4-BE49-F238E27FC236}">
                <a16:creationId xmlns:a16="http://schemas.microsoft.com/office/drawing/2014/main" id="{E63B8354-BC19-48F2-8553-19E38EDFE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76550"/>
            <a:ext cx="2381250" cy="2286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E6EE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bar-fill">
            <a:extLst xmlns:a="http://schemas.openxmlformats.org/drawingml/2006/main">
              <a:ext uri="{FF2B5EF4-FFF2-40B4-BE49-F238E27FC236}">
                <a16:creationId xmlns:a16="http://schemas.microsoft.com/office/drawing/2014/main" id="{DA48EA46-54EB-4D39-8416-F18AAA676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76550"/>
            <a:ext cx="1984375" cy="2286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2F80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bar-value">
            <a:extLst xmlns:a="http://schemas.openxmlformats.org/drawingml/2006/main">
              <a:ext uri="{FF2B5EF4-FFF2-40B4-BE49-F238E27FC236}">
                <a16:creationId xmlns:a16="http://schemas.microsoft.com/office/drawing/2014/main" id="{A404F1C2-A63E-4F8A-8125-9E5B4B118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83845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F80ED"/>
                </a:solidFill>
                <a:latin typeface="Pretendard"/>
                <a:ea typeface="Pretendard"/>
                <a:cs typeface="Pretendard"/>
              </a:defRPr>
            </a:pPr>
            <a:r>
              <a:rPr sz="1350" b="1">
                <a:solidFill>
                  <a:srgbClr val="2F80ED"/>
                </a:solidFill>
                <a:latin typeface="Pretendard"/>
                <a:ea typeface="Pretendard"/>
                <a:cs typeface="Pretendard"/>
              </a:rPr>
              <a:t>25%</a:t>
            </a:r>
          </a:p>
        </p:txBody>
      </p:sp>
      <p:sp>
        <p:nvSpPr>
          <p:cNvPr id="16" name="bar-label">
            <a:extLst xmlns:a="http://schemas.openxmlformats.org/drawingml/2006/main">
              <a:ext uri="{FF2B5EF4-FFF2-40B4-BE49-F238E27FC236}">
                <a16:creationId xmlns:a16="http://schemas.microsoft.com/office/drawing/2014/main" id="{D0D65BA7-B4EF-42A7-B5A8-9DE5CCC5A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62890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Time savings</a:t>
            </a:r>
          </a:p>
        </p:txBody>
      </p:sp>
      <p:sp>
        <p:nvSpPr>
          <p:cNvPr id="17" name="bar-bg">
            <a:extLst xmlns:a="http://schemas.openxmlformats.org/drawingml/2006/main">
              <a:ext uri="{FF2B5EF4-FFF2-40B4-BE49-F238E27FC236}">
                <a16:creationId xmlns:a16="http://schemas.microsoft.com/office/drawing/2014/main" id="{C62A664D-09C1-4D07-B062-EAC7CFB3E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876550"/>
            <a:ext cx="2381250" cy="2286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E6EE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bar-fill">
            <a:extLst xmlns:a="http://schemas.openxmlformats.org/drawingml/2006/main">
              <a:ext uri="{FF2B5EF4-FFF2-40B4-BE49-F238E27FC236}">
                <a16:creationId xmlns:a16="http://schemas.microsoft.com/office/drawing/2014/main" id="{DD3696AE-E0FE-4DD7-BB3E-B192FE4C7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876550"/>
            <a:ext cx="1825625" cy="2286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11A6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bar-value">
            <a:extLst xmlns:a="http://schemas.openxmlformats.org/drawingml/2006/main">
              <a:ext uri="{FF2B5EF4-FFF2-40B4-BE49-F238E27FC236}">
                <a16:creationId xmlns:a16="http://schemas.microsoft.com/office/drawing/2014/main" id="{E113DD06-C128-4C1F-8F79-3A17C8E36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83845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A67A"/>
                </a:solidFill>
                <a:latin typeface="Pretendard"/>
                <a:ea typeface="Pretendard"/>
                <a:cs typeface="Pretendard"/>
              </a:defRPr>
            </a:pPr>
            <a:r>
              <a:rPr sz="1350" b="1">
                <a:solidFill>
                  <a:srgbClr val="11A67A"/>
                </a:solidFill>
                <a:latin typeface="Pretendard"/>
                <a:ea typeface="Pretendard"/>
                <a:cs typeface="Pretendard"/>
              </a:rPr>
              <a:t>23%</a:t>
            </a:r>
          </a:p>
        </p:txBody>
      </p:sp>
      <p:sp>
        <p:nvSpPr>
          <p:cNvPr id="20" name="bar-label">
            <a:extLst xmlns:a="http://schemas.openxmlformats.org/drawingml/2006/main">
              <a:ext uri="{FF2B5EF4-FFF2-40B4-BE49-F238E27FC236}">
                <a16:creationId xmlns:a16="http://schemas.microsoft.com/office/drawing/2014/main" id="{E5EDD8F0-74CE-4C9E-B360-7B821E315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0520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Throughput</a:t>
            </a:r>
          </a:p>
        </p:txBody>
      </p:sp>
      <p:sp>
        <p:nvSpPr>
          <p:cNvPr id="21" name="bar-bg">
            <a:extLst xmlns:a="http://schemas.openxmlformats.org/drawingml/2006/main">
              <a:ext uri="{FF2B5EF4-FFF2-40B4-BE49-F238E27FC236}">
                <a16:creationId xmlns:a16="http://schemas.microsoft.com/office/drawing/2014/main" id="{E91E2EE7-9B0C-4940-A3B8-51515BD80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752850"/>
            <a:ext cx="2381250" cy="2286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E6EE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bar-fill">
            <a:extLst xmlns:a="http://schemas.openxmlformats.org/drawingml/2006/main">
              <a:ext uri="{FF2B5EF4-FFF2-40B4-BE49-F238E27FC236}">
                <a16:creationId xmlns:a16="http://schemas.microsoft.com/office/drawing/2014/main" id="{6A1C858D-791C-4D95-953A-FBE331B62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752850"/>
            <a:ext cx="1746250" cy="2286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FFC4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bar-value">
            <a:extLst xmlns:a="http://schemas.openxmlformats.org/drawingml/2006/main">
              <a:ext uri="{FF2B5EF4-FFF2-40B4-BE49-F238E27FC236}">
                <a16:creationId xmlns:a16="http://schemas.microsoft.com/office/drawing/2014/main" id="{7D75561C-5996-40DE-BFA9-50A24FAD1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71475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C400"/>
                </a:solidFill>
                <a:latin typeface="Pretendard"/>
                <a:ea typeface="Pretendard"/>
                <a:cs typeface="Pretendard"/>
              </a:defRPr>
            </a:pPr>
            <a:r>
              <a:rPr sz="1350" b="1">
                <a:solidFill>
                  <a:srgbClr val="FFC400"/>
                </a:solidFill>
                <a:latin typeface="Pretendard"/>
                <a:ea typeface="Pretendard"/>
                <a:cs typeface="Pretendard"/>
              </a:rPr>
              <a:t>22%</a:t>
            </a:r>
          </a:p>
        </p:txBody>
      </p:sp>
      <p:sp>
        <p:nvSpPr>
          <p:cNvPr id="24" name="bar-label">
            <a:extLst xmlns:a="http://schemas.openxmlformats.org/drawingml/2006/main">
              <a:ext uri="{FF2B5EF4-FFF2-40B4-BE49-F238E27FC236}">
                <a16:creationId xmlns:a16="http://schemas.microsoft.com/office/drawing/2014/main" id="{FC0A430D-5812-431D-80AD-2B258DE49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50520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Quality</a:t>
            </a:r>
          </a:p>
        </p:txBody>
      </p:sp>
      <p:sp>
        <p:nvSpPr>
          <p:cNvPr id="25" name="bar-bg">
            <a:extLst xmlns:a="http://schemas.openxmlformats.org/drawingml/2006/main">
              <a:ext uri="{FF2B5EF4-FFF2-40B4-BE49-F238E27FC236}">
                <a16:creationId xmlns:a16="http://schemas.microsoft.com/office/drawing/2014/main" id="{D2D19972-1B4C-4823-836C-DA13F53CB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752850"/>
            <a:ext cx="2381250" cy="2286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E6EE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bar-fill">
            <a:extLst xmlns:a="http://schemas.openxmlformats.org/drawingml/2006/main">
              <a:ext uri="{FF2B5EF4-FFF2-40B4-BE49-F238E27FC236}">
                <a16:creationId xmlns:a16="http://schemas.microsoft.com/office/drawing/2014/main" id="{F0BC37DD-AB06-411F-9221-4E1A4BE95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752850"/>
            <a:ext cx="1428750" cy="2286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6B7C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bar-value">
            <a:extLst xmlns:a="http://schemas.openxmlformats.org/drawingml/2006/main">
              <a:ext uri="{FF2B5EF4-FFF2-40B4-BE49-F238E27FC236}">
                <a16:creationId xmlns:a16="http://schemas.microsoft.com/office/drawing/2014/main" id="{2451B849-CFD8-4910-B38B-D43139B9A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71475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B7CFF"/>
                </a:solidFill>
                <a:latin typeface="Pretendard"/>
                <a:ea typeface="Pretendard"/>
                <a:cs typeface="Pretendard"/>
              </a:defRPr>
            </a:pPr>
            <a:r>
              <a:rPr sz="1350" b="1">
                <a:solidFill>
                  <a:srgbClr val="6B7CFF"/>
                </a:solidFill>
                <a:latin typeface="Pretendard"/>
                <a:ea typeface="Pretendard"/>
                <a:cs typeface="Pretendard"/>
              </a:rPr>
              <a:t>18%</a:t>
            </a:r>
          </a:p>
        </p:txBody>
      </p:sp>
      <p:sp>
        <p:nvSpPr>
          <p:cNvPr id="28" name="bar-label">
            <a:extLst xmlns:a="http://schemas.openxmlformats.org/drawingml/2006/main">
              <a:ext uri="{FF2B5EF4-FFF2-40B4-BE49-F238E27FC236}">
                <a16:creationId xmlns:a16="http://schemas.microsoft.com/office/drawing/2014/main" id="{422F79D5-A36B-4246-8BF0-352E320B0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8150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Conversion</a:t>
            </a:r>
          </a:p>
        </p:txBody>
      </p:sp>
      <p:sp>
        <p:nvSpPr>
          <p:cNvPr id="29" name="bar-bg">
            <a:extLst xmlns:a="http://schemas.openxmlformats.org/drawingml/2006/main">
              <a:ext uri="{FF2B5EF4-FFF2-40B4-BE49-F238E27FC236}">
                <a16:creationId xmlns:a16="http://schemas.microsoft.com/office/drawing/2014/main" id="{74100172-43BC-45C0-A1FD-3C52940D6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29150"/>
            <a:ext cx="2381250" cy="2286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E6EE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bar-fill">
            <a:extLst xmlns:a="http://schemas.openxmlformats.org/drawingml/2006/main">
              <a:ext uri="{FF2B5EF4-FFF2-40B4-BE49-F238E27FC236}">
                <a16:creationId xmlns:a16="http://schemas.microsoft.com/office/drawing/2014/main" id="{4D6B129C-6FDF-4E65-B995-35112093F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29150"/>
            <a:ext cx="555625" cy="2286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bar-value">
            <a:extLst xmlns:a="http://schemas.openxmlformats.org/drawingml/2006/main">
              <a:ext uri="{FF2B5EF4-FFF2-40B4-BE49-F238E27FC236}">
                <a16:creationId xmlns:a16="http://schemas.microsoft.com/office/drawing/2014/main" id="{51220B61-C267-43F2-A368-7E47A9117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59105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9E0B"/>
                </a:solidFill>
                <a:latin typeface="Pretendard"/>
                <a:ea typeface="Pretendard"/>
                <a:cs typeface="Pretendard"/>
              </a:defRPr>
            </a:pPr>
            <a:r>
              <a:rPr sz="1350" b="1">
                <a:solidFill>
                  <a:srgbClr val="F59E0B"/>
                </a:solidFill>
                <a:latin typeface="Pretendard"/>
                <a:ea typeface="Pretendard"/>
                <a:cs typeface="Pretendard"/>
              </a:rPr>
              <a:t>7%</a:t>
            </a:r>
          </a:p>
        </p:txBody>
      </p:sp>
      <p:sp>
        <p:nvSpPr>
          <p:cNvPr id="32" name="bar-label">
            <a:extLst xmlns:a="http://schemas.openxmlformats.org/drawingml/2006/main">
              <a:ext uri="{FF2B5EF4-FFF2-40B4-BE49-F238E27FC236}">
                <a16:creationId xmlns:a16="http://schemas.microsoft.com/office/drawing/2014/main" id="{C10F7FF8-235C-4D8D-8155-D68DD97FD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38150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Revenue</a:t>
            </a:r>
          </a:p>
        </p:txBody>
      </p:sp>
      <p:sp>
        <p:nvSpPr>
          <p:cNvPr id="33" name="bar-bg">
            <a:extLst xmlns:a="http://schemas.openxmlformats.org/drawingml/2006/main">
              <a:ext uri="{FF2B5EF4-FFF2-40B4-BE49-F238E27FC236}">
                <a16:creationId xmlns:a16="http://schemas.microsoft.com/office/drawing/2014/main" id="{6F3E220C-80BA-435A-801D-D620982CE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629150"/>
            <a:ext cx="2381250" cy="2286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E6EE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bar-fill">
            <a:extLst xmlns:a="http://schemas.openxmlformats.org/drawingml/2006/main">
              <a:ext uri="{FF2B5EF4-FFF2-40B4-BE49-F238E27FC236}">
                <a16:creationId xmlns:a16="http://schemas.microsoft.com/office/drawing/2014/main" id="{6E5E5D21-58AF-4134-BD35-67BD73031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629150"/>
            <a:ext cx="476250" cy="2286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EF44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bar-value">
            <a:extLst xmlns:a="http://schemas.openxmlformats.org/drawingml/2006/main">
              <a:ext uri="{FF2B5EF4-FFF2-40B4-BE49-F238E27FC236}">
                <a16:creationId xmlns:a16="http://schemas.microsoft.com/office/drawing/2014/main" id="{48965F88-12A1-4169-8743-6ED945D02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59105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F4444"/>
                </a:solidFill>
                <a:latin typeface="Pretendard"/>
                <a:ea typeface="Pretendard"/>
                <a:cs typeface="Pretendard"/>
              </a:defRPr>
            </a:pPr>
            <a:r>
              <a:rPr sz="1350" b="1">
                <a:solidFill>
                  <a:srgbClr val="EF4444"/>
                </a:solidFill>
                <a:latin typeface="Pretendard"/>
                <a:ea typeface="Pretendard"/>
                <a:cs typeface="Pretendard"/>
              </a:rPr>
              <a:t>6%</a:t>
            </a:r>
          </a:p>
        </p:txBody>
      </p:sp>
      <p:sp>
        <p:nvSpPr>
          <p:cNvPr id="36" name="seventy-circle">
            <a:extLst xmlns:a="http://schemas.openxmlformats.org/drawingml/2006/main">
              <a:ext uri="{FF2B5EF4-FFF2-40B4-BE49-F238E27FC236}">
                <a16:creationId xmlns:a16="http://schemas.microsoft.com/office/drawing/2014/main" id="{AE83390C-1290-4D37-90BC-931D4AC6C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533650"/>
            <a:ext cx="2333625" cy="2333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4F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7" name="seventy">
            <a:extLst xmlns:a="http://schemas.openxmlformats.org/drawingml/2006/main">
              <a:ext uri="{FF2B5EF4-FFF2-40B4-BE49-F238E27FC236}">
                <a16:creationId xmlns:a16="http://schemas.microsoft.com/office/drawing/2014/main" id="{A6EEFC6D-F684-4CFC-A52C-5F2B4540D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200400"/>
            <a:ext cx="1524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4050" b="1">
                <a:solidFill>
                  <a:srgbClr val="0D4D9F"/>
                </a:solidFill>
                <a:latin typeface="Pretendard"/>
                <a:ea typeface="Pretendard"/>
                <a:cs typeface="Pretendard"/>
              </a:defRPr>
            </a:pPr>
            <a:r>
              <a:rPr sz="4050" b="1">
                <a:solidFill>
                  <a:srgbClr val="0D4D9F"/>
                </a:solidFill>
                <a:latin typeface="Pretendard"/>
                <a:ea typeface="Pretendard"/>
                <a:cs typeface="Pretendard"/>
              </a:rPr>
              <a:t>70%</a:t>
            </a:r>
          </a:p>
        </p:txBody>
      </p:sp>
      <p:sp>
        <p:nvSpPr>
          <p:cNvPr id="38" name="seventy-label">
            <a:extLst xmlns:a="http://schemas.openxmlformats.org/drawingml/2006/main">
              <a:ext uri="{FF2B5EF4-FFF2-40B4-BE49-F238E27FC236}">
                <a16:creationId xmlns:a16="http://schemas.microsoft.com/office/drawing/2014/main" id="{DDE2C586-1895-483C-9DE7-D98F45E55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943350"/>
            <a:ext cx="1809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1350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비용·시간·처리량</a:t>
            </a:r>
          </a:p>
          <a:p xmlns:a="http://schemas.openxmlformats.org/drawingml/2006/main">
            <a:pPr algn="ctr">
              <a:defRPr sz="1350" b="1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1350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중심</a:t>
            </a:r>
          </a:p>
        </p:txBody>
      </p:sp>
      <p:sp>
        <p:nvSpPr>
          <p:cNvPr id="39" name="bottom-message">
            <a:extLst xmlns:a="http://schemas.openxmlformats.org/drawingml/2006/main">
              <a:ext uri="{FF2B5EF4-FFF2-40B4-BE49-F238E27FC236}">
                <a16:creationId xmlns:a16="http://schemas.microsoft.com/office/drawing/2014/main" id="{221C11E5-23EE-4298-8195-C67C0F773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86375"/>
            <a:ext cx="990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D4D9F"/>
                </a:solidFill>
                <a:latin typeface="Pretendard"/>
                <a:ea typeface="Pretendard"/>
                <a:cs typeface="Pretendard"/>
              </a:defRPr>
            </a:pPr>
            <a:r>
              <a:rPr sz="1650" b="1">
                <a:solidFill>
                  <a:srgbClr val="0D4D9F"/>
                </a:solidFill>
                <a:latin typeface="Pretendard"/>
                <a:ea typeface="Pretendard"/>
                <a:cs typeface="Pretendard"/>
              </a:rPr>
              <a:t>오늘 과제 선정 기준: 비용을 줄이거나, 시간을 줄이거나, 처리량을 늘리거나, 검토 품질을 높이는 업무</a:t>
            </a:r>
          </a:p>
        </p:txBody>
      </p:sp>
    </p:spTree>
    <p:extLst>
      <p:ext uri="{BB962C8B-B14F-4D97-AF65-F5344CB8AC3E}">
        <p14:creationId xmlns:p14="http://schemas.microsoft.com/office/powerpoint/2010/main" val="21208031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F8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decor-ring-1">
            <a:extLst xmlns:a="http://schemas.openxmlformats.org/drawingml/2006/main">
              <a:ext uri="{FF2B5EF4-FFF2-40B4-BE49-F238E27FC236}">
                <a16:creationId xmlns:a16="http://schemas.microsoft.com/office/drawing/2014/main" id="{D2CE3323-376C-47D6-9F7D-581F5CA96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609600" y="-800100"/>
            <a:ext cx="3429000" cy="2095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BFF"/>
            </a:solidFill>
            <a:prstDash val="solid"/>
          </a:ln>
        </p:spPr>
      </p:sp>
      <p:sp>
        <p:nvSpPr>
          <p:cNvPr id="2" name="decor-ring-2">
            <a:extLst xmlns:a="http://schemas.openxmlformats.org/drawingml/2006/main">
              <a:ext uri="{FF2B5EF4-FFF2-40B4-BE49-F238E27FC236}">
                <a16:creationId xmlns:a16="http://schemas.microsoft.com/office/drawing/2014/main" id="{C15CBFE6-80C2-4B67-970C-BAA4AE214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28600" y="-895350"/>
            <a:ext cx="2762250" cy="2095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BFF"/>
            </a:solidFill>
            <a:prstDash val="solid"/>
          </a:ln>
        </p:spPr>
      </p:sp>
      <p:sp>
        <p:nvSpPr>
          <p:cNvPr id="3" name="decor-orb-1">
            <a:extLst xmlns:a="http://schemas.openxmlformats.org/drawingml/2006/main">
              <a:ext uri="{FF2B5EF4-FFF2-40B4-BE49-F238E27FC236}">
                <a16:creationId xmlns:a16="http://schemas.microsoft.com/office/drawing/2014/main" id="{9CBD1E07-E2C3-48DE-9BD6-16ABD3A91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838700"/>
            <a:ext cx="333375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E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decor-orb-2">
            <a:extLst xmlns:a="http://schemas.openxmlformats.org/drawingml/2006/main">
              <a:ext uri="{FF2B5EF4-FFF2-40B4-BE49-F238E27FC236}">
                <a16:creationId xmlns:a16="http://schemas.microsoft.com/office/drawing/2014/main" id="{04AD3414-B578-4B1B-9C7C-6E6DCFC53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5219700"/>
            <a:ext cx="2952750" cy="2190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6D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itle-bar">
            <a:extLst xmlns:a="http://schemas.openxmlformats.org/drawingml/2006/main">
              <a:ext uri="{FF2B5EF4-FFF2-40B4-BE49-F238E27FC236}">
                <a16:creationId xmlns:a16="http://schemas.microsoft.com/office/drawing/2014/main" id="{33CF292F-F7AB-4C39-BBD2-A51BDD7EF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90550"/>
            <a:ext cx="6667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kicker">
            <a:extLst xmlns:a="http://schemas.openxmlformats.org/drawingml/2006/main">
              <a:ext uri="{FF2B5EF4-FFF2-40B4-BE49-F238E27FC236}">
                <a16:creationId xmlns:a16="http://schemas.microsoft.com/office/drawing/2014/main" id="{FFDB5977-1910-4C86-A28B-2DD71F6E5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F80ED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2F80ED"/>
                </a:solidFill>
                <a:latin typeface="Pretendard"/>
                <a:ea typeface="Pretendard"/>
                <a:cs typeface="Pretendard"/>
              </a:rPr>
              <a:t>CAPEX SUPERCYCLE</a:t>
            </a:r>
          </a:p>
        </p:txBody>
      </p:sp>
      <p:sp>
        <p:nvSpPr>
          <p:cNvPr id="7" name="title">
            <a:extLst xmlns:a="http://schemas.openxmlformats.org/drawingml/2006/main">
              <a:ext uri="{FF2B5EF4-FFF2-40B4-BE49-F238E27FC236}">
                <a16:creationId xmlns:a16="http://schemas.microsoft.com/office/drawing/2014/main" id="{5D3FB6F0-DCEF-47AA-BC59-F69DB2264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9906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2700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AI는 소프트웨어만의 경쟁이 아니라 인프라 투자 경쟁입니다.</a:t>
            </a:r>
          </a:p>
        </p:txBody>
      </p:sp>
      <p:sp>
        <p:nvSpPr>
          <p:cNvPr id="8" name="subtitle">
            <a:extLst xmlns:a="http://schemas.openxmlformats.org/drawingml/2006/main">
              <a:ext uri="{FF2B5EF4-FFF2-40B4-BE49-F238E27FC236}">
                <a16:creationId xmlns:a16="http://schemas.microsoft.com/office/drawing/2014/main" id="{A51370E8-9468-4F29-8F12-A51455AB0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990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토큰 가격, 응답 속도, 공급 제약은 뒤에서 CapEx와 전력 경제가 결정합니다.</a:t>
            </a:r>
          </a:p>
        </p:txBody>
      </p:sp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5838c704a74625"/>
          <a:stretch xmlns:a="http://schemas.openxmlformats.org/drawingml/2006/main"/>
        </p:blipFill>
        <p:spPr>
          <a:xfrm xmlns:a="http://schemas.openxmlformats.org/drawingml/2006/main">
            <a:off x="10668000" y="269137"/>
            <a:ext cx="1257300" cy="204677"/>
          </a:xfrm>
          <a:prstGeom xmlns:a="http://schemas.openxmlformats.org/drawingml/2006/main" prst="rect">
            <a:avLst/>
          </a:prstGeom>
        </p:spPr>
      </p:pic>
      <p:sp>
        <p:nvSpPr>
          <p:cNvPr id="10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B1ED53C0-2F10-452B-865E-76935D355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800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75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출처: Exponential View, The State of the AI Economy, 2026</a:t>
            </a:r>
          </a:p>
        </p:txBody>
      </p:sp>
      <p:sp>
        <p:nvSpPr>
          <p:cNvPr id="11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AB43CE2B-7D0E-4AAA-AF28-35D25DCEC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436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7</a:t>
            </a:r>
          </a:p>
        </p:txBody>
      </p:sp>
      <p:sp>
        <p:nvSpPr>
          <p:cNvPr id="12" name="metric-card">
            <a:extLst xmlns:a="http://schemas.openxmlformats.org/drawingml/2006/main">
              <a:ext uri="{FF2B5EF4-FFF2-40B4-BE49-F238E27FC236}">
                <a16:creationId xmlns:a16="http://schemas.microsoft.com/office/drawing/2014/main" id="{3B7852FF-E097-45D5-BFE7-E77432772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7900"/>
            <a:ext cx="2476500" cy="2381250"/>
          </a:xfrm>
          <a:prstGeom xmlns:a="http://schemas.openxmlformats.org/drawingml/2006/main" prst="roundRect">
            <a:avLst>
              <a:gd name="adj" fmla="val 7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4F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metric-value">
            <a:extLst xmlns:a="http://schemas.openxmlformats.org/drawingml/2006/main">
              <a:ext uri="{FF2B5EF4-FFF2-40B4-BE49-F238E27FC236}">
                <a16:creationId xmlns:a16="http://schemas.microsoft.com/office/drawing/2014/main" id="{3787DB01-650F-4506-AA82-430A8F875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2057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F80ED"/>
                </a:solidFill>
                <a:latin typeface="Pretendard"/>
                <a:ea typeface="Pretendard"/>
                <a:cs typeface="Pretendard"/>
              </a:defRPr>
            </a:pPr>
            <a:r>
              <a:rPr sz="3150" b="1">
                <a:solidFill>
                  <a:srgbClr val="2F80ED"/>
                </a:solidFill>
                <a:latin typeface="Pretendard"/>
                <a:ea typeface="Pretendard"/>
                <a:cs typeface="Pretendard"/>
              </a:rPr>
              <a:t>$2T</a:t>
            </a:r>
          </a:p>
        </p:txBody>
      </p:sp>
      <p:sp>
        <p:nvSpPr>
          <p:cNvPr id="14" name="metric-label">
            <a:extLst xmlns:a="http://schemas.openxmlformats.org/drawingml/2006/main">
              <a:ext uri="{FF2B5EF4-FFF2-40B4-BE49-F238E27FC236}">
                <a16:creationId xmlns:a16="http://schemas.microsoft.com/office/drawing/2014/main" id="{76AC73AA-5D9A-4A55-A546-D5823C3E5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24200"/>
            <a:ext cx="2019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1500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누적 CapEx</a:t>
            </a:r>
          </a:p>
        </p:txBody>
      </p:sp>
      <p:sp>
        <p:nvSpPr>
          <p:cNvPr id="15" name="metric-note">
            <a:extLst xmlns:a="http://schemas.openxmlformats.org/drawingml/2006/main">
              <a:ext uri="{FF2B5EF4-FFF2-40B4-BE49-F238E27FC236}">
                <a16:creationId xmlns:a16="http://schemas.microsoft.com/office/drawing/2014/main" id="{CBF51CCD-22A5-4759-AC48-BB9B082DE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57600"/>
            <a:ext cx="20193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하이퍼스케일러와 네오클라우드의</a:t>
            </a:r>
          </a:p>
          <a:p xmlns:a="http://schemas.openxmlformats.org/drawingml/2006/main">
            <a:pPr algn="l">
              <a:defRPr sz="1125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2026E 누적 투자</a:t>
            </a:r>
          </a:p>
        </p:txBody>
      </p:sp>
      <p:sp>
        <p:nvSpPr>
          <p:cNvPr id="16" name="metric-card">
            <a:extLst xmlns:a="http://schemas.openxmlformats.org/drawingml/2006/main">
              <a:ext uri="{FF2B5EF4-FFF2-40B4-BE49-F238E27FC236}">
                <a16:creationId xmlns:a16="http://schemas.microsoft.com/office/drawing/2014/main" id="{00ACCF18-4E13-4800-A111-D9AD4E769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247900"/>
            <a:ext cx="2476500" cy="2381250"/>
          </a:xfrm>
          <a:prstGeom xmlns:a="http://schemas.openxmlformats.org/drawingml/2006/main" prst="roundRect">
            <a:avLst>
              <a:gd name="adj" fmla="val 7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4F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metric-value">
            <a:extLst xmlns:a="http://schemas.openxmlformats.org/drawingml/2006/main">
              <a:ext uri="{FF2B5EF4-FFF2-40B4-BE49-F238E27FC236}">
                <a16:creationId xmlns:a16="http://schemas.microsoft.com/office/drawing/2014/main" id="{6D9BB35F-8DA5-4877-B941-1AB838A04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495550"/>
            <a:ext cx="2057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A67A"/>
                </a:solidFill>
                <a:latin typeface="Pretendard"/>
                <a:ea typeface="Pretendard"/>
                <a:cs typeface="Pretendard"/>
              </a:defRPr>
            </a:pPr>
            <a:r>
              <a:rPr sz="3150" b="1">
                <a:solidFill>
                  <a:srgbClr val="11A67A"/>
                </a:solidFill>
                <a:latin typeface="Pretendard"/>
                <a:ea typeface="Pretendard"/>
                <a:cs typeface="Pretendard"/>
              </a:rPr>
              <a:t>$535B</a:t>
            </a:r>
          </a:p>
        </p:txBody>
      </p:sp>
      <p:sp>
        <p:nvSpPr>
          <p:cNvPr id="18" name="metric-label">
            <a:extLst xmlns:a="http://schemas.openxmlformats.org/drawingml/2006/main">
              <a:ext uri="{FF2B5EF4-FFF2-40B4-BE49-F238E27FC236}">
                <a16:creationId xmlns:a16="http://schemas.microsoft.com/office/drawing/2014/main" id="{C685A885-3413-4445-BFD3-6D51D9A53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124200"/>
            <a:ext cx="2019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1500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AI-linked 초과 투자</a:t>
            </a:r>
          </a:p>
        </p:txBody>
      </p:sp>
      <p:sp>
        <p:nvSpPr>
          <p:cNvPr id="19" name="metric-note">
            <a:extLst xmlns:a="http://schemas.openxmlformats.org/drawingml/2006/main">
              <a:ext uri="{FF2B5EF4-FFF2-40B4-BE49-F238E27FC236}">
                <a16:creationId xmlns:a16="http://schemas.microsoft.com/office/drawing/2014/main" id="{EAEC49C0-D5D3-4E65-A3CA-407EC6B3F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657600"/>
            <a:ext cx="20193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pre-AI 추세 대비 추가</a:t>
            </a:r>
          </a:p>
          <a:p xmlns:a="http://schemas.openxmlformats.org/drawingml/2006/main">
            <a:pPr algn="l">
              <a:defRPr sz="1125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투자 규모</a:t>
            </a:r>
          </a:p>
        </p:txBody>
      </p:sp>
      <p:sp>
        <p:nvSpPr>
          <p:cNvPr id="20" name="metric-card">
            <a:extLst xmlns:a="http://schemas.openxmlformats.org/drawingml/2006/main">
              <a:ext uri="{FF2B5EF4-FFF2-40B4-BE49-F238E27FC236}">
                <a16:creationId xmlns:a16="http://schemas.microsoft.com/office/drawing/2014/main" id="{732EB2FF-EF5E-4AF5-9FD8-BFE8714CB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247900"/>
            <a:ext cx="2476500" cy="2381250"/>
          </a:xfrm>
          <a:prstGeom xmlns:a="http://schemas.openxmlformats.org/drawingml/2006/main" prst="roundRect">
            <a:avLst>
              <a:gd name="adj" fmla="val 7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4F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1" name="metric-value">
            <a:extLst xmlns:a="http://schemas.openxmlformats.org/drawingml/2006/main">
              <a:ext uri="{FF2B5EF4-FFF2-40B4-BE49-F238E27FC236}">
                <a16:creationId xmlns:a16="http://schemas.microsoft.com/office/drawing/2014/main" id="{538A4926-27E2-4EAD-9833-921163F96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495550"/>
            <a:ext cx="2057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C400"/>
                </a:solidFill>
                <a:latin typeface="Pretendard"/>
                <a:ea typeface="Pretendard"/>
                <a:cs typeface="Pretendard"/>
              </a:defRPr>
            </a:pPr>
            <a:r>
              <a:rPr sz="3150" b="1">
                <a:solidFill>
                  <a:srgbClr val="FFC400"/>
                </a:solidFill>
                <a:latin typeface="Pretendard"/>
                <a:ea typeface="Pretendard"/>
                <a:cs typeface="Pretendard"/>
              </a:rPr>
              <a:t>$111B</a:t>
            </a:r>
          </a:p>
        </p:txBody>
      </p:sp>
      <p:sp>
        <p:nvSpPr>
          <p:cNvPr id="22" name="metric-label">
            <a:extLst xmlns:a="http://schemas.openxmlformats.org/drawingml/2006/main">
              <a:ext uri="{FF2B5EF4-FFF2-40B4-BE49-F238E27FC236}">
                <a16:creationId xmlns:a16="http://schemas.microsoft.com/office/drawing/2014/main" id="{52F62D0D-41B1-4A4A-A773-E442CF764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124200"/>
            <a:ext cx="2019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1500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2026E 감가상각</a:t>
            </a:r>
          </a:p>
        </p:txBody>
      </p:sp>
      <p:sp>
        <p:nvSpPr>
          <p:cNvPr id="23" name="metric-note">
            <a:extLst xmlns:a="http://schemas.openxmlformats.org/drawingml/2006/main">
              <a:ext uri="{FF2B5EF4-FFF2-40B4-BE49-F238E27FC236}">
                <a16:creationId xmlns:a16="http://schemas.microsoft.com/office/drawing/2014/main" id="{9ED47CCB-9AAE-4228-9FC9-AE6B14A82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657600"/>
            <a:ext cx="20193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투자비가 매년 비용으로</a:t>
            </a:r>
          </a:p>
          <a:p xmlns:a="http://schemas.openxmlformats.org/drawingml/2006/main">
            <a:pPr algn="l">
              <a:defRPr sz="1125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내려오는 압력</a:t>
            </a:r>
          </a:p>
        </p:txBody>
      </p:sp>
      <p:sp>
        <p:nvSpPr>
          <p:cNvPr id="24" name="metric-card">
            <a:extLst xmlns:a="http://schemas.openxmlformats.org/drawingml/2006/main">
              <a:ext uri="{FF2B5EF4-FFF2-40B4-BE49-F238E27FC236}">
                <a16:creationId xmlns:a16="http://schemas.microsoft.com/office/drawing/2014/main" id="{8F9828B6-BEC6-4CB2-8E8D-22DFC9917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247900"/>
            <a:ext cx="2762250" cy="2381250"/>
          </a:xfrm>
          <a:prstGeom xmlns:a="http://schemas.openxmlformats.org/drawingml/2006/main" prst="roundRect">
            <a:avLst>
              <a:gd name="adj" fmla="val 7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4F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5" name="metric-value">
            <a:extLst xmlns:a="http://schemas.openxmlformats.org/drawingml/2006/main">
              <a:ext uri="{FF2B5EF4-FFF2-40B4-BE49-F238E27FC236}">
                <a16:creationId xmlns:a16="http://schemas.microsoft.com/office/drawing/2014/main" id="{9CF32195-BA08-4E9A-B5A1-29B8621AB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495550"/>
            <a:ext cx="23431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6B7CFF"/>
                </a:solidFill>
                <a:latin typeface="Pretendard"/>
                <a:ea typeface="Pretendard"/>
                <a:cs typeface="Pretendard"/>
              </a:defRPr>
            </a:pPr>
            <a:r>
              <a:rPr sz="3150" b="1">
                <a:solidFill>
                  <a:srgbClr val="6B7CFF"/>
                </a:solidFill>
                <a:latin typeface="Pretendard"/>
                <a:ea typeface="Pretendard"/>
                <a:cs typeface="Pretendard"/>
              </a:rPr>
              <a:t>19%</a:t>
            </a:r>
          </a:p>
        </p:txBody>
      </p:sp>
      <p:sp>
        <p:nvSpPr>
          <p:cNvPr id="26" name="metric-label">
            <a:extLst xmlns:a="http://schemas.openxmlformats.org/drawingml/2006/main">
              <a:ext uri="{FF2B5EF4-FFF2-40B4-BE49-F238E27FC236}">
                <a16:creationId xmlns:a16="http://schemas.microsoft.com/office/drawing/2014/main" id="{2AFB6F45-4B92-42FC-BFEE-AF0680A78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124200"/>
            <a:ext cx="2305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1500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infra headroom</a:t>
            </a:r>
          </a:p>
        </p:txBody>
      </p:sp>
      <p:sp>
        <p:nvSpPr>
          <p:cNvPr id="27" name="metric-note">
            <a:extLst xmlns:a="http://schemas.openxmlformats.org/drawingml/2006/main">
              <a:ext uri="{FF2B5EF4-FFF2-40B4-BE49-F238E27FC236}">
                <a16:creationId xmlns:a16="http://schemas.microsoft.com/office/drawing/2014/main" id="{58157DC8-0E4D-4626-AB8E-5D2BFE11C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657600"/>
            <a:ext cx="23050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Q1 2026 hyperscaler/neocloud</a:t>
            </a:r>
          </a:p>
          <a:p xmlns:a="http://schemas.openxmlformats.org/drawingml/2006/main">
            <a:pPr algn="l">
              <a:defRPr sz="1125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매출 기준 여유율</a:t>
            </a:r>
          </a:p>
        </p:txBody>
      </p:sp>
      <p:sp>
        <p:nvSpPr>
          <p:cNvPr id="28" name="bottom-message">
            <a:extLst xmlns:a="http://schemas.openxmlformats.org/drawingml/2006/main">
              <a:ext uri="{FF2B5EF4-FFF2-40B4-BE49-F238E27FC236}">
                <a16:creationId xmlns:a16="http://schemas.microsoft.com/office/drawing/2014/main" id="{01DAA73A-07A7-4B79-8DC7-ACA882E91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0"/>
            <a:ext cx="10096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1650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해석: AI 활용 비용은 계속 내려가지만, 무제한 공짜가 아닙니다. 팀 과제는 사용량과 가치 기준을 함께</a:t>
            </a:r>
          </a:p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1650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정의해야 합니다.</a:t>
            </a:r>
          </a:p>
        </p:txBody>
      </p:sp>
    </p:spTree>
    <p:extLst>
      <p:ext uri="{BB962C8B-B14F-4D97-AF65-F5344CB8AC3E}">
        <p14:creationId xmlns:p14="http://schemas.microsoft.com/office/powerpoint/2010/main" val="86828959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4F8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decor-ring-1">
            <a:extLst xmlns:a="http://schemas.openxmlformats.org/drawingml/2006/main">
              <a:ext uri="{FF2B5EF4-FFF2-40B4-BE49-F238E27FC236}">
                <a16:creationId xmlns:a16="http://schemas.microsoft.com/office/drawing/2014/main" id="{517EACFE-7C1F-40A3-8952-E3674165A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609600" y="-800100"/>
            <a:ext cx="3429000" cy="2095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BFF"/>
            </a:solidFill>
            <a:prstDash val="solid"/>
          </a:ln>
        </p:spPr>
      </p:sp>
      <p:sp>
        <p:nvSpPr>
          <p:cNvPr id="2" name="decor-ring-2">
            <a:extLst xmlns:a="http://schemas.openxmlformats.org/drawingml/2006/main">
              <a:ext uri="{FF2B5EF4-FFF2-40B4-BE49-F238E27FC236}">
                <a16:creationId xmlns:a16="http://schemas.microsoft.com/office/drawing/2014/main" id="{3B53032C-B944-423B-A451-B46065A42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28600" y="-895350"/>
            <a:ext cx="2762250" cy="2095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BFF"/>
            </a:solidFill>
            <a:prstDash val="solid"/>
          </a:ln>
        </p:spPr>
      </p:sp>
      <p:sp>
        <p:nvSpPr>
          <p:cNvPr id="3" name="decor-orb-1">
            <a:extLst xmlns:a="http://schemas.openxmlformats.org/drawingml/2006/main">
              <a:ext uri="{FF2B5EF4-FFF2-40B4-BE49-F238E27FC236}">
                <a16:creationId xmlns:a16="http://schemas.microsoft.com/office/drawing/2014/main" id="{AC63D401-501D-443C-9C62-DB5D75E16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838700"/>
            <a:ext cx="333375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E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decor-orb-2">
            <a:extLst xmlns:a="http://schemas.openxmlformats.org/drawingml/2006/main">
              <a:ext uri="{FF2B5EF4-FFF2-40B4-BE49-F238E27FC236}">
                <a16:creationId xmlns:a16="http://schemas.microsoft.com/office/drawing/2014/main" id="{B76159CD-3EEB-4E0F-81F3-E539BBA1A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5219700"/>
            <a:ext cx="2952750" cy="2190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6D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itle-bar">
            <a:extLst xmlns:a="http://schemas.openxmlformats.org/drawingml/2006/main">
              <a:ext uri="{FF2B5EF4-FFF2-40B4-BE49-F238E27FC236}">
                <a16:creationId xmlns:a16="http://schemas.microsoft.com/office/drawing/2014/main" id="{C1F89AEB-07A4-40A5-9B6B-50A3BBEF2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90550"/>
            <a:ext cx="6667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kicker">
            <a:extLst xmlns:a="http://schemas.openxmlformats.org/drawingml/2006/main">
              <a:ext uri="{FF2B5EF4-FFF2-40B4-BE49-F238E27FC236}">
                <a16:creationId xmlns:a16="http://schemas.microsoft.com/office/drawing/2014/main" id="{0A4465DA-00E0-4BE7-973D-2D41EC3F3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F80ED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2F80ED"/>
                </a:solidFill>
                <a:latin typeface="Pretendard"/>
                <a:ea typeface="Pretendard"/>
                <a:cs typeface="Pretendard"/>
              </a:rPr>
              <a:t>TOKEN FACTORY</a:t>
            </a:r>
          </a:p>
        </p:txBody>
      </p:sp>
      <p:sp>
        <p:nvSpPr>
          <p:cNvPr id="7" name="title">
            <a:extLst xmlns:a="http://schemas.openxmlformats.org/drawingml/2006/main">
              <a:ext uri="{FF2B5EF4-FFF2-40B4-BE49-F238E27FC236}">
                <a16:creationId xmlns:a16="http://schemas.microsoft.com/office/drawing/2014/main" id="{2B494C4A-DB03-419D-B8E5-23685D090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9906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2700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데이터센터는 전력과 CapEx를 토큰으로 바꾸는 공장입니다.</a:t>
            </a:r>
          </a:p>
        </p:txBody>
      </p:sp>
      <p:sp>
        <p:nvSpPr>
          <p:cNvPr id="8" name="subtitle">
            <a:extLst xmlns:a="http://schemas.openxmlformats.org/drawingml/2006/main">
              <a:ext uri="{FF2B5EF4-FFF2-40B4-BE49-F238E27FC236}">
                <a16:creationId xmlns:a16="http://schemas.microsoft.com/office/drawing/2014/main" id="{F264EC52-2031-43AE-A2DD-D6425199E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990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1GW 규모의 AI capacity는 연간 운영 비용과 활용률이 토큰 가격의 하한선을 만듭니다.</a:t>
            </a:r>
          </a:p>
        </p:txBody>
      </p:sp>
      <p:pic>
        <p:nvPicPr>
          <p:cNvPr id="5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53e49920d344ce"/>
          <a:stretch xmlns:a="http://schemas.openxmlformats.org/drawingml/2006/main"/>
        </p:blipFill>
        <p:spPr>
          <a:xfrm xmlns:a="http://schemas.openxmlformats.org/drawingml/2006/main">
            <a:off x="10668000" y="269137"/>
            <a:ext cx="1257300" cy="204677"/>
          </a:xfrm>
          <a:prstGeom xmlns:a="http://schemas.openxmlformats.org/drawingml/2006/main" prst="rect">
            <a:avLst/>
          </a:prstGeom>
        </p:spPr>
      </p:pic>
      <p:sp>
        <p:nvSpPr>
          <p:cNvPr id="10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2BCF9226-8FE3-4AFD-8CDF-F1B0AE623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800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75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출처: Exponential View, The State of the AI Economy, 2026</a:t>
            </a:r>
          </a:p>
        </p:txBody>
      </p:sp>
      <p:sp>
        <p:nvSpPr>
          <p:cNvPr id="11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D78D61F0-8A11-407F-928A-6CA2386AD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436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8</a:t>
            </a:r>
          </a:p>
        </p:txBody>
      </p:sp>
      <p:sp>
        <p:nvSpPr>
          <p:cNvPr id="12" name="factory-step">
            <a:extLst xmlns:a="http://schemas.openxmlformats.org/drawingml/2006/main">
              <a:ext uri="{FF2B5EF4-FFF2-40B4-BE49-F238E27FC236}">
                <a16:creationId xmlns:a16="http://schemas.microsoft.com/office/drawing/2014/main" id="{3A09F2AC-0AB0-4B81-920A-EF737FAA1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19400"/>
            <a:ext cx="1714500" cy="14287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4F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step-title">
            <a:extLst xmlns:a="http://schemas.openxmlformats.org/drawingml/2006/main">
              <a:ext uri="{FF2B5EF4-FFF2-40B4-BE49-F238E27FC236}">
                <a16:creationId xmlns:a16="http://schemas.microsoft.com/office/drawing/2014/main" id="{CBF87909-8D02-42F7-BAB6-EF36BECB5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24200"/>
            <a:ext cx="1333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F80ED"/>
                </a:solidFill>
                <a:latin typeface="Pretendard"/>
                <a:ea typeface="Pretendard"/>
                <a:cs typeface="Pretendard"/>
              </a:defRPr>
            </a:pPr>
            <a:r>
              <a:rPr sz="1875" b="1">
                <a:solidFill>
                  <a:srgbClr val="2F80ED"/>
                </a:solidFill>
                <a:latin typeface="Pretendard"/>
                <a:ea typeface="Pretendard"/>
                <a:cs typeface="Pretendard"/>
              </a:rPr>
              <a:t>전력</a:t>
            </a:r>
          </a:p>
        </p:txBody>
      </p:sp>
      <p:sp>
        <p:nvSpPr>
          <p:cNvPr id="14" name="step-body">
            <a:extLst xmlns:a="http://schemas.openxmlformats.org/drawingml/2006/main">
              <a:ext uri="{FF2B5EF4-FFF2-40B4-BE49-F238E27FC236}">
                <a16:creationId xmlns:a16="http://schemas.microsoft.com/office/drawing/2014/main" id="{22147883-CFD1-4FFD-830C-4EE19B736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00450"/>
            <a:ext cx="133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12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에너지와 냉각</a:t>
            </a:r>
          </a:p>
        </p:txBody>
      </p:sp>
      <p:sp>
        <p:nvSpPr>
          <p:cNvPr id="15" name="factory-arrow-0-line">
            <a:extLst xmlns:a="http://schemas.openxmlformats.org/drawingml/2006/main">
              <a:ext uri="{FF2B5EF4-FFF2-40B4-BE49-F238E27FC236}">
                <a16:creationId xmlns:a16="http://schemas.microsoft.com/office/drawing/2014/main" id="{A7AD8696-8DA7-4835-9B43-F86E73B87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467100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factory-arrow-0-head">
            <a:extLst xmlns:a="http://schemas.openxmlformats.org/drawingml/2006/main">
              <a:ext uri="{FF2B5EF4-FFF2-40B4-BE49-F238E27FC236}">
                <a16:creationId xmlns:a16="http://schemas.microsoft.com/office/drawing/2014/main" id="{46E12A38-C140-442E-A799-BF16FDFFD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3429000"/>
            <a:ext cx="228600" cy="2286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factory-step">
            <a:extLst xmlns:a="http://schemas.openxmlformats.org/drawingml/2006/main">
              <a:ext uri="{FF2B5EF4-FFF2-40B4-BE49-F238E27FC236}">
                <a16:creationId xmlns:a16="http://schemas.microsoft.com/office/drawing/2014/main" id="{8F0068B7-9951-43D1-A02D-A4639D93D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819400"/>
            <a:ext cx="1714500" cy="14287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4F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8" name="step-title">
            <a:extLst xmlns:a="http://schemas.openxmlformats.org/drawingml/2006/main">
              <a:ext uri="{FF2B5EF4-FFF2-40B4-BE49-F238E27FC236}">
                <a16:creationId xmlns:a16="http://schemas.microsoft.com/office/drawing/2014/main" id="{084B7CAE-D003-40F5-9D65-22D0733EB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124200"/>
            <a:ext cx="1333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1A67A"/>
                </a:solidFill>
                <a:latin typeface="Pretendard"/>
                <a:ea typeface="Pretendard"/>
                <a:cs typeface="Pretendard"/>
              </a:defRPr>
            </a:pPr>
            <a:r>
              <a:rPr sz="1875" b="1">
                <a:solidFill>
                  <a:srgbClr val="11A67A"/>
                </a:solidFill>
                <a:latin typeface="Pretendard"/>
                <a:ea typeface="Pretendard"/>
                <a:cs typeface="Pretendard"/>
              </a:rPr>
              <a:t>GPU 시스템</a:t>
            </a:r>
          </a:p>
        </p:txBody>
      </p:sp>
      <p:sp>
        <p:nvSpPr>
          <p:cNvPr id="19" name="step-body">
            <a:extLst xmlns:a="http://schemas.openxmlformats.org/drawingml/2006/main">
              <a:ext uri="{FF2B5EF4-FFF2-40B4-BE49-F238E27FC236}">
                <a16:creationId xmlns:a16="http://schemas.microsoft.com/office/drawing/2014/main" id="{18F37C36-DF58-4D13-9CEE-52B354D3D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600450"/>
            <a:ext cx="133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12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480k GPUs</a:t>
            </a:r>
          </a:p>
        </p:txBody>
      </p:sp>
      <p:sp>
        <p:nvSpPr>
          <p:cNvPr id="20" name="factory-arrow-1-line">
            <a:extLst xmlns:a="http://schemas.openxmlformats.org/drawingml/2006/main">
              <a:ext uri="{FF2B5EF4-FFF2-40B4-BE49-F238E27FC236}">
                <a16:creationId xmlns:a16="http://schemas.microsoft.com/office/drawing/2014/main" id="{5EBDD2C3-C1D7-4300-A27D-2E17DF71E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467100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A6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factory-arrow-1-head">
            <a:extLst xmlns:a="http://schemas.openxmlformats.org/drawingml/2006/main">
              <a:ext uri="{FF2B5EF4-FFF2-40B4-BE49-F238E27FC236}">
                <a16:creationId xmlns:a16="http://schemas.microsoft.com/office/drawing/2014/main" id="{6F7BB126-8CEF-4FAB-B86B-2DA033ED0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429000"/>
            <a:ext cx="228600" cy="2286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1A6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factory-step">
            <a:extLst xmlns:a="http://schemas.openxmlformats.org/drawingml/2006/main">
              <a:ext uri="{FF2B5EF4-FFF2-40B4-BE49-F238E27FC236}">
                <a16:creationId xmlns:a16="http://schemas.microsoft.com/office/drawing/2014/main" id="{5810BE26-D01E-4B26-8D26-92E00F92D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819400"/>
            <a:ext cx="1714500" cy="14287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4F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3" name="step-title">
            <a:extLst xmlns:a="http://schemas.openxmlformats.org/drawingml/2006/main">
              <a:ext uri="{FF2B5EF4-FFF2-40B4-BE49-F238E27FC236}">
                <a16:creationId xmlns:a16="http://schemas.microsoft.com/office/drawing/2014/main" id="{58890705-7A0D-418C-98D9-CDA63A873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3124200"/>
            <a:ext cx="1333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C400"/>
                </a:solidFill>
                <a:latin typeface="Pretendard"/>
                <a:ea typeface="Pretendard"/>
                <a:cs typeface="Pretendard"/>
              </a:defRPr>
            </a:pPr>
            <a:r>
              <a:rPr sz="1875" b="1">
                <a:solidFill>
                  <a:srgbClr val="FFC400"/>
                </a:solidFill>
                <a:latin typeface="Pretendard"/>
                <a:ea typeface="Pretendard"/>
                <a:cs typeface="Pretendard"/>
              </a:rPr>
              <a:t>데이터센터</a:t>
            </a:r>
          </a:p>
        </p:txBody>
      </p:sp>
      <p:sp>
        <p:nvSpPr>
          <p:cNvPr id="24" name="step-body">
            <a:extLst xmlns:a="http://schemas.openxmlformats.org/drawingml/2006/main">
              <a:ext uri="{FF2B5EF4-FFF2-40B4-BE49-F238E27FC236}">
                <a16:creationId xmlns:a16="http://schemas.microsoft.com/office/drawing/2014/main" id="{C6FA086E-F4BB-4443-BF2F-CF2F9AD78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3600450"/>
            <a:ext cx="133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12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1GW capacity</a:t>
            </a:r>
          </a:p>
        </p:txBody>
      </p:sp>
      <p:sp>
        <p:nvSpPr>
          <p:cNvPr id="25" name="factory-arrow-2-line">
            <a:extLst xmlns:a="http://schemas.openxmlformats.org/drawingml/2006/main">
              <a:ext uri="{FF2B5EF4-FFF2-40B4-BE49-F238E27FC236}">
                <a16:creationId xmlns:a16="http://schemas.microsoft.com/office/drawing/2014/main" id="{C23C7C80-E653-4726-B96F-19C33963E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467100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4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factory-arrow-2-head">
            <a:extLst xmlns:a="http://schemas.openxmlformats.org/drawingml/2006/main">
              <a:ext uri="{FF2B5EF4-FFF2-40B4-BE49-F238E27FC236}">
                <a16:creationId xmlns:a16="http://schemas.microsoft.com/office/drawing/2014/main" id="{0C304641-B8DC-449D-8170-E2B43677C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429000"/>
            <a:ext cx="228600" cy="2286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FC4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factory-step">
            <a:extLst xmlns:a="http://schemas.openxmlformats.org/drawingml/2006/main">
              <a:ext uri="{FF2B5EF4-FFF2-40B4-BE49-F238E27FC236}">
                <a16:creationId xmlns:a16="http://schemas.microsoft.com/office/drawing/2014/main" id="{D2A5AE10-3CE2-44D5-B285-D30BC0821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819400"/>
            <a:ext cx="1714500" cy="14287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4F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8" name="step-title">
            <a:extLst xmlns:a="http://schemas.openxmlformats.org/drawingml/2006/main">
              <a:ext uri="{FF2B5EF4-FFF2-40B4-BE49-F238E27FC236}">
                <a16:creationId xmlns:a16="http://schemas.microsoft.com/office/drawing/2014/main" id="{D77995D5-7320-424A-B1F6-E80F3B359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124200"/>
            <a:ext cx="1333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6B7CFF"/>
                </a:solidFill>
                <a:latin typeface="Pretendard"/>
                <a:ea typeface="Pretendard"/>
                <a:cs typeface="Pretendard"/>
              </a:defRPr>
            </a:pPr>
            <a:r>
              <a:rPr sz="1875" b="1">
                <a:solidFill>
                  <a:srgbClr val="6B7CFF"/>
                </a:solidFill>
                <a:latin typeface="Pretendard"/>
                <a:ea typeface="Pretendard"/>
                <a:cs typeface="Pretendard"/>
              </a:rPr>
              <a:t>토큰</a:t>
            </a:r>
          </a:p>
        </p:txBody>
      </p:sp>
      <p:sp>
        <p:nvSpPr>
          <p:cNvPr id="29" name="step-body">
            <a:extLst xmlns:a="http://schemas.openxmlformats.org/drawingml/2006/main">
              <a:ext uri="{FF2B5EF4-FFF2-40B4-BE49-F238E27FC236}">
                <a16:creationId xmlns:a16="http://schemas.microsoft.com/office/drawing/2014/main" id="{52E98142-64EE-4EF5-A374-6AC80ED09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600450"/>
            <a:ext cx="133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12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75-85Q / year</a:t>
            </a:r>
          </a:p>
        </p:txBody>
      </p:sp>
      <p:sp>
        <p:nvSpPr>
          <p:cNvPr id="30" name="factory-arrow-3-line">
            <a:extLst xmlns:a="http://schemas.openxmlformats.org/drawingml/2006/main">
              <a:ext uri="{FF2B5EF4-FFF2-40B4-BE49-F238E27FC236}">
                <a16:creationId xmlns:a16="http://schemas.microsoft.com/office/drawing/2014/main" id="{6B48BFF2-867D-49BF-BE6F-017B02CAD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467100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7C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factory-arrow-3-head">
            <a:extLst xmlns:a="http://schemas.openxmlformats.org/drawingml/2006/main">
              <a:ext uri="{FF2B5EF4-FFF2-40B4-BE49-F238E27FC236}">
                <a16:creationId xmlns:a16="http://schemas.microsoft.com/office/drawing/2014/main" id="{7D10BEF0-C1AE-448F-93F3-1A0C668BB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429000"/>
            <a:ext cx="228600" cy="2286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B7C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factory-step">
            <a:extLst xmlns:a="http://schemas.openxmlformats.org/drawingml/2006/main">
              <a:ext uri="{FF2B5EF4-FFF2-40B4-BE49-F238E27FC236}">
                <a16:creationId xmlns:a16="http://schemas.microsoft.com/office/drawing/2014/main" id="{A4172A3F-5A82-4F90-843A-19C11A095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819400"/>
            <a:ext cx="1714500" cy="14287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4F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3" name="step-title">
            <a:extLst xmlns:a="http://schemas.openxmlformats.org/drawingml/2006/main">
              <a:ext uri="{FF2B5EF4-FFF2-40B4-BE49-F238E27FC236}">
                <a16:creationId xmlns:a16="http://schemas.microsoft.com/office/drawing/2014/main" id="{DB4A1384-E6DF-4663-B0D3-EA2ED2E05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124200"/>
            <a:ext cx="1333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1875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업무 산출물</a:t>
            </a:r>
          </a:p>
        </p:txBody>
      </p:sp>
      <p:sp>
        <p:nvSpPr>
          <p:cNvPr id="34" name="step-body">
            <a:extLst xmlns:a="http://schemas.openxmlformats.org/drawingml/2006/main">
              <a:ext uri="{FF2B5EF4-FFF2-40B4-BE49-F238E27FC236}">
                <a16:creationId xmlns:a16="http://schemas.microsoft.com/office/drawing/2014/main" id="{0FBE221E-A11B-410F-86A5-B851679AE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600450"/>
            <a:ext cx="133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12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사람 검토 후 사용</a:t>
            </a:r>
          </a:p>
        </p:txBody>
      </p:sp>
      <p:sp>
        <p:nvSpPr>
          <p:cNvPr id="35" name="metric-card">
            <a:extLst xmlns:a="http://schemas.openxmlformats.org/drawingml/2006/main">
              <a:ext uri="{FF2B5EF4-FFF2-40B4-BE49-F238E27FC236}">
                <a16:creationId xmlns:a16="http://schemas.microsoft.com/office/drawing/2014/main" id="{D376F1F3-4F3E-448F-8A6F-751C48E70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743450"/>
            <a:ext cx="2476500" cy="1143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4F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6" name="metric-value">
            <a:extLst xmlns:a="http://schemas.openxmlformats.org/drawingml/2006/main">
              <a:ext uri="{FF2B5EF4-FFF2-40B4-BE49-F238E27FC236}">
                <a16:creationId xmlns:a16="http://schemas.microsoft.com/office/drawing/2014/main" id="{D4949C50-13DB-4A2A-997A-70B61734A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991100"/>
            <a:ext cx="2057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D4D9F"/>
                </a:solidFill>
                <a:latin typeface="Pretendard"/>
                <a:ea typeface="Pretendard"/>
                <a:cs typeface="Pretendard"/>
              </a:defRPr>
            </a:pPr>
            <a:r>
              <a:rPr sz="3150" b="1">
                <a:solidFill>
                  <a:srgbClr val="0D4D9F"/>
                </a:solidFill>
                <a:latin typeface="Pretendard"/>
                <a:ea typeface="Pretendard"/>
                <a:cs typeface="Pretendard"/>
              </a:rPr>
              <a:t>$7.9B/yr</a:t>
            </a:r>
          </a:p>
        </p:txBody>
      </p:sp>
      <p:sp>
        <p:nvSpPr>
          <p:cNvPr id="37" name="metric-label">
            <a:extLst xmlns:a="http://schemas.openxmlformats.org/drawingml/2006/main">
              <a:ext uri="{FF2B5EF4-FFF2-40B4-BE49-F238E27FC236}">
                <a16:creationId xmlns:a16="http://schemas.microsoft.com/office/drawing/2014/main" id="{340A68C3-6926-4611-ADBB-9D03FEC52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5619750"/>
            <a:ext cx="2019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1500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1GW 총비용</a:t>
            </a:r>
          </a:p>
        </p:txBody>
      </p:sp>
      <p:sp>
        <p:nvSpPr>
          <p:cNvPr id="38" name="metric-note">
            <a:extLst xmlns:a="http://schemas.openxmlformats.org/drawingml/2006/main">
              <a:ext uri="{FF2B5EF4-FFF2-40B4-BE49-F238E27FC236}">
                <a16:creationId xmlns:a16="http://schemas.microsoft.com/office/drawing/2014/main" id="{4609F818-B60E-4278-97AB-20B55A4AF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6153150"/>
            <a:ext cx="2019300" cy="-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9" name="metric-card">
            <a:extLst xmlns:a="http://schemas.openxmlformats.org/drawingml/2006/main">
              <a:ext uri="{FF2B5EF4-FFF2-40B4-BE49-F238E27FC236}">
                <a16:creationId xmlns:a16="http://schemas.microsoft.com/office/drawing/2014/main" id="{E5022C51-8AEA-434D-AC39-6B22AB80A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743450"/>
            <a:ext cx="2476500" cy="1143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4F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0" name="metric-value">
            <a:extLst xmlns:a="http://schemas.openxmlformats.org/drawingml/2006/main">
              <a:ext uri="{FF2B5EF4-FFF2-40B4-BE49-F238E27FC236}">
                <a16:creationId xmlns:a16="http://schemas.microsoft.com/office/drawing/2014/main" id="{E627F989-CFEB-4FF5-A32F-DCD2D1F5D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4991100"/>
            <a:ext cx="2057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A67A"/>
                </a:solidFill>
                <a:latin typeface="Pretendard"/>
                <a:ea typeface="Pretendard"/>
                <a:cs typeface="Pretendard"/>
              </a:defRPr>
            </a:pPr>
            <a:r>
              <a:rPr sz="3150" b="1">
                <a:solidFill>
                  <a:srgbClr val="11A67A"/>
                </a:solidFill>
                <a:latin typeface="Pretendard"/>
                <a:ea typeface="Pretendard"/>
                <a:cs typeface="Pretendard"/>
              </a:rPr>
              <a:t>66%</a:t>
            </a:r>
          </a:p>
        </p:txBody>
      </p:sp>
      <p:sp>
        <p:nvSpPr>
          <p:cNvPr id="41" name="metric-label">
            <a:extLst xmlns:a="http://schemas.openxmlformats.org/drawingml/2006/main">
              <a:ext uri="{FF2B5EF4-FFF2-40B4-BE49-F238E27FC236}">
                <a16:creationId xmlns:a16="http://schemas.microsoft.com/office/drawing/2014/main" id="{29990C06-CE57-48D5-A122-85742F446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5619750"/>
            <a:ext cx="2019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1500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OpEx 중 전력</a:t>
            </a:r>
          </a:p>
        </p:txBody>
      </p:sp>
      <p:sp>
        <p:nvSpPr>
          <p:cNvPr id="42" name="metric-note">
            <a:extLst xmlns:a="http://schemas.openxmlformats.org/drawingml/2006/main">
              <a:ext uri="{FF2B5EF4-FFF2-40B4-BE49-F238E27FC236}">
                <a16:creationId xmlns:a16="http://schemas.microsoft.com/office/drawing/2014/main" id="{0CAC5BA8-385E-4110-85FC-C4AD59E7A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6153150"/>
            <a:ext cx="2019300" cy="-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3" name="metric-card">
            <a:extLst xmlns:a="http://schemas.openxmlformats.org/drawingml/2006/main">
              <a:ext uri="{FF2B5EF4-FFF2-40B4-BE49-F238E27FC236}">
                <a16:creationId xmlns:a16="http://schemas.microsoft.com/office/drawing/2014/main" id="{3C10746E-149E-43D1-B89E-BAD4F97E0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743450"/>
            <a:ext cx="2476500" cy="1143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4F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4" name="metric-value">
            <a:extLst xmlns:a="http://schemas.openxmlformats.org/drawingml/2006/main">
              <a:ext uri="{FF2B5EF4-FFF2-40B4-BE49-F238E27FC236}">
                <a16:creationId xmlns:a16="http://schemas.microsoft.com/office/drawing/2014/main" id="{AFE375D3-C9FB-4AB1-B18B-D34577B9F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991100"/>
            <a:ext cx="2057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6B7CFF"/>
                </a:solidFill>
                <a:latin typeface="Pretendard"/>
                <a:ea typeface="Pretendard"/>
                <a:cs typeface="Pretendard"/>
              </a:defRPr>
            </a:pPr>
            <a:r>
              <a:rPr sz="3150" b="1">
                <a:solidFill>
                  <a:srgbClr val="6B7CFF"/>
                </a:solidFill>
                <a:latin typeface="Pretendard"/>
                <a:ea typeface="Pretendard"/>
                <a:cs typeface="Pretendard"/>
              </a:rPr>
              <a:t>65%</a:t>
            </a:r>
          </a:p>
        </p:txBody>
      </p:sp>
      <p:sp>
        <p:nvSpPr>
          <p:cNvPr id="45" name="metric-label">
            <a:extLst xmlns:a="http://schemas.openxmlformats.org/drawingml/2006/main">
              <a:ext uri="{FF2B5EF4-FFF2-40B4-BE49-F238E27FC236}">
                <a16:creationId xmlns:a16="http://schemas.microsoft.com/office/drawing/2014/main" id="{BC2DA6A3-B03F-430D-8184-6757E752F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5619750"/>
            <a:ext cx="2019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1500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활용률 가정</a:t>
            </a:r>
          </a:p>
        </p:txBody>
      </p:sp>
      <p:sp>
        <p:nvSpPr>
          <p:cNvPr id="46" name="metric-note">
            <a:extLst xmlns:a="http://schemas.openxmlformats.org/drawingml/2006/main">
              <a:ext uri="{FF2B5EF4-FFF2-40B4-BE49-F238E27FC236}">
                <a16:creationId xmlns:a16="http://schemas.microsoft.com/office/drawing/2014/main" id="{99B7FF35-FB83-4F73-854F-8B4B146D0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6153150"/>
            <a:ext cx="2019300" cy="-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112253977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4F8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decor-ring-1">
            <a:extLst xmlns:a="http://schemas.openxmlformats.org/drawingml/2006/main">
              <a:ext uri="{FF2B5EF4-FFF2-40B4-BE49-F238E27FC236}">
                <a16:creationId xmlns:a16="http://schemas.microsoft.com/office/drawing/2014/main" id="{3B145992-06CF-4610-A0FD-EACC8120A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609600" y="-800100"/>
            <a:ext cx="3429000" cy="2095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BFF"/>
            </a:solidFill>
            <a:prstDash val="solid"/>
          </a:ln>
        </p:spPr>
      </p:sp>
      <p:sp>
        <p:nvSpPr>
          <p:cNvPr id="2" name="decor-ring-2">
            <a:extLst xmlns:a="http://schemas.openxmlformats.org/drawingml/2006/main">
              <a:ext uri="{FF2B5EF4-FFF2-40B4-BE49-F238E27FC236}">
                <a16:creationId xmlns:a16="http://schemas.microsoft.com/office/drawing/2014/main" id="{679BACF7-5A0F-4B65-BF7A-8487459CE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28600" y="-895350"/>
            <a:ext cx="2762250" cy="2095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BFF"/>
            </a:solidFill>
            <a:prstDash val="solid"/>
          </a:ln>
        </p:spPr>
      </p:sp>
      <p:sp>
        <p:nvSpPr>
          <p:cNvPr id="3" name="decor-orb-1">
            <a:extLst xmlns:a="http://schemas.openxmlformats.org/drawingml/2006/main">
              <a:ext uri="{FF2B5EF4-FFF2-40B4-BE49-F238E27FC236}">
                <a16:creationId xmlns:a16="http://schemas.microsoft.com/office/drawing/2014/main" id="{7F86B0D5-1820-4865-9DEF-21EC6F3EE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838700"/>
            <a:ext cx="333375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E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decor-orb-2">
            <a:extLst xmlns:a="http://schemas.openxmlformats.org/drawingml/2006/main">
              <a:ext uri="{FF2B5EF4-FFF2-40B4-BE49-F238E27FC236}">
                <a16:creationId xmlns:a16="http://schemas.microsoft.com/office/drawing/2014/main" id="{1F65C298-AE61-4491-87BD-BB2EAE632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5219700"/>
            <a:ext cx="2952750" cy="2190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6D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itle-bar">
            <a:extLst xmlns:a="http://schemas.openxmlformats.org/drawingml/2006/main">
              <a:ext uri="{FF2B5EF4-FFF2-40B4-BE49-F238E27FC236}">
                <a16:creationId xmlns:a16="http://schemas.microsoft.com/office/drawing/2014/main" id="{024BBEDB-F034-44D3-B115-82590B1D0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90550"/>
            <a:ext cx="6667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kicker">
            <a:extLst xmlns:a="http://schemas.openxmlformats.org/drawingml/2006/main">
              <a:ext uri="{FF2B5EF4-FFF2-40B4-BE49-F238E27FC236}">
                <a16:creationId xmlns:a16="http://schemas.microsoft.com/office/drawing/2014/main" id="{4076B97D-4A11-4214-95BB-F587AC846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F80ED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2F80ED"/>
                </a:solidFill>
                <a:latin typeface="Pretendard"/>
                <a:ea typeface="Pretendard"/>
                <a:cs typeface="Pretendard"/>
              </a:rPr>
              <a:t>TOKENS</a:t>
            </a:r>
          </a:p>
        </p:txBody>
      </p:sp>
      <p:sp>
        <p:nvSpPr>
          <p:cNvPr id="7" name="title">
            <a:extLst xmlns:a="http://schemas.openxmlformats.org/drawingml/2006/main">
              <a:ext uri="{FF2B5EF4-FFF2-40B4-BE49-F238E27FC236}">
                <a16:creationId xmlns:a16="http://schemas.microsoft.com/office/drawing/2014/main" id="{62DD5B6B-01E0-4E7B-BCFF-9AC13319F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9906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2700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토큰 사용량은 chat에서 agent로 넘어가며 폭증하고 있습니다.</a:t>
            </a:r>
          </a:p>
        </p:txBody>
      </p:sp>
      <p:sp>
        <p:nvSpPr>
          <p:cNvPr id="8" name="subtitle">
            <a:extLst xmlns:a="http://schemas.openxmlformats.org/drawingml/2006/main">
              <a:ext uri="{FF2B5EF4-FFF2-40B4-BE49-F238E27FC236}">
                <a16:creationId xmlns:a16="http://schemas.microsoft.com/office/drawing/2014/main" id="{796FDE29-7342-44F7-8044-A70C15118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990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질문 하나에 답하는 수준을 넘어, 도구 호출과 reasoning이 늘면서 한 업무당 토큰 소비가 커집니다.</a:t>
            </a:r>
          </a:p>
        </p:txBody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65e7a4bc004185"/>
          <a:stretch xmlns:a="http://schemas.openxmlformats.org/drawingml/2006/main"/>
        </p:blipFill>
        <p:spPr>
          <a:xfrm xmlns:a="http://schemas.openxmlformats.org/drawingml/2006/main">
            <a:off x="10668000" y="269137"/>
            <a:ext cx="1257300" cy="204677"/>
          </a:xfrm>
          <a:prstGeom xmlns:a="http://schemas.openxmlformats.org/drawingml/2006/main" prst="rect">
            <a:avLst/>
          </a:prstGeom>
        </p:spPr>
      </p:pic>
      <p:sp>
        <p:nvSpPr>
          <p:cNvPr id="10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7DF2EDC0-8B6D-4F9C-BF1D-070DCFCF0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800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75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출처: Exponential View, The State of the AI Economy, 2026</a:t>
            </a:r>
          </a:p>
        </p:txBody>
      </p:sp>
      <p:sp>
        <p:nvSpPr>
          <p:cNvPr id="11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AC3EA704-DDD8-460E-A999-24A65627A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436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9</a:t>
            </a:r>
          </a:p>
        </p:txBody>
      </p:sp>
      <p:sp>
        <p:nvSpPr>
          <p:cNvPr id="12" name="metric-card">
            <a:extLst xmlns:a="http://schemas.openxmlformats.org/drawingml/2006/main">
              <a:ext uri="{FF2B5EF4-FFF2-40B4-BE49-F238E27FC236}">
                <a16:creationId xmlns:a16="http://schemas.microsoft.com/office/drawing/2014/main" id="{89CCBD4E-C8EE-42E6-9DA2-7CD20D9B7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05050"/>
            <a:ext cx="3238500" cy="2381250"/>
          </a:xfrm>
          <a:prstGeom xmlns:a="http://schemas.openxmlformats.org/drawingml/2006/main" prst="roundRect">
            <a:avLst>
              <a:gd name="adj" fmla="val 7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4F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metric-value">
            <a:extLst xmlns:a="http://schemas.openxmlformats.org/drawingml/2006/main">
              <a:ext uri="{FF2B5EF4-FFF2-40B4-BE49-F238E27FC236}">
                <a16:creationId xmlns:a16="http://schemas.microsoft.com/office/drawing/2014/main" id="{0E019AA8-537F-4A98-A0D4-EF0294200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52700"/>
            <a:ext cx="2819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F80ED"/>
                </a:solidFill>
                <a:latin typeface="Pretendard"/>
                <a:ea typeface="Pretendard"/>
                <a:cs typeface="Pretendard"/>
              </a:defRPr>
            </a:pPr>
            <a:r>
              <a:rPr sz="3150" b="1">
                <a:solidFill>
                  <a:srgbClr val="2F80ED"/>
                </a:solidFill>
                <a:latin typeface="Pretendard"/>
                <a:ea typeface="Pretendard"/>
                <a:cs typeface="Pretendard"/>
              </a:rPr>
              <a:t>30Q+</a:t>
            </a:r>
          </a:p>
        </p:txBody>
      </p:sp>
      <p:sp>
        <p:nvSpPr>
          <p:cNvPr id="14" name="metric-label">
            <a:extLst xmlns:a="http://schemas.openxmlformats.org/drawingml/2006/main">
              <a:ext uri="{FF2B5EF4-FFF2-40B4-BE49-F238E27FC236}">
                <a16:creationId xmlns:a16="http://schemas.microsoft.com/office/drawing/2014/main" id="{7EBDA8E2-5DB9-4474-BE6D-23179E163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81350"/>
            <a:ext cx="2781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1500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월간 처리 토큰</a:t>
            </a:r>
          </a:p>
        </p:txBody>
      </p:sp>
      <p:sp>
        <p:nvSpPr>
          <p:cNvPr id="15" name="metric-note">
            <a:extLst xmlns:a="http://schemas.openxmlformats.org/drawingml/2006/main">
              <a:ext uri="{FF2B5EF4-FFF2-40B4-BE49-F238E27FC236}">
                <a16:creationId xmlns:a16="http://schemas.microsoft.com/office/drawing/2014/main" id="{79B0F6A8-96CE-4C0C-9288-23C1B5CEF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14750"/>
            <a:ext cx="27813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global token volumes exceed 30</a:t>
            </a:r>
          </a:p>
          <a:p xmlns:a="http://schemas.openxmlformats.org/drawingml/2006/main">
            <a:pPr algn="l">
              <a:defRPr sz="1125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quadrillion per month</a:t>
            </a:r>
          </a:p>
        </p:txBody>
      </p:sp>
      <p:sp>
        <p:nvSpPr>
          <p:cNvPr id="16" name="metric-card">
            <a:extLst xmlns:a="http://schemas.openxmlformats.org/drawingml/2006/main">
              <a:ext uri="{FF2B5EF4-FFF2-40B4-BE49-F238E27FC236}">
                <a16:creationId xmlns:a16="http://schemas.microsoft.com/office/drawing/2014/main" id="{5FE65D5B-6D40-4831-9697-9F7BC63F8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305050"/>
            <a:ext cx="3238500" cy="2381250"/>
          </a:xfrm>
          <a:prstGeom xmlns:a="http://schemas.openxmlformats.org/drawingml/2006/main" prst="roundRect">
            <a:avLst>
              <a:gd name="adj" fmla="val 7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4F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metric-value">
            <a:extLst xmlns:a="http://schemas.openxmlformats.org/drawingml/2006/main">
              <a:ext uri="{FF2B5EF4-FFF2-40B4-BE49-F238E27FC236}">
                <a16:creationId xmlns:a16="http://schemas.microsoft.com/office/drawing/2014/main" id="{DEB5C531-D61A-4792-8C54-6667E5A98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552700"/>
            <a:ext cx="2819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A67A"/>
                </a:solidFill>
                <a:latin typeface="Pretendard"/>
                <a:ea typeface="Pretendard"/>
                <a:cs typeface="Pretendard"/>
              </a:defRPr>
            </a:pPr>
            <a:r>
              <a:rPr sz="3150" b="1">
                <a:solidFill>
                  <a:srgbClr val="11A67A"/>
                </a:solidFill>
                <a:latin typeface="Pretendard"/>
                <a:ea typeface="Pretendard"/>
                <a:cs typeface="Pretendard"/>
              </a:rPr>
              <a:t>14x</a:t>
            </a:r>
          </a:p>
        </p:txBody>
      </p:sp>
      <p:sp>
        <p:nvSpPr>
          <p:cNvPr id="18" name="metric-label">
            <a:extLst xmlns:a="http://schemas.openxmlformats.org/drawingml/2006/main">
              <a:ext uri="{FF2B5EF4-FFF2-40B4-BE49-F238E27FC236}">
                <a16:creationId xmlns:a16="http://schemas.microsoft.com/office/drawing/2014/main" id="{D446D8B6-0F7F-48BA-9500-B3A63D2B6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181350"/>
            <a:ext cx="2781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1500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YoY 성장</a:t>
            </a:r>
          </a:p>
        </p:txBody>
      </p:sp>
      <p:sp>
        <p:nvSpPr>
          <p:cNvPr id="19" name="metric-note">
            <a:extLst xmlns:a="http://schemas.openxmlformats.org/drawingml/2006/main">
              <a:ext uri="{FF2B5EF4-FFF2-40B4-BE49-F238E27FC236}">
                <a16:creationId xmlns:a16="http://schemas.microsoft.com/office/drawing/2014/main" id="{573B3A98-3B70-48DC-BB9C-3AE6FF078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714750"/>
            <a:ext cx="27813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agentic workload와 가격 하락이</a:t>
            </a:r>
          </a:p>
          <a:p xmlns:a="http://schemas.openxmlformats.org/drawingml/2006/main">
            <a:pPr algn="l">
              <a:defRPr sz="1125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사용량을 끌어올림</a:t>
            </a:r>
          </a:p>
        </p:txBody>
      </p:sp>
      <p:sp>
        <p:nvSpPr>
          <p:cNvPr id="20" name="metric-card">
            <a:extLst xmlns:a="http://schemas.openxmlformats.org/drawingml/2006/main">
              <a:ext uri="{FF2B5EF4-FFF2-40B4-BE49-F238E27FC236}">
                <a16:creationId xmlns:a16="http://schemas.microsoft.com/office/drawing/2014/main" id="{234EC64D-B102-4183-A3E4-4500D51FE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305050"/>
            <a:ext cx="3238500" cy="2381250"/>
          </a:xfrm>
          <a:prstGeom xmlns:a="http://schemas.openxmlformats.org/drawingml/2006/main" prst="roundRect">
            <a:avLst>
              <a:gd name="adj" fmla="val 7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4F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1" name="metric-value">
            <a:extLst xmlns:a="http://schemas.openxmlformats.org/drawingml/2006/main">
              <a:ext uri="{FF2B5EF4-FFF2-40B4-BE49-F238E27FC236}">
                <a16:creationId xmlns:a16="http://schemas.microsoft.com/office/drawing/2014/main" id="{85DD3DA1-7147-495F-A78B-6307A12EC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552700"/>
            <a:ext cx="2819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6B7CFF"/>
                </a:solidFill>
                <a:latin typeface="Pretendard"/>
                <a:ea typeface="Pretendard"/>
                <a:cs typeface="Pretendard"/>
              </a:defRPr>
            </a:pPr>
            <a:r>
              <a:rPr sz="3150" b="1">
                <a:solidFill>
                  <a:srgbClr val="6B7CFF"/>
                </a:solidFill>
                <a:latin typeface="Pretendard"/>
                <a:ea typeface="Pretendard"/>
                <a:cs typeface="Pretendard"/>
              </a:rPr>
              <a:t>12→36</a:t>
            </a:r>
          </a:p>
        </p:txBody>
      </p:sp>
      <p:sp>
        <p:nvSpPr>
          <p:cNvPr id="22" name="metric-label">
            <a:extLst xmlns:a="http://schemas.openxmlformats.org/drawingml/2006/main">
              <a:ext uri="{FF2B5EF4-FFF2-40B4-BE49-F238E27FC236}">
                <a16:creationId xmlns:a16="http://schemas.microsoft.com/office/drawing/2014/main" id="{E80F86CE-D8F2-4DB9-A67D-411F60E85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181350"/>
            <a:ext cx="2781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1500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output token당 처리 토큰</a:t>
            </a:r>
          </a:p>
        </p:txBody>
      </p:sp>
      <p:sp>
        <p:nvSpPr>
          <p:cNvPr id="23" name="metric-note">
            <a:extLst xmlns:a="http://schemas.openxmlformats.org/drawingml/2006/main">
              <a:ext uri="{FF2B5EF4-FFF2-40B4-BE49-F238E27FC236}">
                <a16:creationId xmlns:a16="http://schemas.microsoft.com/office/drawing/2014/main" id="{618DCFFC-2D98-4C92-BEFD-59FAC4EE1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714750"/>
            <a:ext cx="27813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reasoning과 tool use가 늘며 작업</a:t>
            </a:r>
          </a:p>
          <a:p xmlns:a="http://schemas.openxmlformats.org/drawingml/2006/main">
            <a:pPr algn="l">
              <a:defRPr sz="1125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단위 사용량 증가</a:t>
            </a:r>
          </a:p>
        </p:txBody>
      </p:sp>
      <p:sp>
        <p:nvSpPr>
          <p:cNvPr id="24" name="bottom-message">
            <a:extLst xmlns:a="http://schemas.openxmlformats.org/drawingml/2006/main">
              <a:ext uri="{FF2B5EF4-FFF2-40B4-BE49-F238E27FC236}">
                <a16:creationId xmlns:a16="http://schemas.microsoft.com/office/drawing/2014/main" id="{28165253-0951-444C-8BCA-3367C70FA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9700"/>
            <a:ext cx="10096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1650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현업 해석: Agent는 편리하지만 사용량이 커집니다. 그래서 ‘어떤 업무 산출물을 얻었는가’를 같이</a:t>
            </a:r>
          </a:p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1650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기록해야 합니다.</a:t>
            </a:r>
          </a:p>
        </p:txBody>
      </p:sp>
    </p:spTree>
    <p:extLst>
      <p:ext uri="{BB962C8B-B14F-4D97-AF65-F5344CB8AC3E}">
        <p14:creationId xmlns:p14="http://schemas.microsoft.com/office/powerpoint/2010/main" val="16436120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4F8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decor-ring-1">
            <a:extLst xmlns:a="http://schemas.openxmlformats.org/drawingml/2006/main">
              <a:ext uri="{FF2B5EF4-FFF2-40B4-BE49-F238E27FC236}">
                <a16:creationId xmlns:a16="http://schemas.microsoft.com/office/drawing/2014/main" id="{5A973F82-0517-43B4-B635-9F15136B1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609600" y="-800100"/>
            <a:ext cx="3429000" cy="2095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BFF"/>
            </a:solidFill>
            <a:prstDash val="solid"/>
          </a:ln>
        </p:spPr>
      </p:sp>
      <p:sp>
        <p:nvSpPr>
          <p:cNvPr id="2" name="decor-ring-2">
            <a:extLst xmlns:a="http://schemas.openxmlformats.org/drawingml/2006/main">
              <a:ext uri="{FF2B5EF4-FFF2-40B4-BE49-F238E27FC236}">
                <a16:creationId xmlns:a16="http://schemas.microsoft.com/office/drawing/2014/main" id="{C664FF58-4D1E-4B52-9A1A-9AB9E316D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28600" y="-895350"/>
            <a:ext cx="2762250" cy="2095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BFF"/>
            </a:solidFill>
            <a:prstDash val="solid"/>
          </a:ln>
        </p:spPr>
      </p:sp>
      <p:sp>
        <p:nvSpPr>
          <p:cNvPr id="3" name="decor-orb-1">
            <a:extLst xmlns:a="http://schemas.openxmlformats.org/drawingml/2006/main">
              <a:ext uri="{FF2B5EF4-FFF2-40B4-BE49-F238E27FC236}">
                <a16:creationId xmlns:a16="http://schemas.microsoft.com/office/drawing/2014/main" id="{4829FF32-809E-40D3-877D-F0F96BA83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838700"/>
            <a:ext cx="333375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E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decor-orb-2">
            <a:extLst xmlns:a="http://schemas.openxmlformats.org/drawingml/2006/main">
              <a:ext uri="{FF2B5EF4-FFF2-40B4-BE49-F238E27FC236}">
                <a16:creationId xmlns:a16="http://schemas.microsoft.com/office/drawing/2014/main" id="{B195747F-7011-4890-A491-834315446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5219700"/>
            <a:ext cx="2952750" cy="2190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6D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itle-bar">
            <a:extLst xmlns:a="http://schemas.openxmlformats.org/drawingml/2006/main">
              <a:ext uri="{FF2B5EF4-FFF2-40B4-BE49-F238E27FC236}">
                <a16:creationId xmlns:a16="http://schemas.microsoft.com/office/drawing/2014/main" id="{14C3AE27-43D5-44FF-B83B-85DB54830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90550"/>
            <a:ext cx="6667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kicker">
            <a:extLst xmlns:a="http://schemas.openxmlformats.org/drawingml/2006/main">
              <a:ext uri="{FF2B5EF4-FFF2-40B4-BE49-F238E27FC236}">
                <a16:creationId xmlns:a16="http://schemas.microsoft.com/office/drawing/2014/main" id="{E43184DA-E1FA-4917-A353-7F3515699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F80ED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2F80ED"/>
                </a:solidFill>
                <a:latin typeface="Pretendard"/>
                <a:ea typeface="Pretendard"/>
                <a:cs typeface="Pretendard"/>
              </a:rPr>
              <a:t>PRICE ELASTICITY</a:t>
            </a:r>
          </a:p>
        </p:txBody>
      </p:sp>
      <p:sp>
        <p:nvSpPr>
          <p:cNvPr id="7" name="title">
            <a:extLst xmlns:a="http://schemas.openxmlformats.org/drawingml/2006/main">
              <a:ext uri="{FF2B5EF4-FFF2-40B4-BE49-F238E27FC236}">
                <a16:creationId xmlns:a16="http://schemas.microsoft.com/office/drawing/2014/main" id="{FFD1BEF9-D984-4084-BDAF-70DF96C54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9906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2700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토큰 가격이 내려가면 사용량은 더 빠르게 늘어납니다.</a:t>
            </a:r>
          </a:p>
        </p:txBody>
      </p:sp>
      <p:sp>
        <p:nvSpPr>
          <p:cNvPr id="8" name="subtitle">
            <a:extLst xmlns:a="http://schemas.openxmlformats.org/drawingml/2006/main">
              <a:ext uri="{FF2B5EF4-FFF2-40B4-BE49-F238E27FC236}">
                <a16:creationId xmlns:a16="http://schemas.microsoft.com/office/drawing/2014/main" id="{A1584329-BD88-45EB-84E5-CAC8429DC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990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AI는 싸져서 덜 쓰는 시장이 아니라, 싸질수록 더 많은 업무가 가능해지는 시장에 가깝습니다.</a:t>
            </a:r>
          </a:p>
        </p:txBody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e17e48fbc54e00"/>
          <a:stretch xmlns:a="http://schemas.openxmlformats.org/drawingml/2006/main"/>
        </p:blipFill>
        <p:spPr>
          <a:xfrm xmlns:a="http://schemas.openxmlformats.org/drawingml/2006/main">
            <a:off x="10668000" y="269137"/>
            <a:ext cx="1257300" cy="204677"/>
          </a:xfrm>
          <a:prstGeom xmlns:a="http://schemas.openxmlformats.org/drawingml/2006/main" prst="rect">
            <a:avLst/>
          </a:prstGeom>
        </p:spPr>
      </p:pic>
      <p:sp>
        <p:nvSpPr>
          <p:cNvPr id="10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55A83851-26BE-40B3-9B30-6905094DD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800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75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출처: Exponential View, The State of the AI Economy, 2026</a:t>
            </a:r>
          </a:p>
        </p:txBody>
      </p:sp>
      <p:sp>
        <p:nvSpPr>
          <p:cNvPr id="11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F5E9A374-B507-47EA-8F70-0D6950ED8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436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10</a:t>
            </a:r>
          </a:p>
        </p:txBody>
      </p:sp>
      <p:sp>
        <p:nvSpPr>
          <p:cNvPr id="12" name="down-panel">
            <a:extLst xmlns:a="http://schemas.openxmlformats.org/drawingml/2006/main">
              <a:ext uri="{FF2B5EF4-FFF2-40B4-BE49-F238E27FC236}">
                <a16:creationId xmlns:a16="http://schemas.microsoft.com/office/drawing/2014/main" id="{7FA5D832-2A90-46BA-9574-50D58F31A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38400"/>
            <a:ext cx="4381500" cy="26670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4F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price-drop">
            <a:extLst xmlns:a="http://schemas.openxmlformats.org/drawingml/2006/main">
              <a:ext uri="{FF2B5EF4-FFF2-40B4-BE49-F238E27FC236}">
                <a16:creationId xmlns:a16="http://schemas.microsoft.com/office/drawing/2014/main" id="{784F3E38-80F3-4076-8A65-8E3C54DB2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000375"/>
            <a:ext cx="342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4200" b="1">
                <a:solidFill>
                  <a:srgbClr val="2F80ED"/>
                </a:solidFill>
                <a:latin typeface="Pretendard"/>
                <a:ea typeface="Pretendard"/>
                <a:cs typeface="Pretendard"/>
              </a:defRPr>
            </a:pPr>
            <a:r>
              <a:rPr sz="4200" b="1">
                <a:solidFill>
                  <a:srgbClr val="2F80ED"/>
                </a:solidFill>
                <a:latin typeface="Pretendard"/>
                <a:ea typeface="Pretendard"/>
                <a:cs typeface="Pretendard"/>
              </a:rPr>
              <a:t>$17 → $2</a:t>
            </a:r>
          </a:p>
        </p:txBody>
      </p:sp>
      <p:sp>
        <p:nvSpPr>
          <p:cNvPr id="14" name="price-label">
            <a:extLst xmlns:a="http://schemas.openxmlformats.org/drawingml/2006/main">
              <a:ext uri="{FF2B5EF4-FFF2-40B4-BE49-F238E27FC236}">
                <a16:creationId xmlns:a16="http://schemas.microsoft.com/office/drawing/2014/main" id="{0DE00331-18DB-44D8-9337-38D237093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7909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1350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blended price per million tokens</a:t>
            </a:r>
          </a:p>
        </p:txBody>
      </p:sp>
      <p:sp>
        <p:nvSpPr>
          <p:cNvPr id="15" name="price-line">
            <a:extLst xmlns:a="http://schemas.openxmlformats.org/drawingml/2006/main">
              <a:ext uri="{FF2B5EF4-FFF2-40B4-BE49-F238E27FC236}">
                <a16:creationId xmlns:a16="http://schemas.microsoft.com/office/drawing/2014/main" id="{7EE7561D-C70F-4594-B665-8E33D2312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305300"/>
            <a:ext cx="24765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80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elastic-panel">
            <a:extLst xmlns:a="http://schemas.openxmlformats.org/drawingml/2006/main">
              <a:ext uri="{FF2B5EF4-FFF2-40B4-BE49-F238E27FC236}">
                <a16:creationId xmlns:a16="http://schemas.microsoft.com/office/drawing/2014/main" id="{CCF4ECAF-5A6A-4C02-820A-2C84776F4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438400"/>
            <a:ext cx="4381500" cy="26670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4F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elastic-1">
            <a:extLst xmlns:a="http://schemas.openxmlformats.org/drawingml/2006/main">
              <a:ext uri="{FF2B5EF4-FFF2-40B4-BE49-F238E27FC236}">
                <a16:creationId xmlns:a16="http://schemas.microsoft.com/office/drawing/2014/main" id="{8A1A2485-A075-4554-8333-F1429723A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952750"/>
            <a:ext cx="323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2250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10% 가격 하락</a:t>
            </a:r>
          </a:p>
        </p:txBody>
      </p:sp>
      <p:sp>
        <p:nvSpPr>
          <p:cNvPr id="18" name="elastic-arrow">
            <a:extLst xmlns:a="http://schemas.openxmlformats.org/drawingml/2006/main">
              <a:ext uri="{FF2B5EF4-FFF2-40B4-BE49-F238E27FC236}">
                <a16:creationId xmlns:a16="http://schemas.microsoft.com/office/drawing/2014/main" id="{6E41297D-7690-49D4-A4C4-DCB91FE1A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476625"/>
            <a:ext cx="95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11A67A"/>
                </a:solidFill>
                <a:latin typeface="Pretendard"/>
                <a:ea typeface="Pretendard"/>
                <a:cs typeface="Pretendard"/>
              </a:defRPr>
            </a:pPr>
            <a:r>
              <a:rPr sz="3300" b="1">
                <a:solidFill>
                  <a:srgbClr val="11A67A"/>
                </a:solidFill>
                <a:latin typeface="Pretendard"/>
                <a:ea typeface="Pretendard"/>
                <a:cs typeface="Pretendard"/>
              </a:rPr>
              <a:t>→</a:t>
            </a:r>
          </a:p>
        </p:txBody>
      </p:sp>
      <p:sp>
        <p:nvSpPr>
          <p:cNvPr id="19" name="elastic-2">
            <a:extLst xmlns:a="http://schemas.openxmlformats.org/drawingml/2006/main">
              <a:ext uri="{FF2B5EF4-FFF2-40B4-BE49-F238E27FC236}">
                <a16:creationId xmlns:a16="http://schemas.microsoft.com/office/drawing/2014/main" id="{3F9C020B-4418-42F7-A1DD-DDC45B5D4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09575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1A67A"/>
                </a:solidFill>
                <a:latin typeface="Pretendard"/>
                <a:ea typeface="Pretendard"/>
                <a:cs typeface="Pretendard"/>
              </a:defRPr>
            </a:pPr>
            <a:r>
              <a:rPr sz="2250" b="1">
                <a:solidFill>
                  <a:srgbClr val="11A67A"/>
                </a:solidFill>
                <a:latin typeface="Pretendard"/>
                <a:ea typeface="Pretendard"/>
                <a:cs typeface="Pretendard"/>
              </a:rPr>
              <a:t>12-18% 토큰 증가</a:t>
            </a:r>
          </a:p>
        </p:txBody>
      </p:sp>
      <p:sp>
        <p:nvSpPr>
          <p:cNvPr id="20" name="lesson">
            <a:extLst xmlns:a="http://schemas.openxmlformats.org/drawingml/2006/main">
              <a:ext uri="{FF2B5EF4-FFF2-40B4-BE49-F238E27FC236}">
                <a16:creationId xmlns:a16="http://schemas.microsoft.com/office/drawing/2014/main" id="{D7B63478-99FB-4B9B-AD39-0858688E9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2925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D4D9F"/>
                </a:solidFill>
                <a:latin typeface="Pretendard"/>
                <a:ea typeface="Pretendard"/>
                <a:cs typeface="Pretendard"/>
              </a:defRPr>
            </a:pPr>
            <a:r>
              <a:rPr sz="1650" b="1">
                <a:solidFill>
                  <a:srgbClr val="0D4D9F"/>
                </a:solidFill>
                <a:latin typeface="Pretendard"/>
                <a:ea typeface="Pretendard"/>
                <a:cs typeface="Pretendard"/>
              </a:rPr>
              <a:t>실습 연결: 과제 선정 시 ‘토큰 비용’보다 ‘반복 횟수 × 업무 가치 × 검증 가능성’을 먼저 봅니다.</a:t>
            </a:r>
          </a:p>
        </p:txBody>
      </p:sp>
    </p:spTree>
    <p:extLst>
      <p:ext uri="{BB962C8B-B14F-4D97-AF65-F5344CB8AC3E}">
        <p14:creationId xmlns:p14="http://schemas.microsoft.com/office/powerpoint/2010/main" val="54806651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4F8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decor-ring-1">
            <a:extLst xmlns:a="http://schemas.openxmlformats.org/drawingml/2006/main">
              <a:ext uri="{FF2B5EF4-FFF2-40B4-BE49-F238E27FC236}">
                <a16:creationId xmlns:a16="http://schemas.microsoft.com/office/drawing/2014/main" id="{BD79444E-1EBB-4488-836C-4BDE0514D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609600" y="-800100"/>
            <a:ext cx="3429000" cy="2095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BFF"/>
            </a:solidFill>
            <a:prstDash val="solid"/>
          </a:ln>
        </p:spPr>
      </p:sp>
      <p:sp>
        <p:nvSpPr>
          <p:cNvPr id="2" name="decor-ring-2">
            <a:extLst xmlns:a="http://schemas.openxmlformats.org/drawingml/2006/main">
              <a:ext uri="{FF2B5EF4-FFF2-40B4-BE49-F238E27FC236}">
                <a16:creationId xmlns:a16="http://schemas.microsoft.com/office/drawing/2014/main" id="{5B6788A6-B49F-4339-AE2E-FCCA3C3A8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28600" y="-895350"/>
            <a:ext cx="2762250" cy="2095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BFF"/>
            </a:solidFill>
            <a:prstDash val="solid"/>
          </a:ln>
        </p:spPr>
      </p:sp>
      <p:sp>
        <p:nvSpPr>
          <p:cNvPr id="3" name="decor-orb-1">
            <a:extLst xmlns:a="http://schemas.openxmlformats.org/drawingml/2006/main">
              <a:ext uri="{FF2B5EF4-FFF2-40B4-BE49-F238E27FC236}">
                <a16:creationId xmlns:a16="http://schemas.microsoft.com/office/drawing/2014/main" id="{DF375642-6328-4F5A-954B-F2BE0D216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838700"/>
            <a:ext cx="333375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E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decor-orb-2">
            <a:extLst xmlns:a="http://schemas.openxmlformats.org/drawingml/2006/main">
              <a:ext uri="{FF2B5EF4-FFF2-40B4-BE49-F238E27FC236}">
                <a16:creationId xmlns:a16="http://schemas.microsoft.com/office/drawing/2014/main" id="{53086751-3508-41EA-8CCF-B1F5D5FE7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5219700"/>
            <a:ext cx="2952750" cy="2190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6D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itle-bar">
            <a:extLst xmlns:a="http://schemas.openxmlformats.org/drawingml/2006/main">
              <a:ext uri="{FF2B5EF4-FFF2-40B4-BE49-F238E27FC236}">
                <a16:creationId xmlns:a16="http://schemas.microsoft.com/office/drawing/2014/main" id="{FED73299-59BE-489C-B47F-319EE858E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90550"/>
            <a:ext cx="6667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kicker">
            <a:extLst xmlns:a="http://schemas.openxmlformats.org/drawingml/2006/main">
              <a:ext uri="{FF2B5EF4-FFF2-40B4-BE49-F238E27FC236}">
                <a16:creationId xmlns:a16="http://schemas.microsoft.com/office/drawing/2014/main" id="{C0C0A78D-3E72-4D5B-AD26-6FBA2584B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F80ED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2F80ED"/>
                </a:solidFill>
                <a:latin typeface="Pretendard"/>
                <a:ea typeface="Pretendard"/>
                <a:cs typeface="Pretendard"/>
              </a:rPr>
              <a:t>VALUE METRIC</a:t>
            </a:r>
          </a:p>
        </p:txBody>
      </p:sp>
      <p:sp>
        <p:nvSpPr>
          <p:cNvPr id="7" name="title">
            <a:extLst xmlns:a="http://schemas.openxmlformats.org/drawingml/2006/main">
              <a:ext uri="{FF2B5EF4-FFF2-40B4-BE49-F238E27FC236}">
                <a16:creationId xmlns:a16="http://schemas.microsoft.com/office/drawing/2014/main" id="{6FE31390-2F41-44FE-A945-9EF8938F2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9906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2700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토큰은 과금 단위이지, 업무 가치 단위는 아닙니다.</a:t>
            </a:r>
          </a:p>
        </p:txBody>
      </p:sp>
      <p:sp>
        <p:nvSpPr>
          <p:cNvPr id="8" name="subtitle">
            <a:extLst xmlns:a="http://schemas.openxmlformats.org/drawingml/2006/main">
              <a:ext uri="{FF2B5EF4-FFF2-40B4-BE49-F238E27FC236}">
                <a16:creationId xmlns:a16="http://schemas.microsoft.com/office/drawing/2014/main" id="{2407986A-C6DA-4D38-B6F1-792DB1B46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990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가치는 출력 토큰이 아니라 사람이 검토해 실제 업무에 쓴 산출물에서 생깁니다.</a:t>
            </a:r>
          </a:p>
        </p:txBody>
      </p:sp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89992581574386"/>
          <a:stretch xmlns:a="http://schemas.openxmlformats.org/drawingml/2006/main"/>
        </p:blipFill>
        <p:spPr>
          <a:xfrm xmlns:a="http://schemas.openxmlformats.org/drawingml/2006/main">
            <a:off x="10668000" y="269137"/>
            <a:ext cx="1257300" cy="204677"/>
          </a:xfrm>
          <a:prstGeom xmlns:a="http://schemas.openxmlformats.org/drawingml/2006/main" prst="rect">
            <a:avLst/>
          </a:prstGeom>
        </p:spPr>
      </p:pic>
      <p:sp>
        <p:nvSpPr>
          <p:cNvPr id="10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C897050D-0B65-4FFA-AE4D-73B376CC4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800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75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출처: Exponential View, The State of the AI Economy, 2026</a:t>
            </a:r>
          </a:p>
        </p:txBody>
      </p:sp>
      <p:sp>
        <p:nvSpPr>
          <p:cNvPr id="11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4D1619D1-9549-4F51-A411-FA941D306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436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11</a:t>
            </a:r>
          </a:p>
        </p:txBody>
      </p:sp>
      <p:sp>
        <p:nvSpPr>
          <p:cNvPr id="12" name="value-box">
            <a:extLst xmlns:a="http://schemas.openxmlformats.org/drawingml/2006/main">
              <a:ext uri="{FF2B5EF4-FFF2-40B4-BE49-F238E27FC236}">
                <a16:creationId xmlns:a16="http://schemas.microsoft.com/office/drawing/2014/main" id="{771CE4EF-0887-45EB-AAAA-8E3DD38F6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43200"/>
            <a:ext cx="2190750" cy="1524000"/>
          </a:xfrm>
          <a:prstGeom xmlns:a="http://schemas.openxmlformats.org/drawingml/2006/main" prst="roundRect">
            <a:avLst>
              <a:gd name="adj" fmla="val 11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4F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value-title">
            <a:extLst xmlns:a="http://schemas.openxmlformats.org/drawingml/2006/main">
              <a:ext uri="{FF2B5EF4-FFF2-40B4-BE49-F238E27FC236}">
                <a16:creationId xmlns:a16="http://schemas.microsoft.com/office/drawing/2014/main" id="{6FD33839-461E-48D0-8E7E-C50EC671C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1051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F80ED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2F80ED"/>
                </a:solidFill>
                <a:latin typeface="Pretendard"/>
                <a:ea typeface="Pretendard"/>
                <a:cs typeface="Pretendard"/>
              </a:rPr>
              <a:t>Input tokens</a:t>
            </a:r>
          </a:p>
        </p:txBody>
      </p:sp>
      <p:sp>
        <p:nvSpPr>
          <p:cNvPr id="14" name="value-body">
            <a:extLst xmlns:a="http://schemas.openxmlformats.org/drawingml/2006/main">
              <a:ext uri="{FF2B5EF4-FFF2-40B4-BE49-F238E27FC236}">
                <a16:creationId xmlns:a16="http://schemas.microsoft.com/office/drawing/2014/main" id="{95FC8C70-8814-4D09-A6BA-A8ECA3DD6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562350"/>
            <a:ext cx="180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12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자료·질문·컨텍스트</a:t>
            </a:r>
          </a:p>
        </p:txBody>
      </p:sp>
      <p:sp>
        <p:nvSpPr>
          <p:cNvPr id="15" name="value-arrow-0-line">
            <a:extLst xmlns:a="http://schemas.openxmlformats.org/drawingml/2006/main">
              <a:ext uri="{FF2B5EF4-FFF2-40B4-BE49-F238E27FC236}">
                <a16:creationId xmlns:a16="http://schemas.microsoft.com/office/drawing/2014/main" id="{14034A32-4C7B-42D4-B471-4C4EF9449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467100"/>
            <a:ext cx="2476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value-arrow-0-head">
            <a:extLst xmlns:a="http://schemas.openxmlformats.org/drawingml/2006/main">
              <a:ext uri="{FF2B5EF4-FFF2-40B4-BE49-F238E27FC236}">
                <a16:creationId xmlns:a16="http://schemas.microsoft.com/office/drawing/2014/main" id="{753169CE-52FD-440F-8229-1B17C9130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429000"/>
            <a:ext cx="228600" cy="2286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value-box">
            <a:extLst xmlns:a="http://schemas.openxmlformats.org/drawingml/2006/main">
              <a:ext uri="{FF2B5EF4-FFF2-40B4-BE49-F238E27FC236}">
                <a16:creationId xmlns:a16="http://schemas.microsoft.com/office/drawing/2014/main" id="{045D717F-3975-4CFB-ABFD-405D2312F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743200"/>
            <a:ext cx="2190750" cy="1524000"/>
          </a:xfrm>
          <a:prstGeom xmlns:a="http://schemas.openxmlformats.org/drawingml/2006/main" prst="roundRect">
            <a:avLst>
              <a:gd name="adj" fmla="val 11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4F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8" name="value-title">
            <a:extLst xmlns:a="http://schemas.openxmlformats.org/drawingml/2006/main">
              <a:ext uri="{FF2B5EF4-FFF2-40B4-BE49-F238E27FC236}">
                <a16:creationId xmlns:a16="http://schemas.microsoft.com/office/drawing/2014/main" id="{75CE87F5-4A1F-4C78-9592-BE40DE255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1051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C400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FFC400"/>
                </a:solidFill>
                <a:latin typeface="Pretendard"/>
                <a:ea typeface="Pretendard"/>
                <a:cs typeface="Pretendard"/>
              </a:rPr>
              <a:t>Reasoning tokens</a:t>
            </a:r>
          </a:p>
        </p:txBody>
      </p:sp>
      <p:sp>
        <p:nvSpPr>
          <p:cNvPr id="19" name="value-body">
            <a:extLst xmlns:a="http://schemas.openxmlformats.org/drawingml/2006/main">
              <a:ext uri="{FF2B5EF4-FFF2-40B4-BE49-F238E27FC236}">
                <a16:creationId xmlns:a16="http://schemas.microsoft.com/office/drawing/2014/main" id="{4E0C65FD-E7B0-46CE-99F3-41276C976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562350"/>
            <a:ext cx="180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12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생각하고 도구를 쓰는 비용</a:t>
            </a:r>
          </a:p>
        </p:txBody>
      </p:sp>
      <p:sp>
        <p:nvSpPr>
          <p:cNvPr id="20" name="value-arrow-1-line">
            <a:extLst xmlns:a="http://schemas.openxmlformats.org/drawingml/2006/main">
              <a:ext uri="{FF2B5EF4-FFF2-40B4-BE49-F238E27FC236}">
                <a16:creationId xmlns:a16="http://schemas.microsoft.com/office/drawing/2014/main" id="{B560B968-8C4E-45BF-9A18-09C96781C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467100"/>
            <a:ext cx="2476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4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value-arrow-1-head">
            <a:extLst xmlns:a="http://schemas.openxmlformats.org/drawingml/2006/main">
              <a:ext uri="{FF2B5EF4-FFF2-40B4-BE49-F238E27FC236}">
                <a16:creationId xmlns:a16="http://schemas.microsoft.com/office/drawing/2014/main" id="{E1C3A718-9B42-431D-AFE0-1D1B869D2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429000"/>
            <a:ext cx="228600" cy="2286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FC4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value-box">
            <a:extLst xmlns:a="http://schemas.openxmlformats.org/drawingml/2006/main">
              <a:ext uri="{FF2B5EF4-FFF2-40B4-BE49-F238E27FC236}">
                <a16:creationId xmlns:a16="http://schemas.microsoft.com/office/drawing/2014/main" id="{02012B00-77CA-4B35-B93E-81A334F67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743200"/>
            <a:ext cx="2190750" cy="1524000"/>
          </a:xfrm>
          <a:prstGeom xmlns:a="http://schemas.openxmlformats.org/drawingml/2006/main" prst="roundRect">
            <a:avLst>
              <a:gd name="adj" fmla="val 11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4F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3" name="value-title">
            <a:extLst xmlns:a="http://schemas.openxmlformats.org/drawingml/2006/main">
              <a:ext uri="{FF2B5EF4-FFF2-40B4-BE49-F238E27FC236}">
                <a16:creationId xmlns:a16="http://schemas.microsoft.com/office/drawing/2014/main" id="{531B2670-F2E8-43A2-A04F-A35A12A84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1051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1A67A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11A67A"/>
                </a:solidFill>
                <a:latin typeface="Pretendard"/>
                <a:ea typeface="Pretendard"/>
                <a:cs typeface="Pretendard"/>
              </a:rPr>
              <a:t>Output tokens</a:t>
            </a:r>
          </a:p>
        </p:txBody>
      </p:sp>
      <p:sp>
        <p:nvSpPr>
          <p:cNvPr id="24" name="value-body">
            <a:extLst xmlns:a="http://schemas.openxmlformats.org/drawingml/2006/main">
              <a:ext uri="{FF2B5EF4-FFF2-40B4-BE49-F238E27FC236}">
                <a16:creationId xmlns:a16="http://schemas.microsoft.com/office/drawing/2014/main" id="{136C3987-7339-42CD-8016-93F60AA45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562350"/>
            <a:ext cx="180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12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사람에게 보이는 초안</a:t>
            </a:r>
          </a:p>
        </p:txBody>
      </p:sp>
      <p:sp>
        <p:nvSpPr>
          <p:cNvPr id="25" name="value-arrow-2-line">
            <a:extLst xmlns:a="http://schemas.openxmlformats.org/drawingml/2006/main">
              <a:ext uri="{FF2B5EF4-FFF2-40B4-BE49-F238E27FC236}">
                <a16:creationId xmlns:a16="http://schemas.microsoft.com/office/drawing/2014/main" id="{034C20EB-53B1-4790-8EE0-69B8A0496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467100"/>
            <a:ext cx="2476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A6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value-arrow-2-head">
            <a:extLst xmlns:a="http://schemas.openxmlformats.org/drawingml/2006/main">
              <a:ext uri="{FF2B5EF4-FFF2-40B4-BE49-F238E27FC236}">
                <a16:creationId xmlns:a16="http://schemas.microsoft.com/office/drawing/2014/main" id="{96B2CF23-A5FB-4434-A331-EE684C9E2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429000"/>
            <a:ext cx="228600" cy="2286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1A6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value-box">
            <a:extLst xmlns:a="http://schemas.openxmlformats.org/drawingml/2006/main">
              <a:ext uri="{FF2B5EF4-FFF2-40B4-BE49-F238E27FC236}">
                <a16:creationId xmlns:a16="http://schemas.microsoft.com/office/drawing/2014/main" id="{634D8093-5036-4FAA-8887-CFFC95E71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743200"/>
            <a:ext cx="2190750" cy="1524000"/>
          </a:xfrm>
          <a:prstGeom xmlns:a="http://schemas.openxmlformats.org/drawingml/2006/main" prst="roundRect">
            <a:avLst>
              <a:gd name="adj" fmla="val 11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4F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8" name="value-title">
            <a:extLst xmlns:a="http://schemas.openxmlformats.org/drawingml/2006/main">
              <a:ext uri="{FF2B5EF4-FFF2-40B4-BE49-F238E27FC236}">
                <a16:creationId xmlns:a16="http://schemas.microsoft.com/office/drawing/2014/main" id="{D0112BA1-2D13-424E-944E-8EDA99291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1051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6B7CFF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6B7CFF"/>
                </a:solidFill>
                <a:latin typeface="Pretendard"/>
                <a:ea typeface="Pretendard"/>
                <a:cs typeface="Pretendard"/>
              </a:rPr>
              <a:t>Quality-adjusted</a:t>
            </a:r>
          </a:p>
          <a:p xmlns:a="http://schemas.openxmlformats.org/drawingml/2006/main">
            <a:pPr algn="ctr">
              <a:defRPr sz="1575" b="1">
                <a:solidFill>
                  <a:srgbClr val="6B7CFF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6B7CFF"/>
                </a:solidFill>
                <a:latin typeface="Pretendard"/>
                <a:ea typeface="Pretendard"/>
                <a:cs typeface="Pretendard"/>
              </a:rPr>
              <a:t>output</a:t>
            </a:r>
          </a:p>
        </p:txBody>
      </p:sp>
      <p:sp>
        <p:nvSpPr>
          <p:cNvPr id="29" name="value-body">
            <a:extLst xmlns:a="http://schemas.openxmlformats.org/drawingml/2006/main">
              <a:ext uri="{FF2B5EF4-FFF2-40B4-BE49-F238E27FC236}">
                <a16:creationId xmlns:a16="http://schemas.microsoft.com/office/drawing/2014/main" id="{30774764-6E32-4F7F-91E6-5C1117EED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562350"/>
            <a:ext cx="180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12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업무에 쓸 수 있는 산출물</a:t>
            </a:r>
          </a:p>
        </p:txBody>
      </p:sp>
      <p:sp>
        <p:nvSpPr>
          <p:cNvPr id="30" name="card-AI4PM 적용">
            <a:extLst xmlns:a="http://schemas.openxmlformats.org/drawingml/2006/main">
              <a:ext uri="{FF2B5EF4-FFF2-40B4-BE49-F238E27FC236}">
                <a16:creationId xmlns:a16="http://schemas.microsoft.com/office/drawing/2014/main" id="{EB1FD2DC-74DB-43B3-8D7D-9E9C97835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838700"/>
            <a:ext cx="8763000" cy="904875"/>
          </a:xfrm>
          <a:prstGeom xmlns:a="http://schemas.openxmlformats.org/drawingml/2006/main" prst="roundRect">
            <a:avLst>
              <a:gd name="adj" fmla="val 189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4F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1" name="card-accent">
            <a:extLst xmlns:a="http://schemas.openxmlformats.org/drawingml/2006/main">
              <a:ext uri="{FF2B5EF4-FFF2-40B4-BE49-F238E27FC236}">
                <a16:creationId xmlns:a16="http://schemas.microsoft.com/office/drawing/2014/main" id="{F3AB83D6-95DD-4C91-96A7-E1E4FAF1B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838700"/>
            <a:ext cx="7620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card-label">
            <a:extLst xmlns:a="http://schemas.openxmlformats.org/drawingml/2006/main">
              <a:ext uri="{FF2B5EF4-FFF2-40B4-BE49-F238E27FC236}">
                <a16:creationId xmlns:a16="http://schemas.microsoft.com/office/drawing/2014/main" id="{2D80BA78-0482-4BB7-AE7F-1D5ACFD22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5029200"/>
            <a:ext cx="8305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F80ED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2F80ED"/>
                </a:solidFill>
                <a:latin typeface="Pretendard"/>
                <a:ea typeface="Pretendard"/>
                <a:cs typeface="Pretendard"/>
              </a:rPr>
              <a:t>AI4PM 적용</a:t>
            </a:r>
          </a:p>
        </p:txBody>
      </p:sp>
      <p:sp>
        <p:nvSpPr>
          <p:cNvPr id="33" name="card-title">
            <a:extLst xmlns:a="http://schemas.openxmlformats.org/drawingml/2006/main">
              <a:ext uri="{FF2B5EF4-FFF2-40B4-BE49-F238E27FC236}">
                <a16:creationId xmlns:a16="http://schemas.microsoft.com/office/drawing/2014/main" id="{F2BBB46E-6872-4F04-89A3-6DD9AF1BD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5334000"/>
            <a:ext cx="8305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1650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팀별 기록 기준</a:t>
            </a:r>
          </a:p>
        </p:txBody>
      </p:sp>
      <p:sp>
        <p:nvSpPr>
          <p:cNvPr id="34" name="card-body">
            <a:extLst xmlns:a="http://schemas.openxmlformats.org/drawingml/2006/main">
              <a:ext uri="{FF2B5EF4-FFF2-40B4-BE49-F238E27FC236}">
                <a16:creationId xmlns:a16="http://schemas.microsoft.com/office/drawing/2014/main" id="{B6807A69-1264-430F-8A81-D2D2EE8CA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5867400"/>
            <a:ext cx="8305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토큰을 얼마나 썼는가보다, 어떤 산출물이 나왔고 사람이 어떤 기준으로 승인했는지를 기록합니다.</a:t>
            </a:r>
          </a:p>
        </p:txBody>
      </p:sp>
    </p:spTree>
    <p:extLst>
      <p:ext uri="{BB962C8B-B14F-4D97-AF65-F5344CB8AC3E}">
        <p14:creationId xmlns:p14="http://schemas.microsoft.com/office/powerpoint/2010/main" val="45052195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4F8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decor-ring-1">
            <a:extLst xmlns:a="http://schemas.openxmlformats.org/drawingml/2006/main">
              <a:ext uri="{FF2B5EF4-FFF2-40B4-BE49-F238E27FC236}">
                <a16:creationId xmlns:a16="http://schemas.microsoft.com/office/drawing/2014/main" id="{B889CFDA-1D6F-4722-971B-899A5180E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609600" y="-800100"/>
            <a:ext cx="3429000" cy="2095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BFF"/>
            </a:solidFill>
            <a:prstDash val="solid"/>
          </a:ln>
        </p:spPr>
      </p:sp>
      <p:sp>
        <p:nvSpPr>
          <p:cNvPr id="2" name="decor-ring-2">
            <a:extLst xmlns:a="http://schemas.openxmlformats.org/drawingml/2006/main">
              <a:ext uri="{FF2B5EF4-FFF2-40B4-BE49-F238E27FC236}">
                <a16:creationId xmlns:a16="http://schemas.microsoft.com/office/drawing/2014/main" id="{67D572D5-F4E5-4DDC-BCEE-52CC57E7C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28600" y="-895350"/>
            <a:ext cx="2762250" cy="2095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BFF"/>
            </a:solidFill>
            <a:prstDash val="solid"/>
          </a:ln>
        </p:spPr>
      </p:sp>
      <p:sp>
        <p:nvSpPr>
          <p:cNvPr id="3" name="decor-orb-1">
            <a:extLst xmlns:a="http://schemas.openxmlformats.org/drawingml/2006/main">
              <a:ext uri="{FF2B5EF4-FFF2-40B4-BE49-F238E27FC236}">
                <a16:creationId xmlns:a16="http://schemas.microsoft.com/office/drawing/2014/main" id="{C9AFF745-8062-45BE-9429-AB00348AC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838700"/>
            <a:ext cx="333375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E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decor-orb-2">
            <a:extLst xmlns:a="http://schemas.openxmlformats.org/drawingml/2006/main">
              <a:ext uri="{FF2B5EF4-FFF2-40B4-BE49-F238E27FC236}">
                <a16:creationId xmlns:a16="http://schemas.microsoft.com/office/drawing/2014/main" id="{E510820E-AA27-4FE1-985B-88138944A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5219700"/>
            <a:ext cx="2952750" cy="2190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6D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itle-bar">
            <a:extLst xmlns:a="http://schemas.openxmlformats.org/drawingml/2006/main">
              <a:ext uri="{FF2B5EF4-FFF2-40B4-BE49-F238E27FC236}">
                <a16:creationId xmlns:a16="http://schemas.microsoft.com/office/drawing/2014/main" id="{974F410C-DECC-4E7F-89B8-0A74D4A9C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90550"/>
            <a:ext cx="6667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kicker">
            <a:extLst xmlns:a="http://schemas.openxmlformats.org/drawingml/2006/main">
              <a:ext uri="{FF2B5EF4-FFF2-40B4-BE49-F238E27FC236}">
                <a16:creationId xmlns:a16="http://schemas.microsoft.com/office/drawing/2014/main" id="{9BB49767-134A-42C7-8314-6179C0C7B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F80ED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2F80ED"/>
                </a:solidFill>
                <a:latin typeface="Pretendard"/>
                <a:ea typeface="Pretendard"/>
                <a:cs typeface="Pretendard"/>
              </a:rPr>
              <a:t>STACK</a:t>
            </a:r>
          </a:p>
        </p:txBody>
      </p:sp>
      <p:sp>
        <p:nvSpPr>
          <p:cNvPr id="7" name="title">
            <a:extLst xmlns:a="http://schemas.openxmlformats.org/drawingml/2006/main">
              <a:ext uri="{FF2B5EF4-FFF2-40B4-BE49-F238E27FC236}">
                <a16:creationId xmlns:a16="http://schemas.microsoft.com/office/drawing/2014/main" id="{9F57C64C-51CD-4CA3-96E4-0837CD564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9906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2700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가치는 점점 앱과 업무 워크플로우 쪽으로 이동합니다.</a:t>
            </a:r>
          </a:p>
        </p:txBody>
      </p:sp>
      <p:sp>
        <p:nvSpPr>
          <p:cNvPr id="8" name="subtitle">
            <a:extLst xmlns:a="http://schemas.openxmlformats.org/drawingml/2006/main">
              <a:ext uri="{FF2B5EF4-FFF2-40B4-BE49-F238E27FC236}">
                <a16:creationId xmlns:a16="http://schemas.microsoft.com/office/drawing/2014/main" id="{562C131E-3AC9-4E68-9DA1-B3CA408E8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990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모델은 빠르게 범용화됩니다. 기업 내부에서 방어 가능한 가치는 도메인 데이터, 검증 기준, 운영 프로세스입니다.</a:t>
            </a:r>
          </a:p>
        </p:txBody>
      </p:sp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3a1387d0e845c7"/>
          <a:stretch xmlns:a="http://schemas.openxmlformats.org/drawingml/2006/main"/>
        </p:blipFill>
        <p:spPr>
          <a:xfrm xmlns:a="http://schemas.openxmlformats.org/drawingml/2006/main">
            <a:off x="10668000" y="269137"/>
            <a:ext cx="1257300" cy="204677"/>
          </a:xfrm>
          <a:prstGeom xmlns:a="http://schemas.openxmlformats.org/drawingml/2006/main" prst="rect">
            <a:avLst/>
          </a:prstGeom>
        </p:spPr>
      </p:pic>
      <p:sp>
        <p:nvSpPr>
          <p:cNvPr id="10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89F3CD76-C8A8-4C5A-844B-C9A7E7ACC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800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75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출처: Exponential View, The State of the AI Economy, 2026</a:t>
            </a:r>
          </a:p>
        </p:txBody>
      </p:sp>
      <p:sp>
        <p:nvSpPr>
          <p:cNvPr id="11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9BE76EB9-BE81-45CA-9C8A-406E73B8F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436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12</a:t>
            </a:r>
          </a:p>
        </p:txBody>
      </p:sp>
      <p:sp>
        <p:nvSpPr>
          <p:cNvPr id="12" name="stack-row">
            <a:extLst xmlns:a="http://schemas.openxmlformats.org/drawingml/2006/main">
              <a:ext uri="{FF2B5EF4-FFF2-40B4-BE49-F238E27FC236}">
                <a16:creationId xmlns:a16="http://schemas.microsoft.com/office/drawing/2014/main" id="{024F32EF-0ADB-4C73-9C60-0B658BE51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09800"/>
            <a:ext cx="10096500" cy="609600"/>
          </a:xfrm>
          <a:prstGeom xmlns:a="http://schemas.openxmlformats.org/drawingml/2006/main" prst="roundRect">
            <a:avLst>
              <a:gd name="adj" fmla="val 218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4F7"/>
            </a:solidFill>
            <a:prstDash val="solid"/>
          </a:ln>
        </p:spPr>
      </p:sp>
      <p:sp>
        <p:nvSpPr>
          <p:cNvPr id="13" name="stack-layer">
            <a:extLst xmlns:a="http://schemas.openxmlformats.org/drawingml/2006/main">
              <a:ext uri="{FF2B5EF4-FFF2-40B4-BE49-F238E27FC236}">
                <a16:creationId xmlns:a16="http://schemas.microsoft.com/office/drawing/2014/main" id="{9C885C0D-DEEB-49D7-9E0A-53B98F919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34315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C400"/>
                </a:solidFill>
                <a:latin typeface="Pretendard"/>
                <a:ea typeface="Pretendard"/>
                <a:cs typeface="Pretendard"/>
              </a:defRPr>
            </a:pPr>
            <a:r>
              <a:rPr sz="1650" b="1">
                <a:solidFill>
                  <a:srgbClr val="FFC400"/>
                </a:solidFill>
                <a:latin typeface="Pretendard"/>
                <a:ea typeface="Pretendard"/>
                <a:cs typeface="Pretendard"/>
              </a:rPr>
              <a:t>Chips</a:t>
            </a:r>
          </a:p>
        </p:txBody>
      </p:sp>
      <p:sp>
        <p:nvSpPr>
          <p:cNvPr id="14" name="stack-convert">
            <a:extLst xmlns:a="http://schemas.openxmlformats.org/drawingml/2006/main">
              <a:ext uri="{FF2B5EF4-FFF2-40B4-BE49-F238E27FC236}">
                <a16:creationId xmlns:a16="http://schemas.microsoft.com/office/drawing/2014/main" id="{0C284B72-2BD6-47F6-B256-031DF9358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352675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1425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에너지를 토큰으로</a:t>
            </a:r>
          </a:p>
        </p:txBody>
      </p:sp>
      <p:sp>
        <p:nvSpPr>
          <p:cNvPr id="15" name="stack-risk">
            <a:extLst xmlns:a="http://schemas.openxmlformats.org/drawingml/2006/main">
              <a:ext uri="{FF2B5EF4-FFF2-40B4-BE49-F238E27FC236}">
                <a16:creationId xmlns:a16="http://schemas.microsoft.com/office/drawing/2014/main" id="{5883F18A-538E-4FAC-9818-A4C7BCC5E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352675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공급 제약과 CapEx</a:t>
            </a:r>
          </a:p>
        </p:txBody>
      </p:sp>
      <p:sp>
        <p:nvSpPr>
          <p:cNvPr id="16" name="stack-row">
            <a:extLst xmlns:a="http://schemas.openxmlformats.org/drawingml/2006/main">
              <a:ext uri="{FF2B5EF4-FFF2-40B4-BE49-F238E27FC236}">
                <a16:creationId xmlns:a16="http://schemas.microsoft.com/office/drawing/2014/main" id="{DB7B3D21-0F01-4351-B44E-73A0687A6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90850"/>
            <a:ext cx="10096500" cy="609600"/>
          </a:xfrm>
          <a:prstGeom xmlns:a="http://schemas.openxmlformats.org/drawingml/2006/main" prst="roundRect">
            <a:avLst>
              <a:gd name="adj" fmla="val 218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4F7"/>
            </a:solidFill>
            <a:prstDash val="solid"/>
          </a:ln>
        </p:spPr>
      </p:sp>
      <p:sp>
        <p:nvSpPr>
          <p:cNvPr id="17" name="stack-layer">
            <a:extLst xmlns:a="http://schemas.openxmlformats.org/drawingml/2006/main">
              <a:ext uri="{FF2B5EF4-FFF2-40B4-BE49-F238E27FC236}">
                <a16:creationId xmlns:a16="http://schemas.microsoft.com/office/drawing/2014/main" id="{C5B77276-8DFD-4E3C-979F-55A10983A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12420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F80ED"/>
                </a:solidFill>
                <a:latin typeface="Pretendard"/>
                <a:ea typeface="Pretendard"/>
                <a:cs typeface="Pretendard"/>
              </a:defRPr>
            </a:pPr>
            <a:r>
              <a:rPr sz="1650" b="1">
                <a:solidFill>
                  <a:srgbClr val="2F80ED"/>
                </a:solidFill>
                <a:latin typeface="Pretendard"/>
                <a:ea typeface="Pretendard"/>
                <a:cs typeface="Pretendard"/>
              </a:rPr>
              <a:t>Hosting</a:t>
            </a:r>
          </a:p>
        </p:txBody>
      </p:sp>
      <p:sp>
        <p:nvSpPr>
          <p:cNvPr id="18" name="stack-convert">
            <a:extLst xmlns:a="http://schemas.openxmlformats.org/drawingml/2006/main">
              <a:ext uri="{FF2B5EF4-FFF2-40B4-BE49-F238E27FC236}">
                <a16:creationId xmlns:a16="http://schemas.microsoft.com/office/drawing/2014/main" id="{4D3FCC00-DA3B-439B-9982-C6D5C5BD1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133725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1425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CapEx를 token OpEx로</a:t>
            </a:r>
          </a:p>
        </p:txBody>
      </p:sp>
      <p:sp>
        <p:nvSpPr>
          <p:cNvPr id="19" name="stack-risk">
            <a:extLst xmlns:a="http://schemas.openxmlformats.org/drawingml/2006/main">
              <a:ext uri="{FF2B5EF4-FFF2-40B4-BE49-F238E27FC236}">
                <a16:creationId xmlns:a16="http://schemas.microsoft.com/office/drawing/2014/main" id="{1A3BEE5F-1360-44CB-8C04-610E22794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133725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활용률과 가격 경쟁</a:t>
            </a:r>
          </a:p>
        </p:txBody>
      </p:sp>
      <p:sp>
        <p:nvSpPr>
          <p:cNvPr id="20" name="stack-row">
            <a:extLst xmlns:a="http://schemas.openxmlformats.org/drawingml/2006/main">
              <a:ext uri="{FF2B5EF4-FFF2-40B4-BE49-F238E27FC236}">
                <a16:creationId xmlns:a16="http://schemas.microsoft.com/office/drawing/2014/main" id="{0341ED75-674E-4308-A293-9D1CCE531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771900"/>
            <a:ext cx="10096500" cy="609600"/>
          </a:xfrm>
          <a:prstGeom xmlns:a="http://schemas.openxmlformats.org/drawingml/2006/main" prst="roundRect">
            <a:avLst>
              <a:gd name="adj" fmla="val 218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4F7"/>
            </a:solidFill>
            <a:prstDash val="solid"/>
          </a:ln>
        </p:spPr>
      </p:sp>
      <p:sp>
        <p:nvSpPr>
          <p:cNvPr id="21" name="stack-layer">
            <a:extLst xmlns:a="http://schemas.openxmlformats.org/drawingml/2006/main">
              <a:ext uri="{FF2B5EF4-FFF2-40B4-BE49-F238E27FC236}">
                <a16:creationId xmlns:a16="http://schemas.microsoft.com/office/drawing/2014/main" id="{E72D3B3E-D0E4-485A-932F-7B2C3A8B6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0525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6B7CFF"/>
                </a:solidFill>
                <a:latin typeface="Pretendard"/>
                <a:ea typeface="Pretendard"/>
                <a:cs typeface="Pretendard"/>
              </a:defRPr>
            </a:pPr>
            <a:r>
              <a:rPr sz="1650" b="1">
                <a:solidFill>
                  <a:srgbClr val="6B7CFF"/>
                </a:solidFill>
                <a:latin typeface="Pretendard"/>
                <a:ea typeface="Pretendard"/>
                <a:cs typeface="Pretendard"/>
              </a:rPr>
              <a:t>Foundation Models</a:t>
            </a:r>
          </a:p>
        </p:txBody>
      </p:sp>
      <p:sp>
        <p:nvSpPr>
          <p:cNvPr id="22" name="stack-convert">
            <a:extLst xmlns:a="http://schemas.openxmlformats.org/drawingml/2006/main">
              <a:ext uri="{FF2B5EF4-FFF2-40B4-BE49-F238E27FC236}">
                <a16:creationId xmlns:a16="http://schemas.microsoft.com/office/drawing/2014/main" id="{2C40AF0D-16B5-41D0-B7D9-7E44F9C57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914775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1425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토큰을 지능으로</a:t>
            </a:r>
          </a:p>
        </p:txBody>
      </p:sp>
      <p:sp>
        <p:nvSpPr>
          <p:cNvPr id="23" name="stack-risk">
            <a:extLst xmlns:a="http://schemas.openxmlformats.org/drawingml/2006/main">
              <a:ext uri="{FF2B5EF4-FFF2-40B4-BE49-F238E27FC236}">
                <a16:creationId xmlns:a16="http://schemas.microsoft.com/office/drawing/2014/main" id="{8447B268-1F67-4062-8E57-A598B4481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914775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frontier premium은 시간 제한</a:t>
            </a:r>
          </a:p>
        </p:txBody>
      </p:sp>
      <p:sp>
        <p:nvSpPr>
          <p:cNvPr id="24" name="stack-row">
            <a:extLst xmlns:a="http://schemas.openxmlformats.org/drawingml/2006/main">
              <a:ext uri="{FF2B5EF4-FFF2-40B4-BE49-F238E27FC236}">
                <a16:creationId xmlns:a16="http://schemas.microsoft.com/office/drawing/2014/main" id="{75D0068C-2027-4571-BE8D-9BF951B24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552950"/>
            <a:ext cx="10096500" cy="609600"/>
          </a:xfrm>
          <a:prstGeom xmlns:a="http://schemas.openxmlformats.org/drawingml/2006/main" prst="roundRect">
            <a:avLst>
              <a:gd name="adj" fmla="val 21875"/>
            </a:avLst>
          </a:prstGeom>
          <a:solidFill xmlns:a="http://schemas.openxmlformats.org/drawingml/2006/main">
            <a:srgbClr val="EAF7F1"/>
          </a:solidFill>
          <a:ln xmlns:a="http://schemas.openxmlformats.org/drawingml/2006/main" w="9525">
            <a:solidFill>
              <a:srgbClr val="D6E4F7"/>
            </a:solidFill>
            <a:prstDash val="solid"/>
          </a:ln>
        </p:spPr>
      </p:sp>
      <p:sp>
        <p:nvSpPr>
          <p:cNvPr id="25" name="stack-layer">
            <a:extLst xmlns:a="http://schemas.openxmlformats.org/drawingml/2006/main">
              <a:ext uri="{FF2B5EF4-FFF2-40B4-BE49-F238E27FC236}">
                <a16:creationId xmlns:a16="http://schemas.microsoft.com/office/drawing/2014/main" id="{92075029-68C9-4CEC-B01E-B3EE1E37A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68630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A67A"/>
                </a:solidFill>
                <a:latin typeface="Pretendard"/>
                <a:ea typeface="Pretendard"/>
                <a:cs typeface="Pretendard"/>
              </a:defRPr>
            </a:pPr>
            <a:r>
              <a:rPr sz="1650" b="1">
                <a:solidFill>
                  <a:srgbClr val="11A67A"/>
                </a:solidFill>
                <a:latin typeface="Pretendard"/>
                <a:ea typeface="Pretendard"/>
                <a:cs typeface="Pretendard"/>
              </a:rPr>
              <a:t>Apps / Workflows</a:t>
            </a:r>
          </a:p>
        </p:txBody>
      </p:sp>
      <p:sp>
        <p:nvSpPr>
          <p:cNvPr id="26" name="stack-convert">
            <a:extLst xmlns:a="http://schemas.openxmlformats.org/drawingml/2006/main">
              <a:ext uri="{FF2B5EF4-FFF2-40B4-BE49-F238E27FC236}">
                <a16:creationId xmlns:a16="http://schemas.microsoft.com/office/drawing/2014/main" id="{0C2B91AA-AA3E-427E-B7BF-6040753FB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695825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1425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지능을 업무 가치로</a:t>
            </a:r>
          </a:p>
        </p:txBody>
      </p:sp>
      <p:sp>
        <p:nvSpPr>
          <p:cNvPr id="27" name="stack-risk">
            <a:extLst xmlns:a="http://schemas.openxmlformats.org/drawingml/2006/main">
              <a:ext uri="{FF2B5EF4-FFF2-40B4-BE49-F238E27FC236}">
                <a16:creationId xmlns:a16="http://schemas.microsoft.com/office/drawing/2014/main" id="{1A9BC0E0-690D-40EF-84A1-47EAE9A7F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695825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도메인 데이터와 프로세스가 방어력</a:t>
            </a:r>
          </a:p>
        </p:txBody>
      </p:sp>
      <p:sp>
        <p:nvSpPr>
          <p:cNvPr id="28" name="bottom-message">
            <a:extLst xmlns:a="http://schemas.openxmlformats.org/drawingml/2006/main">
              <a:ext uri="{FF2B5EF4-FFF2-40B4-BE49-F238E27FC236}">
                <a16:creationId xmlns:a16="http://schemas.microsoft.com/office/drawing/2014/main" id="{9A7A31AE-3F3C-4BCA-B067-4F696A644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05450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D4D9F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0D4D9F"/>
                </a:solidFill>
                <a:latin typeface="Pretendard"/>
                <a:ea typeface="Pretendard"/>
                <a:cs typeface="Pretendard"/>
              </a:rPr>
              <a:t>신세계 I&amp;C의 방어력은 특정 모델이 아니라, 운영/ERP/클라우드/품질/준법 업무를 AI가 처리 가능한 루프로</a:t>
            </a:r>
          </a:p>
          <a:p xmlns:a="http://schemas.openxmlformats.org/drawingml/2006/main">
            <a:pPr algn="l">
              <a:defRPr sz="1575" b="1">
                <a:solidFill>
                  <a:srgbClr val="0D4D9F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0D4D9F"/>
                </a:solidFill>
                <a:latin typeface="Pretendard"/>
                <a:ea typeface="Pretendard"/>
                <a:cs typeface="Pretendard"/>
              </a:rPr>
              <a:t>바꾸는 능력입니다.</a:t>
            </a:r>
          </a:p>
        </p:txBody>
      </p:sp>
    </p:spTree>
    <p:extLst>
      <p:ext uri="{BB962C8B-B14F-4D97-AF65-F5344CB8AC3E}">
        <p14:creationId xmlns:p14="http://schemas.microsoft.com/office/powerpoint/2010/main" val="108267493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4F8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decor-ring-1">
            <a:extLst xmlns:a="http://schemas.openxmlformats.org/drawingml/2006/main">
              <a:ext uri="{FF2B5EF4-FFF2-40B4-BE49-F238E27FC236}">
                <a16:creationId xmlns:a16="http://schemas.microsoft.com/office/drawing/2014/main" id="{70CA945B-B49E-40B7-A170-8B0791CAD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609600" y="-800100"/>
            <a:ext cx="3429000" cy="2095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BFF"/>
            </a:solidFill>
            <a:prstDash val="solid"/>
          </a:ln>
        </p:spPr>
      </p:sp>
      <p:sp>
        <p:nvSpPr>
          <p:cNvPr id="2" name="decor-ring-2">
            <a:extLst xmlns:a="http://schemas.openxmlformats.org/drawingml/2006/main">
              <a:ext uri="{FF2B5EF4-FFF2-40B4-BE49-F238E27FC236}">
                <a16:creationId xmlns:a16="http://schemas.microsoft.com/office/drawing/2014/main" id="{A92E4344-1614-412B-BD85-C7907B563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28600" y="-895350"/>
            <a:ext cx="2762250" cy="2095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BFF"/>
            </a:solidFill>
            <a:prstDash val="solid"/>
          </a:ln>
        </p:spPr>
      </p:sp>
      <p:sp>
        <p:nvSpPr>
          <p:cNvPr id="3" name="decor-orb-1">
            <a:extLst xmlns:a="http://schemas.openxmlformats.org/drawingml/2006/main">
              <a:ext uri="{FF2B5EF4-FFF2-40B4-BE49-F238E27FC236}">
                <a16:creationId xmlns:a16="http://schemas.microsoft.com/office/drawing/2014/main" id="{EF7C7044-3970-478C-8F21-52A1C0909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838700"/>
            <a:ext cx="333375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E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decor-orb-2">
            <a:extLst xmlns:a="http://schemas.openxmlformats.org/drawingml/2006/main">
              <a:ext uri="{FF2B5EF4-FFF2-40B4-BE49-F238E27FC236}">
                <a16:creationId xmlns:a16="http://schemas.microsoft.com/office/drawing/2014/main" id="{A63EE315-4126-4075-9841-BFA42E4EF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5219700"/>
            <a:ext cx="2952750" cy="2190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6D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itle-bar">
            <a:extLst xmlns:a="http://schemas.openxmlformats.org/drawingml/2006/main">
              <a:ext uri="{FF2B5EF4-FFF2-40B4-BE49-F238E27FC236}">
                <a16:creationId xmlns:a16="http://schemas.microsoft.com/office/drawing/2014/main" id="{B5961B67-DE10-4B0D-A023-01B63E408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90550"/>
            <a:ext cx="6667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kicker">
            <a:extLst xmlns:a="http://schemas.openxmlformats.org/drawingml/2006/main">
              <a:ext uri="{FF2B5EF4-FFF2-40B4-BE49-F238E27FC236}">
                <a16:creationId xmlns:a16="http://schemas.microsoft.com/office/drawing/2014/main" id="{21DAA349-AEC6-40B0-B315-AA26FBD32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F80ED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2F80ED"/>
                </a:solidFill>
                <a:latin typeface="Pretendard"/>
                <a:ea typeface="Pretendard"/>
                <a:cs typeface="Pretendard"/>
              </a:rPr>
              <a:t>FOR SHINSEGAE I&amp;C</a:t>
            </a:r>
          </a:p>
        </p:txBody>
      </p:sp>
      <p:sp>
        <p:nvSpPr>
          <p:cNvPr id="7" name="title">
            <a:extLst xmlns:a="http://schemas.openxmlformats.org/drawingml/2006/main">
              <a:ext uri="{FF2B5EF4-FFF2-40B4-BE49-F238E27FC236}">
                <a16:creationId xmlns:a16="http://schemas.microsoft.com/office/drawing/2014/main" id="{DE54FECE-CC25-423F-826B-FEDB1D1B2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9906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2700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AX 과제는 ‘모델 테스트’가 아니라 업무 처리 방식 재설계입니다.</a:t>
            </a:r>
          </a:p>
        </p:txBody>
      </p:sp>
      <p:sp>
        <p:nvSpPr>
          <p:cNvPr id="8" name="subtitle">
            <a:extLst xmlns:a="http://schemas.openxmlformats.org/drawingml/2006/main">
              <a:ext uri="{FF2B5EF4-FFF2-40B4-BE49-F238E27FC236}">
                <a16:creationId xmlns:a16="http://schemas.microsoft.com/office/drawing/2014/main" id="{828027F2-8C1A-4FF8-A171-772FD2039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990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각 팀은 본인 조직의 반복 업무를 안전한 샘플과 검증 기준이 있는 Agent/보조 도구로 바꾸는 데 집중합니다.</a:t>
            </a:r>
          </a:p>
        </p:txBody>
      </p:sp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0aae6530f7400e"/>
          <a:stretch xmlns:a="http://schemas.openxmlformats.org/drawingml/2006/main"/>
        </p:blipFill>
        <p:spPr>
          <a:xfrm xmlns:a="http://schemas.openxmlformats.org/drawingml/2006/main">
            <a:off x="10668000" y="269137"/>
            <a:ext cx="1257300" cy="204677"/>
          </a:xfrm>
          <a:prstGeom xmlns:a="http://schemas.openxmlformats.org/drawingml/2006/main" prst="rect">
            <a:avLst/>
          </a:prstGeom>
        </p:spPr>
      </p:pic>
      <p:sp>
        <p:nvSpPr>
          <p:cNvPr id="10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EA7E6103-621C-4D44-A383-18D62CCB9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800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75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출처: Exponential View, The State of the AI Economy, 2026</a:t>
            </a:r>
          </a:p>
        </p:txBody>
      </p:sp>
      <p:sp>
        <p:nvSpPr>
          <p:cNvPr id="11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0EF27783-8A33-44ED-89FC-C26A902C5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436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13</a:t>
            </a:r>
          </a:p>
        </p:txBody>
      </p:sp>
      <p:sp>
        <p:nvSpPr>
          <p:cNvPr id="12" name="card-DOMAIN 1">
            <a:extLst xmlns:a="http://schemas.openxmlformats.org/drawingml/2006/main">
              <a:ext uri="{FF2B5EF4-FFF2-40B4-BE49-F238E27FC236}">
                <a16:creationId xmlns:a16="http://schemas.microsoft.com/office/drawing/2014/main" id="{4032174B-A14E-4749-BD2E-5B31EFB5D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47900"/>
            <a:ext cx="3429000" cy="1381125"/>
          </a:xfrm>
          <a:prstGeom xmlns:a="http://schemas.openxmlformats.org/drawingml/2006/main" prst="roundRect">
            <a:avLst>
              <a:gd name="adj" fmla="val 124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4F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card-accent">
            <a:extLst xmlns:a="http://schemas.openxmlformats.org/drawingml/2006/main">
              <a:ext uri="{FF2B5EF4-FFF2-40B4-BE49-F238E27FC236}">
                <a16:creationId xmlns:a16="http://schemas.microsoft.com/office/drawing/2014/main" id="{5EFF3A22-7475-4F3C-A3B8-FA1AA02BF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47900"/>
            <a:ext cx="762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card-label">
            <a:extLst xmlns:a="http://schemas.openxmlformats.org/drawingml/2006/main">
              <a:ext uri="{FF2B5EF4-FFF2-40B4-BE49-F238E27FC236}">
                <a16:creationId xmlns:a16="http://schemas.microsoft.com/office/drawing/2014/main" id="{7365D3EE-2B65-4954-A122-8A9C5AC8A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38400"/>
            <a:ext cx="2971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F80ED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2F80ED"/>
                </a:solidFill>
                <a:latin typeface="Pretendard"/>
                <a:ea typeface="Pretendard"/>
                <a:cs typeface="Pretendard"/>
              </a:rPr>
              <a:t>DOMAIN 1</a:t>
            </a:r>
          </a:p>
        </p:txBody>
      </p:sp>
      <p:sp>
        <p:nvSpPr>
          <p:cNvPr id="15" name="card-title">
            <a:extLst xmlns:a="http://schemas.openxmlformats.org/drawingml/2006/main">
              <a:ext uri="{FF2B5EF4-FFF2-40B4-BE49-F238E27FC236}">
                <a16:creationId xmlns:a16="http://schemas.microsoft.com/office/drawing/2014/main" id="{052A257F-7F0D-493B-8626-D272805D2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43200"/>
            <a:ext cx="297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1800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SM / ERP</a:t>
            </a:r>
          </a:p>
        </p:txBody>
      </p:sp>
      <p:sp>
        <p:nvSpPr>
          <p:cNvPr id="16" name="card-body">
            <a:extLst xmlns:a="http://schemas.openxmlformats.org/drawingml/2006/main">
              <a:ext uri="{FF2B5EF4-FFF2-40B4-BE49-F238E27FC236}">
                <a16:creationId xmlns:a16="http://schemas.microsoft.com/office/drawing/2014/main" id="{0C221106-0EDA-4A56-A611-26196AF89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76600"/>
            <a:ext cx="2971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요청 분류, 변경 영향 검토, 보고 초안</a:t>
            </a:r>
          </a:p>
        </p:txBody>
      </p:sp>
      <p:sp>
        <p:nvSpPr>
          <p:cNvPr id="17" name="card-DOMAIN 2">
            <a:extLst xmlns:a="http://schemas.openxmlformats.org/drawingml/2006/main">
              <a:ext uri="{FF2B5EF4-FFF2-40B4-BE49-F238E27FC236}">
                <a16:creationId xmlns:a16="http://schemas.microsoft.com/office/drawing/2014/main" id="{574AE3D5-B979-47A3-A212-A1D4CE668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247900"/>
            <a:ext cx="3429000" cy="1381125"/>
          </a:xfrm>
          <a:prstGeom xmlns:a="http://schemas.openxmlformats.org/drawingml/2006/main" prst="roundRect">
            <a:avLst>
              <a:gd name="adj" fmla="val 124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4F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8" name="card-accent">
            <a:extLst xmlns:a="http://schemas.openxmlformats.org/drawingml/2006/main">
              <a:ext uri="{FF2B5EF4-FFF2-40B4-BE49-F238E27FC236}">
                <a16:creationId xmlns:a16="http://schemas.microsoft.com/office/drawing/2014/main" id="{BC008A7E-AD08-41A9-A541-D656BDB50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247900"/>
            <a:ext cx="762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A6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card-label">
            <a:extLst xmlns:a="http://schemas.openxmlformats.org/drawingml/2006/main">
              <a:ext uri="{FF2B5EF4-FFF2-40B4-BE49-F238E27FC236}">
                <a16:creationId xmlns:a16="http://schemas.microsoft.com/office/drawing/2014/main" id="{3468E670-807C-4A7A-9F65-96F4C3CBF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438400"/>
            <a:ext cx="2971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A67A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11A67A"/>
                </a:solidFill>
                <a:latin typeface="Pretendard"/>
                <a:ea typeface="Pretendard"/>
                <a:cs typeface="Pretendard"/>
              </a:rPr>
              <a:t>DOMAIN 2</a:t>
            </a:r>
          </a:p>
        </p:txBody>
      </p:sp>
      <p:sp>
        <p:nvSpPr>
          <p:cNvPr id="20" name="card-title">
            <a:extLst xmlns:a="http://schemas.openxmlformats.org/drawingml/2006/main">
              <a:ext uri="{FF2B5EF4-FFF2-40B4-BE49-F238E27FC236}">
                <a16:creationId xmlns:a16="http://schemas.microsoft.com/office/drawing/2014/main" id="{6222D7C5-D30E-47D8-84AC-B1184DF13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743200"/>
            <a:ext cx="297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1800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Cloud / Infra</a:t>
            </a:r>
          </a:p>
        </p:txBody>
      </p:sp>
      <p:sp>
        <p:nvSpPr>
          <p:cNvPr id="21" name="card-body">
            <a:extLst xmlns:a="http://schemas.openxmlformats.org/drawingml/2006/main">
              <a:ext uri="{FF2B5EF4-FFF2-40B4-BE49-F238E27FC236}">
                <a16:creationId xmlns:a16="http://schemas.microsoft.com/office/drawing/2014/main" id="{A7D38662-5A23-4819-BE90-531E2D3C1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276600"/>
            <a:ext cx="2971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장애 로그 요약, 운영 체크리스트,</a:t>
            </a:r>
          </a:p>
          <a:p xmlns:a="http://schemas.openxmlformats.org/drawingml/2006/main">
            <a:pPr algn="l">
              <a:defRPr sz="1275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RCA 초안</a:t>
            </a:r>
          </a:p>
        </p:txBody>
      </p:sp>
      <p:sp>
        <p:nvSpPr>
          <p:cNvPr id="22" name="card-DOMAIN 3">
            <a:extLst xmlns:a="http://schemas.openxmlformats.org/drawingml/2006/main">
              <a:ext uri="{FF2B5EF4-FFF2-40B4-BE49-F238E27FC236}">
                <a16:creationId xmlns:a16="http://schemas.microsoft.com/office/drawing/2014/main" id="{3A5B5068-4B35-463F-8485-3DB60E08B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247900"/>
            <a:ext cx="3429000" cy="1381125"/>
          </a:xfrm>
          <a:prstGeom xmlns:a="http://schemas.openxmlformats.org/drawingml/2006/main" prst="roundRect">
            <a:avLst>
              <a:gd name="adj" fmla="val 124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4F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3" name="card-accent">
            <a:extLst xmlns:a="http://schemas.openxmlformats.org/drawingml/2006/main">
              <a:ext uri="{FF2B5EF4-FFF2-40B4-BE49-F238E27FC236}">
                <a16:creationId xmlns:a16="http://schemas.microsoft.com/office/drawing/2014/main" id="{9EE36663-75B4-468A-B12F-88E597FFB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247900"/>
            <a:ext cx="762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7C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card-label">
            <a:extLst xmlns:a="http://schemas.openxmlformats.org/drawingml/2006/main">
              <a:ext uri="{FF2B5EF4-FFF2-40B4-BE49-F238E27FC236}">
                <a16:creationId xmlns:a16="http://schemas.microsoft.com/office/drawing/2014/main" id="{77FB1B6B-A14C-4524-AF70-C70A55FB3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438400"/>
            <a:ext cx="2971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B7CFF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6B7CFF"/>
                </a:solidFill>
                <a:latin typeface="Pretendard"/>
                <a:ea typeface="Pretendard"/>
                <a:cs typeface="Pretendard"/>
              </a:rPr>
              <a:t>DOMAIN 3</a:t>
            </a:r>
          </a:p>
        </p:txBody>
      </p:sp>
      <p:sp>
        <p:nvSpPr>
          <p:cNvPr id="25" name="card-title">
            <a:extLst xmlns:a="http://schemas.openxmlformats.org/drawingml/2006/main">
              <a:ext uri="{FF2B5EF4-FFF2-40B4-BE49-F238E27FC236}">
                <a16:creationId xmlns:a16="http://schemas.microsoft.com/office/drawing/2014/main" id="{F1BC16AC-F16D-4139-B81D-20DD6359D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743200"/>
            <a:ext cx="297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1800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AX / R&amp;D</a:t>
            </a:r>
          </a:p>
        </p:txBody>
      </p:sp>
      <p:sp>
        <p:nvSpPr>
          <p:cNvPr id="26" name="card-body">
            <a:extLst xmlns:a="http://schemas.openxmlformats.org/drawingml/2006/main">
              <a:ext uri="{FF2B5EF4-FFF2-40B4-BE49-F238E27FC236}">
                <a16:creationId xmlns:a16="http://schemas.microsoft.com/office/drawing/2014/main" id="{6A6BCFBB-0146-48E1-A6DA-CA41003F8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276600"/>
            <a:ext cx="2971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Agent 패턴, 품질 기준,</a:t>
            </a:r>
          </a:p>
          <a:p xmlns:a="http://schemas.openxmlformats.org/drawingml/2006/main">
            <a:pPr algn="l">
              <a:defRPr sz="1275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프롬프트/컨텍스트 설계</a:t>
            </a:r>
          </a:p>
        </p:txBody>
      </p:sp>
      <p:sp>
        <p:nvSpPr>
          <p:cNvPr id="27" name="card-DOMAIN 4">
            <a:extLst xmlns:a="http://schemas.openxmlformats.org/drawingml/2006/main">
              <a:ext uri="{FF2B5EF4-FFF2-40B4-BE49-F238E27FC236}">
                <a16:creationId xmlns:a16="http://schemas.microsoft.com/office/drawing/2014/main" id="{539AD4A2-2B27-4528-8EF9-7019CC540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867150"/>
            <a:ext cx="5334000" cy="1381125"/>
          </a:xfrm>
          <a:prstGeom xmlns:a="http://schemas.openxmlformats.org/drawingml/2006/main" prst="roundRect">
            <a:avLst>
              <a:gd name="adj" fmla="val 124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4F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8" name="card-accent">
            <a:extLst xmlns:a="http://schemas.openxmlformats.org/drawingml/2006/main">
              <a:ext uri="{FF2B5EF4-FFF2-40B4-BE49-F238E27FC236}">
                <a16:creationId xmlns:a16="http://schemas.microsoft.com/office/drawing/2014/main" id="{B7352FC7-266E-43BF-B976-27E948ED8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867150"/>
            <a:ext cx="762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4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card-label">
            <a:extLst xmlns:a="http://schemas.openxmlformats.org/drawingml/2006/main">
              <a:ext uri="{FF2B5EF4-FFF2-40B4-BE49-F238E27FC236}">
                <a16:creationId xmlns:a16="http://schemas.microsoft.com/office/drawing/2014/main" id="{7762AB49-D60E-4984-B196-EBCBF3679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57650"/>
            <a:ext cx="487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C400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FFC400"/>
                </a:solidFill>
                <a:latin typeface="Pretendard"/>
                <a:ea typeface="Pretendard"/>
                <a:cs typeface="Pretendard"/>
              </a:rPr>
              <a:t>DOMAIN 4</a:t>
            </a:r>
          </a:p>
        </p:txBody>
      </p:sp>
      <p:sp>
        <p:nvSpPr>
          <p:cNvPr id="30" name="card-title">
            <a:extLst xmlns:a="http://schemas.openxmlformats.org/drawingml/2006/main">
              <a:ext uri="{FF2B5EF4-FFF2-40B4-BE49-F238E27FC236}">
                <a16:creationId xmlns:a16="http://schemas.microsoft.com/office/drawing/2014/main" id="{36786536-7107-4F5B-9CE8-1414B9416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362450"/>
            <a:ext cx="4876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1800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Finance / Audit</a:t>
            </a:r>
          </a:p>
        </p:txBody>
      </p:sp>
      <p:sp>
        <p:nvSpPr>
          <p:cNvPr id="31" name="card-body">
            <a:extLst xmlns:a="http://schemas.openxmlformats.org/drawingml/2006/main">
              <a:ext uri="{FF2B5EF4-FFF2-40B4-BE49-F238E27FC236}">
                <a16:creationId xmlns:a16="http://schemas.microsoft.com/office/drawing/2014/main" id="{58A09221-EE42-4358-9001-CAEC6B834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895850"/>
            <a:ext cx="4876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검토 항목 추출, 증빙 체크, 리스크 요약</a:t>
            </a:r>
          </a:p>
        </p:txBody>
      </p:sp>
      <p:sp>
        <p:nvSpPr>
          <p:cNvPr id="32" name="card-DOMAIN 5">
            <a:extLst xmlns:a="http://schemas.openxmlformats.org/drawingml/2006/main">
              <a:ext uri="{FF2B5EF4-FFF2-40B4-BE49-F238E27FC236}">
                <a16:creationId xmlns:a16="http://schemas.microsoft.com/office/drawing/2014/main" id="{07220760-64F4-4CAA-9834-612B9A70D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867150"/>
            <a:ext cx="5334000" cy="1381125"/>
          </a:xfrm>
          <a:prstGeom xmlns:a="http://schemas.openxmlformats.org/drawingml/2006/main" prst="roundRect">
            <a:avLst>
              <a:gd name="adj" fmla="val 124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4F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3" name="card-accent">
            <a:extLst xmlns:a="http://schemas.openxmlformats.org/drawingml/2006/main">
              <a:ext uri="{FF2B5EF4-FFF2-40B4-BE49-F238E27FC236}">
                <a16:creationId xmlns:a16="http://schemas.microsoft.com/office/drawing/2014/main" id="{6FDC823E-23D7-43A8-8D70-475681FDA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867150"/>
            <a:ext cx="762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card-label">
            <a:extLst xmlns:a="http://schemas.openxmlformats.org/drawingml/2006/main">
              <a:ext uri="{FF2B5EF4-FFF2-40B4-BE49-F238E27FC236}">
                <a16:creationId xmlns:a16="http://schemas.microsoft.com/office/drawing/2014/main" id="{95CB3C6E-142D-42DF-BD24-4F4A25D7D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057650"/>
            <a:ext cx="487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DOMAIN 5</a:t>
            </a:r>
          </a:p>
        </p:txBody>
      </p:sp>
      <p:sp>
        <p:nvSpPr>
          <p:cNvPr id="35" name="card-title">
            <a:extLst xmlns:a="http://schemas.openxmlformats.org/drawingml/2006/main">
              <a:ext uri="{FF2B5EF4-FFF2-40B4-BE49-F238E27FC236}">
                <a16:creationId xmlns:a16="http://schemas.microsoft.com/office/drawing/2014/main" id="{13C8195B-3D5D-43FC-B84F-44BEAA70B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362450"/>
            <a:ext cx="4876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1800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Quality / PM</a:t>
            </a:r>
          </a:p>
        </p:txBody>
      </p:sp>
      <p:sp>
        <p:nvSpPr>
          <p:cNvPr id="36" name="card-body">
            <a:extLst xmlns:a="http://schemas.openxmlformats.org/drawingml/2006/main">
              <a:ext uri="{FF2B5EF4-FFF2-40B4-BE49-F238E27FC236}">
                <a16:creationId xmlns:a16="http://schemas.microsoft.com/office/drawing/2014/main" id="{B6269FB0-FEF3-4D23-AE53-719776D97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895850"/>
            <a:ext cx="4876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테스트 케이스, 이슈 분류, 프로젝트 회고</a:t>
            </a:r>
          </a:p>
        </p:txBody>
      </p:sp>
    </p:spTree>
    <p:extLst>
      <p:ext uri="{BB962C8B-B14F-4D97-AF65-F5344CB8AC3E}">
        <p14:creationId xmlns:p14="http://schemas.microsoft.com/office/powerpoint/2010/main" val="143921129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4F8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decor-ring-1">
            <a:extLst xmlns:a="http://schemas.openxmlformats.org/drawingml/2006/main">
              <a:ext uri="{FF2B5EF4-FFF2-40B4-BE49-F238E27FC236}">
                <a16:creationId xmlns:a16="http://schemas.microsoft.com/office/drawing/2014/main" id="{ADC9DE3C-5CC1-4958-BDF9-463E1BB6E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609600" y="-800100"/>
            <a:ext cx="3429000" cy="2095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BFF"/>
            </a:solidFill>
            <a:prstDash val="solid"/>
          </a:ln>
        </p:spPr>
      </p:sp>
      <p:sp>
        <p:nvSpPr>
          <p:cNvPr id="2" name="decor-ring-2">
            <a:extLst xmlns:a="http://schemas.openxmlformats.org/drawingml/2006/main">
              <a:ext uri="{FF2B5EF4-FFF2-40B4-BE49-F238E27FC236}">
                <a16:creationId xmlns:a16="http://schemas.microsoft.com/office/drawing/2014/main" id="{7190B6DE-1309-4E4F-90CC-758EC57D1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28600" y="-895350"/>
            <a:ext cx="2762250" cy="2095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BFF"/>
            </a:solidFill>
            <a:prstDash val="solid"/>
          </a:ln>
        </p:spPr>
      </p:sp>
      <p:sp>
        <p:nvSpPr>
          <p:cNvPr id="3" name="decor-orb-1">
            <a:extLst xmlns:a="http://schemas.openxmlformats.org/drawingml/2006/main">
              <a:ext uri="{FF2B5EF4-FFF2-40B4-BE49-F238E27FC236}">
                <a16:creationId xmlns:a16="http://schemas.microsoft.com/office/drawing/2014/main" id="{64922AE5-C5C3-4D7D-A9FC-6DF87E39E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838700"/>
            <a:ext cx="333375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E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decor-orb-2">
            <a:extLst xmlns:a="http://schemas.openxmlformats.org/drawingml/2006/main">
              <a:ext uri="{FF2B5EF4-FFF2-40B4-BE49-F238E27FC236}">
                <a16:creationId xmlns:a16="http://schemas.microsoft.com/office/drawing/2014/main" id="{307887C9-A4E6-47B4-9C0E-6A8335559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5219700"/>
            <a:ext cx="2952750" cy="2190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6D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itle-bar">
            <a:extLst xmlns:a="http://schemas.openxmlformats.org/drawingml/2006/main">
              <a:ext uri="{FF2B5EF4-FFF2-40B4-BE49-F238E27FC236}">
                <a16:creationId xmlns:a16="http://schemas.microsoft.com/office/drawing/2014/main" id="{91E7AA96-8C0A-4BC1-945F-E6C070B5A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90550"/>
            <a:ext cx="6667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kicker">
            <a:extLst xmlns:a="http://schemas.openxmlformats.org/drawingml/2006/main">
              <a:ext uri="{FF2B5EF4-FFF2-40B4-BE49-F238E27FC236}">
                <a16:creationId xmlns:a16="http://schemas.microsoft.com/office/drawing/2014/main" id="{B3569D1A-54A5-40FC-8BB1-EB3183E94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F80ED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2F80ED"/>
                </a:solidFill>
                <a:latin typeface="Pretendard"/>
                <a:ea typeface="Pretendard"/>
                <a:cs typeface="Pretendard"/>
              </a:rPr>
              <a:t>PROJECT PORTFOLIO</a:t>
            </a:r>
          </a:p>
        </p:txBody>
      </p:sp>
      <p:sp>
        <p:nvSpPr>
          <p:cNvPr id="7" name="title">
            <a:extLst xmlns:a="http://schemas.openxmlformats.org/drawingml/2006/main">
              <a:ext uri="{FF2B5EF4-FFF2-40B4-BE49-F238E27FC236}">
                <a16:creationId xmlns:a16="http://schemas.microsoft.com/office/drawing/2014/main" id="{ADAA33E4-C41F-461E-A943-5CE4BBA00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9906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2700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첫 AX 프로젝트는 반복성과 검증 가능성이 높은 곳에서 시작합니다.</a:t>
            </a:r>
          </a:p>
        </p:txBody>
      </p:sp>
      <p:sp>
        <p:nvSpPr>
          <p:cNvPr id="8" name="subtitle">
            <a:extLst xmlns:a="http://schemas.openxmlformats.org/drawingml/2006/main">
              <a:ext uri="{FF2B5EF4-FFF2-40B4-BE49-F238E27FC236}">
                <a16:creationId xmlns:a16="http://schemas.microsoft.com/office/drawing/2014/main" id="{D32BBA76-641B-4643-98A1-181888309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990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위험도가 높고 자료 준비가 어려운 과제는 8월 데모보다 후속 과제로 남깁니다.</a:t>
            </a:r>
          </a:p>
        </p:txBody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ade91739c045c7"/>
          <a:stretch xmlns:a="http://schemas.openxmlformats.org/drawingml/2006/main"/>
        </p:blipFill>
        <p:spPr>
          <a:xfrm xmlns:a="http://schemas.openxmlformats.org/drawingml/2006/main">
            <a:off x="10668000" y="269137"/>
            <a:ext cx="1257300" cy="204677"/>
          </a:xfrm>
          <a:prstGeom xmlns:a="http://schemas.openxmlformats.org/drawingml/2006/main" prst="rect">
            <a:avLst/>
          </a:prstGeom>
        </p:spPr>
      </p:pic>
      <p:sp>
        <p:nvSpPr>
          <p:cNvPr id="10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7E733372-C314-40ED-90D8-C42E52C60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800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75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출처: Exponential View, The State of the AI Economy, 2026</a:t>
            </a:r>
          </a:p>
        </p:txBody>
      </p:sp>
      <p:sp>
        <p:nvSpPr>
          <p:cNvPr id="11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13B79724-E411-4B3B-B25E-9982EEE8D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436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14</a:t>
            </a:r>
          </a:p>
        </p:txBody>
      </p:sp>
      <p:sp>
        <p:nvSpPr>
          <p:cNvPr id="12" name="matrix-frame">
            <a:extLst xmlns:a="http://schemas.openxmlformats.org/drawingml/2006/main">
              <a:ext uri="{FF2B5EF4-FFF2-40B4-BE49-F238E27FC236}">
                <a16:creationId xmlns:a16="http://schemas.microsoft.com/office/drawing/2014/main" id="{5E77422C-5E07-454A-81CB-83081F9F3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266950"/>
            <a:ext cx="78105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4F7"/>
            </a:solidFill>
            <a:prstDash val="solid"/>
          </a:ln>
        </p:spPr>
      </p:sp>
      <p:sp>
        <p:nvSpPr>
          <p:cNvPr id="13" name="matrix-v">
            <a:extLst xmlns:a="http://schemas.openxmlformats.org/drawingml/2006/main">
              <a:ext uri="{FF2B5EF4-FFF2-40B4-BE49-F238E27FC236}">
                <a16:creationId xmlns:a16="http://schemas.microsoft.com/office/drawing/2014/main" id="{F42C9879-ABAB-45F3-88A3-39B8409AE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266950"/>
            <a:ext cx="9525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matrix-h">
            <a:extLst xmlns:a="http://schemas.openxmlformats.org/drawingml/2006/main">
              <a:ext uri="{FF2B5EF4-FFF2-40B4-BE49-F238E27FC236}">
                <a16:creationId xmlns:a16="http://schemas.microsoft.com/office/drawing/2014/main" id="{CCC00B57-E4FA-48A7-BEB3-26FCB56EF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981450"/>
            <a:ext cx="781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axis-top">
            <a:extLst xmlns:a="http://schemas.openxmlformats.org/drawingml/2006/main">
              <a:ext uri="{FF2B5EF4-FFF2-40B4-BE49-F238E27FC236}">
                <a16:creationId xmlns:a16="http://schemas.microsoft.com/office/drawing/2014/main" id="{25AE0B76-B64D-4689-91DC-C513324A6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9431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F80ED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2F80ED"/>
                </a:solidFill>
                <a:latin typeface="Pretendard"/>
                <a:ea typeface="Pretendard"/>
                <a:cs typeface="Pretendard"/>
              </a:rPr>
              <a:t>반복 빈도 높음</a:t>
            </a:r>
          </a:p>
        </p:txBody>
      </p:sp>
      <p:sp>
        <p:nvSpPr>
          <p:cNvPr id="16" name="axis-right">
            <a:extLst xmlns:a="http://schemas.openxmlformats.org/drawingml/2006/main">
              <a:ext uri="{FF2B5EF4-FFF2-40B4-BE49-F238E27FC236}">
                <a16:creationId xmlns:a16="http://schemas.microsoft.com/office/drawing/2014/main" id="{7DC11AEC-F605-422C-A3CA-9BECFB391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6957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F4444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EF4444"/>
                </a:solidFill>
                <a:latin typeface="Pretendard"/>
                <a:ea typeface="Pretendard"/>
                <a:cs typeface="Pretendard"/>
              </a:rPr>
              <a:t>검증/보안 위험 높음</a:t>
            </a:r>
          </a:p>
        </p:txBody>
      </p:sp>
      <p:sp>
        <p:nvSpPr>
          <p:cNvPr id="17" name="start">
            <a:extLst xmlns:a="http://schemas.openxmlformats.org/drawingml/2006/main">
              <a:ext uri="{FF2B5EF4-FFF2-40B4-BE49-F238E27FC236}">
                <a16:creationId xmlns:a16="http://schemas.microsoft.com/office/drawing/2014/main" id="{8B4FC344-0579-49B2-A6AF-EDD23F658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2590800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A67A"/>
                </a:solidFill>
                <a:latin typeface="Pretendard"/>
                <a:ea typeface="Pretendard"/>
                <a:cs typeface="Pretendard"/>
              </a:defRPr>
            </a:pPr>
            <a:r>
              <a:rPr sz="2100" b="1">
                <a:solidFill>
                  <a:srgbClr val="11A67A"/>
                </a:solidFill>
                <a:latin typeface="Pretendard"/>
                <a:ea typeface="Pretendard"/>
                <a:cs typeface="Pretendard"/>
              </a:rPr>
              <a:t>START</a:t>
            </a:r>
          </a:p>
        </p:txBody>
      </p:sp>
      <p:sp>
        <p:nvSpPr>
          <p:cNvPr id="18" name="q1">
            <a:extLst xmlns:a="http://schemas.openxmlformats.org/drawingml/2006/main">
              <a:ext uri="{FF2B5EF4-FFF2-40B4-BE49-F238E27FC236}">
                <a16:creationId xmlns:a16="http://schemas.microsoft.com/office/drawing/2014/main" id="{8DD82575-8F1B-4438-84AB-109FEA15B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3048000"/>
            <a:ext cx="247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1725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요청 분류</a:t>
            </a:r>
          </a:p>
          <a:p xmlns:a="http://schemas.openxmlformats.org/drawingml/2006/main">
            <a:pPr algn="l">
              <a:defRPr sz="1725" b="1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1725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보고 초안</a:t>
            </a:r>
          </a:p>
          <a:p xmlns:a="http://schemas.openxmlformats.org/drawingml/2006/main">
            <a:pPr algn="l">
              <a:defRPr sz="1725" b="1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1725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운영 체크</a:t>
            </a:r>
          </a:p>
        </p:txBody>
      </p:sp>
      <p:sp>
        <p:nvSpPr>
          <p:cNvPr id="19" name="q2-title">
            <a:extLst xmlns:a="http://schemas.openxmlformats.org/drawingml/2006/main">
              <a:ext uri="{FF2B5EF4-FFF2-40B4-BE49-F238E27FC236}">
                <a16:creationId xmlns:a16="http://schemas.microsoft.com/office/drawing/2014/main" id="{E37353B8-F93B-4ABE-A7A9-5F068A925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59080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59E0B"/>
                </a:solidFill>
                <a:latin typeface="Pretendard"/>
                <a:ea typeface="Pretendard"/>
                <a:cs typeface="Pretendard"/>
              </a:defRPr>
            </a:pPr>
            <a:r>
              <a:rPr sz="1950" b="1">
                <a:solidFill>
                  <a:srgbClr val="F59E0B"/>
                </a:solidFill>
                <a:latin typeface="Pretendard"/>
                <a:ea typeface="Pretendard"/>
                <a:cs typeface="Pretendard"/>
              </a:rPr>
              <a:t>멘토링 필요</a:t>
            </a:r>
          </a:p>
        </p:txBody>
      </p:sp>
      <p:sp>
        <p:nvSpPr>
          <p:cNvPr id="20" name="q2">
            <a:extLst xmlns:a="http://schemas.openxmlformats.org/drawingml/2006/main">
              <a:ext uri="{FF2B5EF4-FFF2-40B4-BE49-F238E27FC236}">
                <a16:creationId xmlns:a16="http://schemas.microsoft.com/office/drawing/2014/main" id="{B97A8BF9-9981-4C20-A7E5-6EC6F0CD1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105150"/>
            <a:ext cx="247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준법·보안 검토</a:t>
            </a:r>
          </a:p>
          <a:p xmlns:a="http://schemas.openxmlformats.org/drawingml/2006/main">
            <a:pPr algn="l">
              <a:defRPr sz="1650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고객 영향 업무</a:t>
            </a:r>
          </a:p>
        </p:txBody>
      </p:sp>
      <p:sp>
        <p:nvSpPr>
          <p:cNvPr id="21" name="q3-title">
            <a:extLst xmlns:a="http://schemas.openxmlformats.org/drawingml/2006/main">
              <a:ext uri="{FF2B5EF4-FFF2-40B4-BE49-F238E27FC236}">
                <a16:creationId xmlns:a16="http://schemas.microsoft.com/office/drawing/2014/main" id="{F7BCA2A1-C51A-43B6-9E94-D6FD47F61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4457700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나중</a:t>
            </a:r>
          </a:p>
        </p:txBody>
      </p:sp>
      <p:sp>
        <p:nvSpPr>
          <p:cNvPr id="22" name="q3">
            <a:extLst xmlns:a="http://schemas.openxmlformats.org/drawingml/2006/main">
              <a:ext uri="{FF2B5EF4-FFF2-40B4-BE49-F238E27FC236}">
                <a16:creationId xmlns:a16="http://schemas.microsoft.com/office/drawing/2014/main" id="{B7FCEFB3-0B03-4E81-AAB4-B3CAD4CD5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4953000"/>
            <a:ext cx="228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빈도가 낮은</a:t>
            </a:r>
          </a:p>
          <a:p xmlns:a="http://schemas.openxmlformats.org/drawingml/2006/main">
            <a:pPr algn="l">
              <a:defRPr sz="1650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일회성 분석</a:t>
            </a:r>
          </a:p>
        </p:txBody>
      </p:sp>
      <p:sp>
        <p:nvSpPr>
          <p:cNvPr id="23" name="q4-title">
            <a:extLst xmlns:a="http://schemas.openxmlformats.org/drawingml/2006/main">
              <a:ext uri="{FF2B5EF4-FFF2-40B4-BE49-F238E27FC236}">
                <a16:creationId xmlns:a16="http://schemas.microsoft.com/office/drawing/2014/main" id="{A8452D23-7684-4846-91A5-0023471F7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45770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EF4444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EF4444"/>
                </a:solidFill>
                <a:latin typeface="Pretendard"/>
                <a:ea typeface="Pretendard"/>
                <a:cs typeface="Pretendard"/>
              </a:rPr>
              <a:t>제외/후속</a:t>
            </a:r>
          </a:p>
        </p:txBody>
      </p:sp>
      <p:sp>
        <p:nvSpPr>
          <p:cNvPr id="24" name="q4">
            <a:extLst xmlns:a="http://schemas.openxmlformats.org/drawingml/2006/main">
              <a:ext uri="{FF2B5EF4-FFF2-40B4-BE49-F238E27FC236}">
                <a16:creationId xmlns:a16="http://schemas.microsoft.com/office/drawing/2014/main" id="{A7D7F358-1DDB-4F7B-B138-3633501B6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953000"/>
            <a:ext cx="247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실데이터 필요</a:t>
            </a:r>
          </a:p>
          <a:p xmlns:a="http://schemas.openxmlformats.org/drawingml/2006/main">
            <a:pPr algn="l">
              <a:defRPr sz="1650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승인 기준 불명확</a:t>
            </a:r>
          </a:p>
        </p:txBody>
      </p:sp>
    </p:spTree>
    <p:extLst>
      <p:ext uri="{BB962C8B-B14F-4D97-AF65-F5344CB8AC3E}">
        <p14:creationId xmlns:p14="http://schemas.microsoft.com/office/powerpoint/2010/main" val="147233293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4F8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decor-ring-1">
            <a:extLst xmlns:a="http://schemas.openxmlformats.org/drawingml/2006/main">
              <a:ext uri="{FF2B5EF4-FFF2-40B4-BE49-F238E27FC236}">
                <a16:creationId xmlns:a16="http://schemas.microsoft.com/office/drawing/2014/main" id="{79414328-0549-4BC9-B68E-5B12FBFA8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609600" y="-800100"/>
            <a:ext cx="3429000" cy="2095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BFF"/>
            </a:solidFill>
            <a:prstDash val="solid"/>
          </a:ln>
        </p:spPr>
      </p:sp>
      <p:sp>
        <p:nvSpPr>
          <p:cNvPr id="2" name="decor-ring-2">
            <a:extLst xmlns:a="http://schemas.openxmlformats.org/drawingml/2006/main">
              <a:ext uri="{FF2B5EF4-FFF2-40B4-BE49-F238E27FC236}">
                <a16:creationId xmlns:a16="http://schemas.microsoft.com/office/drawing/2014/main" id="{6B49BBFF-1021-4E11-A661-B63879760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28600" y="-895350"/>
            <a:ext cx="2762250" cy="2095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BFF"/>
            </a:solidFill>
            <a:prstDash val="solid"/>
          </a:ln>
        </p:spPr>
      </p:sp>
      <p:sp>
        <p:nvSpPr>
          <p:cNvPr id="3" name="decor-orb-1">
            <a:extLst xmlns:a="http://schemas.openxmlformats.org/drawingml/2006/main">
              <a:ext uri="{FF2B5EF4-FFF2-40B4-BE49-F238E27FC236}">
                <a16:creationId xmlns:a16="http://schemas.microsoft.com/office/drawing/2014/main" id="{4AA5B7F3-434A-4225-ACE9-60B38276B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838700"/>
            <a:ext cx="333375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E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decor-orb-2">
            <a:extLst xmlns:a="http://schemas.openxmlformats.org/drawingml/2006/main">
              <a:ext uri="{FF2B5EF4-FFF2-40B4-BE49-F238E27FC236}">
                <a16:creationId xmlns:a16="http://schemas.microsoft.com/office/drawing/2014/main" id="{B7D0B9A4-788A-4BE7-B78F-33F07F686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5219700"/>
            <a:ext cx="2952750" cy="2190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6D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itle-bar">
            <a:extLst xmlns:a="http://schemas.openxmlformats.org/drawingml/2006/main">
              <a:ext uri="{FF2B5EF4-FFF2-40B4-BE49-F238E27FC236}">
                <a16:creationId xmlns:a16="http://schemas.microsoft.com/office/drawing/2014/main" id="{25E4EC4B-84A1-4040-BCF6-1C69B6B56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90550"/>
            <a:ext cx="6667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kicker">
            <a:extLst xmlns:a="http://schemas.openxmlformats.org/drawingml/2006/main">
              <a:ext uri="{FF2B5EF4-FFF2-40B4-BE49-F238E27FC236}">
                <a16:creationId xmlns:a16="http://schemas.microsoft.com/office/drawing/2014/main" id="{C8AE895E-49E8-4AF0-8796-E5A87A112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F80ED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2F80ED"/>
                </a:solidFill>
                <a:latin typeface="Pretendard"/>
                <a:ea typeface="Pretendard"/>
                <a:cs typeface="Pretendard"/>
              </a:rPr>
              <a:t>SELECTION FILTER</a:t>
            </a:r>
          </a:p>
        </p:txBody>
      </p:sp>
      <p:sp>
        <p:nvSpPr>
          <p:cNvPr id="7" name="title">
            <a:extLst xmlns:a="http://schemas.openxmlformats.org/drawingml/2006/main">
              <a:ext uri="{FF2B5EF4-FFF2-40B4-BE49-F238E27FC236}">
                <a16:creationId xmlns:a16="http://schemas.microsoft.com/office/drawing/2014/main" id="{F00A138C-69D0-4983-9786-B11478FA4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9906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2700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오늘 팀별 과제는 다섯 가지 질문을 통과해야 합니다.</a:t>
            </a:r>
          </a:p>
        </p:txBody>
      </p:sp>
      <p:sp>
        <p:nvSpPr>
          <p:cNvPr id="8" name="subtitle">
            <a:extLst xmlns:a="http://schemas.openxmlformats.org/drawingml/2006/main">
              <a:ext uri="{FF2B5EF4-FFF2-40B4-BE49-F238E27FC236}">
                <a16:creationId xmlns:a16="http://schemas.microsoft.com/office/drawing/2014/main" id="{5196060F-EA45-4243-8F41-ECE1D6CDD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990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시장 수치가 아니라 우리 업무에서 작동하는 산출물을 만들 수 있는지가 기준입니다.</a:t>
            </a:r>
          </a:p>
        </p:txBody>
      </p:sp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781df112bf42c6"/>
          <a:stretch xmlns:a="http://schemas.openxmlformats.org/drawingml/2006/main"/>
        </p:blipFill>
        <p:spPr>
          <a:xfrm xmlns:a="http://schemas.openxmlformats.org/drawingml/2006/main">
            <a:off x="10668000" y="269137"/>
            <a:ext cx="1257300" cy="204677"/>
          </a:xfrm>
          <a:prstGeom xmlns:a="http://schemas.openxmlformats.org/drawingml/2006/main" prst="rect">
            <a:avLst/>
          </a:prstGeom>
        </p:spPr>
      </p:pic>
      <p:sp>
        <p:nvSpPr>
          <p:cNvPr id="10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6D0AEF0A-C6D8-464B-ABE1-3A4C8FF77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800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75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출처: Exponential View, The State of the AI Economy, 2026</a:t>
            </a:r>
          </a:p>
        </p:txBody>
      </p:sp>
      <p:sp>
        <p:nvSpPr>
          <p:cNvPr id="11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683D7647-1B13-445E-9D07-31ABE06D3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436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15</a:t>
            </a:r>
          </a:p>
        </p:txBody>
      </p:sp>
      <p:sp>
        <p:nvSpPr>
          <p:cNvPr id="12" name="check-row">
            <a:extLst xmlns:a="http://schemas.openxmlformats.org/drawingml/2006/main">
              <a:ext uri="{FF2B5EF4-FFF2-40B4-BE49-F238E27FC236}">
                <a16:creationId xmlns:a16="http://schemas.microsoft.com/office/drawing/2014/main" id="{3F82EB45-904F-4601-93D2-90F0F0FE3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90750"/>
            <a:ext cx="93345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4F7"/>
            </a:solidFill>
            <a:prstDash val="solid"/>
          </a:ln>
        </p:spPr>
      </p:sp>
      <p:sp>
        <p:nvSpPr>
          <p:cNvPr id="13" name="check-dot">
            <a:extLst xmlns:a="http://schemas.openxmlformats.org/drawingml/2006/main">
              <a:ext uri="{FF2B5EF4-FFF2-40B4-BE49-F238E27FC236}">
                <a16:creationId xmlns:a16="http://schemas.microsoft.com/office/drawing/2014/main" id="{418CC3E8-25B1-4043-8C22-A491B556B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3241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check-title">
            <a:extLst xmlns:a="http://schemas.openxmlformats.org/drawingml/2006/main">
              <a:ext uri="{FF2B5EF4-FFF2-40B4-BE49-F238E27FC236}">
                <a16:creationId xmlns:a16="http://schemas.microsoft.com/office/drawing/2014/main" id="{E0D5462A-A60A-4032-BB17-807AC4CFB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2860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1650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현업성</a:t>
            </a:r>
          </a:p>
        </p:txBody>
      </p:sp>
      <p:sp>
        <p:nvSpPr>
          <p:cNvPr id="15" name="check-body">
            <a:extLst xmlns:a="http://schemas.openxmlformats.org/drawingml/2006/main">
              <a:ext uri="{FF2B5EF4-FFF2-40B4-BE49-F238E27FC236}">
                <a16:creationId xmlns:a16="http://schemas.microsoft.com/office/drawing/2014/main" id="{59E0A0EB-D93C-4A8E-9262-3DA3C2B15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305050"/>
            <a:ext cx="628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업무 시간이 줄거나 품질이 높아지는가?</a:t>
            </a:r>
          </a:p>
        </p:txBody>
      </p:sp>
      <p:sp>
        <p:nvSpPr>
          <p:cNvPr id="16" name="check-row">
            <a:extLst xmlns:a="http://schemas.openxmlformats.org/drawingml/2006/main">
              <a:ext uri="{FF2B5EF4-FFF2-40B4-BE49-F238E27FC236}">
                <a16:creationId xmlns:a16="http://schemas.microsoft.com/office/drawing/2014/main" id="{41964567-65F4-43BA-94E1-AED30AD3B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76550"/>
            <a:ext cx="93345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4F7"/>
            </a:solidFill>
            <a:prstDash val="solid"/>
          </a:ln>
        </p:spPr>
      </p:sp>
      <p:sp>
        <p:nvSpPr>
          <p:cNvPr id="17" name="check-dot">
            <a:extLst xmlns:a="http://schemas.openxmlformats.org/drawingml/2006/main">
              <a:ext uri="{FF2B5EF4-FFF2-40B4-BE49-F238E27FC236}">
                <a16:creationId xmlns:a16="http://schemas.microsoft.com/office/drawing/2014/main" id="{6C407901-D2C2-49AB-B8F3-6873F4D0C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0099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A6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check-title">
            <a:extLst xmlns:a="http://schemas.openxmlformats.org/drawingml/2006/main">
              <a:ext uri="{FF2B5EF4-FFF2-40B4-BE49-F238E27FC236}">
                <a16:creationId xmlns:a16="http://schemas.microsoft.com/office/drawing/2014/main" id="{F0989AC3-4DF3-4336-B8B3-4F3D7521D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9718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1650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자료성</a:t>
            </a:r>
          </a:p>
        </p:txBody>
      </p:sp>
      <p:sp>
        <p:nvSpPr>
          <p:cNvPr id="19" name="check-body">
            <a:extLst xmlns:a="http://schemas.openxmlformats.org/drawingml/2006/main">
              <a:ext uri="{FF2B5EF4-FFF2-40B4-BE49-F238E27FC236}">
                <a16:creationId xmlns:a16="http://schemas.microsoft.com/office/drawing/2014/main" id="{94D1B62A-A3EE-490A-B5FE-908DA709F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990850"/>
            <a:ext cx="628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안전한 샘플 자료를 준비할 수 있는가?</a:t>
            </a:r>
          </a:p>
        </p:txBody>
      </p:sp>
      <p:sp>
        <p:nvSpPr>
          <p:cNvPr id="20" name="check-row">
            <a:extLst xmlns:a="http://schemas.openxmlformats.org/drawingml/2006/main">
              <a:ext uri="{FF2B5EF4-FFF2-40B4-BE49-F238E27FC236}">
                <a16:creationId xmlns:a16="http://schemas.microsoft.com/office/drawing/2014/main" id="{F13BFD6D-E127-453B-9257-E09EFF034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562350"/>
            <a:ext cx="93345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4F7"/>
            </a:solidFill>
            <a:prstDash val="solid"/>
          </a:ln>
        </p:spPr>
      </p:sp>
      <p:sp>
        <p:nvSpPr>
          <p:cNvPr id="21" name="check-dot">
            <a:extLst xmlns:a="http://schemas.openxmlformats.org/drawingml/2006/main">
              <a:ext uri="{FF2B5EF4-FFF2-40B4-BE49-F238E27FC236}">
                <a16:creationId xmlns:a16="http://schemas.microsoft.com/office/drawing/2014/main" id="{1B87CD32-65D3-426C-8574-3CC979AAC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6957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4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check-title">
            <a:extLst xmlns:a="http://schemas.openxmlformats.org/drawingml/2006/main">
              <a:ext uri="{FF2B5EF4-FFF2-40B4-BE49-F238E27FC236}">
                <a16:creationId xmlns:a16="http://schemas.microsoft.com/office/drawing/2014/main" id="{F7C5C374-F969-437C-9A4D-ACE0E89BC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6576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1650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구현성</a:t>
            </a:r>
          </a:p>
        </p:txBody>
      </p:sp>
      <p:sp>
        <p:nvSpPr>
          <p:cNvPr id="23" name="check-body">
            <a:extLst xmlns:a="http://schemas.openxmlformats.org/drawingml/2006/main">
              <a:ext uri="{FF2B5EF4-FFF2-40B4-BE49-F238E27FC236}">
                <a16:creationId xmlns:a16="http://schemas.microsoft.com/office/drawing/2014/main" id="{DF7A946D-2B04-49B4-84C7-607CEE994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676650"/>
            <a:ext cx="628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스파로스 데브엑스에서 하루 안에 핵심 흐름을 만들 수 있는가?</a:t>
            </a:r>
          </a:p>
        </p:txBody>
      </p:sp>
      <p:sp>
        <p:nvSpPr>
          <p:cNvPr id="24" name="check-row">
            <a:extLst xmlns:a="http://schemas.openxmlformats.org/drawingml/2006/main">
              <a:ext uri="{FF2B5EF4-FFF2-40B4-BE49-F238E27FC236}">
                <a16:creationId xmlns:a16="http://schemas.microsoft.com/office/drawing/2014/main" id="{FDF59132-95BC-4245-91FD-1D07252B5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48150"/>
            <a:ext cx="93345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4F7"/>
            </a:solidFill>
            <a:prstDash val="solid"/>
          </a:ln>
        </p:spPr>
      </p:sp>
      <p:sp>
        <p:nvSpPr>
          <p:cNvPr id="25" name="check-dot">
            <a:extLst xmlns:a="http://schemas.openxmlformats.org/drawingml/2006/main">
              <a:ext uri="{FF2B5EF4-FFF2-40B4-BE49-F238E27FC236}">
                <a16:creationId xmlns:a16="http://schemas.microsoft.com/office/drawing/2014/main" id="{0D29ECB4-F08D-4CFC-915D-93F33E385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3815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B7C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check-title">
            <a:extLst xmlns:a="http://schemas.openxmlformats.org/drawingml/2006/main">
              <a:ext uri="{FF2B5EF4-FFF2-40B4-BE49-F238E27FC236}">
                <a16:creationId xmlns:a16="http://schemas.microsoft.com/office/drawing/2014/main" id="{FBEC67B4-B398-4A90-B24B-2491A3DA4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3434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1650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검증성</a:t>
            </a:r>
          </a:p>
        </p:txBody>
      </p:sp>
      <p:sp>
        <p:nvSpPr>
          <p:cNvPr id="27" name="check-body">
            <a:extLst xmlns:a="http://schemas.openxmlformats.org/drawingml/2006/main">
              <a:ext uri="{FF2B5EF4-FFF2-40B4-BE49-F238E27FC236}">
                <a16:creationId xmlns:a16="http://schemas.microsoft.com/office/drawing/2014/main" id="{A0125297-D274-4986-B504-F3A9A74AC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362450"/>
            <a:ext cx="628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AI 결과를 사람이 검토할 기준이 분명한가?</a:t>
            </a:r>
          </a:p>
        </p:txBody>
      </p:sp>
      <p:sp>
        <p:nvSpPr>
          <p:cNvPr id="28" name="check-row">
            <a:extLst xmlns:a="http://schemas.openxmlformats.org/drawingml/2006/main">
              <a:ext uri="{FF2B5EF4-FFF2-40B4-BE49-F238E27FC236}">
                <a16:creationId xmlns:a16="http://schemas.microsoft.com/office/drawing/2014/main" id="{379A97B0-FFFD-4717-BBDF-948AA1E00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933950"/>
            <a:ext cx="93345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4F7"/>
            </a:solidFill>
            <a:prstDash val="solid"/>
          </a:ln>
        </p:spPr>
      </p:sp>
      <p:sp>
        <p:nvSpPr>
          <p:cNvPr id="29" name="check-dot">
            <a:extLst xmlns:a="http://schemas.openxmlformats.org/drawingml/2006/main">
              <a:ext uri="{FF2B5EF4-FFF2-40B4-BE49-F238E27FC236}">
                <a16:creationId xmlns:a16="http://schemas.microsoft.com/office/drawing/2014/main" id="{5D357770-5D45-443B-988B-8F0C93688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0673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check-title">
            <a:extLst xmlns:a="http://schemas.openxmlformats.org/drawingml/2006/main">
              <a:ext uri="{FF2B5EF4-FFF2-40B4-BE49-F238E27FC236}">
                <a16:creationId xmlns:a16="http://schemas.microsoft.com/office/drawing/2014/main" id="{E718B636-1C56-4998-89A7-E38EEB42F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0292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1650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발표성</a:t>
            </a:r>
          </a:p>
        </p:txBody>
      </p:sp>
      <p:sp>
        <p:nvSpPr>
          <p:cNvPr id="31" name="check-body">
            <a:extLst xmlns:a="http://schemas.openxmlformats.org/drawingml/2006/main">
              <a:ext uri="{FF2B5EF4-FFF2-40B4-BE49-F238E27FC236}">
                <a16:creationId xmlns:a16="http://schemas.microsoft.com/office/drawing/2014/main" id="{A3191DAA-9ABD-4A0D-96CD-4396A616A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048250"/>
            <a:ext cx="628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8월 28일에 5분 데모로 설명할 수 있는가?</a:t>
            </a:r>
          </a:p>
        </p:txBody>
      </p:sp>
    </p:spTree>
    <p:extLst>
      <p:ext uri="{BB962C8B-B14F-4D97-AF65-F5344CB8AC3E}">
        <p14:creationId xmlns:p14="http://schemas.microsoft.com/office/powerpoint/2010/main" val="177127855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4F8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decor-ring-1">
            <a:extLst xmlns:a="http://schemas.openxmlformats.org/drawingml/2006/main">
              <a:ext uri="{FF2B5EF4-FFF2-40B4-BE49-F238E27FC236}">
                <a16:creationId xmlns:a16="http://schemas.microsoft.com/office/drawing/2014/main" id="{0BA7EE11-0EF1-4409-9194-2E85D96B2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609600" y="-800100"/>
            <a:ext cx="3429000" cy="2095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BFF"/>
            </a:solidFill>
            <a:prstDash val="solid"/>
          </a:ln>
        </p:spPr>
      </p:sp>
      <p:sp>
        <p:nvSpPr>
          <p:cNvPr id="2" name="decor-ring-2">
            <a:extLst xmlns:a="http://schemas.openxmlformats.org/drawingml/2006/main">
              <a:ext uri="{FF2B5EF4-FFF2-40B4-BE49-F238E27FC236}">
                <a16:creationId xmlns:a16="http://schemas.microsoft.com/office/drawing/2014/main" id="{108FFC1E-91DC-413F-A7A2-5D28DDC36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28600" y="-895350"/>
            <a:ext cx="2762250" cy="2095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BFF"/>
            </a:solidFill>
            <a:prstDash val="solid"/>
          </a:ln>
        </p:spPr>
      </p:sp>
      <p:sp>
        <p:nvSpPr>
          <p:cNvPr id="3" name="decor-orb-1">
            <a:extLst xmlns:a="http://schemas.openxmlformats.org/drawingml/2006/main">
              <a:ext uri="{FF2B5EF4-FFF2-40B4-BE49-F238E27FC236}">
                <a16:creationId xmlns:a16="http://schemas.microsoft.com/office/drawing/2014/main" id="{17399943-DDF9-41CE-87BE-A8D976140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838700"/>
            <a:ext cx="333375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E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decor-orb-2">
            <a:extLst xmlns:a="http://schemas.openxmlformats.org/drawingml/2006/main">
              <a:ext uri="{FF2B5EF4-FFF2-40B4-BE49-F238E27FC236}">
                <a16:creationId xmlns:a16="http://schemas.microsoft.com/office/drawing/2014/main" id="{F0BEB7FB-D76A-44BC-B539-954B2819F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5219700"/>
            <a:ext cx="2952750" cy="2190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6D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itle-bar">
            <a:extLst xmlns:a="http://schemas.openxmlformats.org/drawingml/2006/main">
              <a:ext uri="{FF2B5EF4-FFF2-40B4-BE49-F238E27FC236}">
                <a16:creationId xmlns:a16="http://schemas.microsoft.com/office/drawing/2014/main" id="{969639EA-677F-446B-A944-A4886F274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90550"/>
            <a:ext cx="6667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kicker">
            <a:extLst xmlns:a="http://schemas.openxmlformats.org/drawingml/2006/main">
              <a:ext uri="{FF2B5EF4-FFF2-40B4-BE49-F238E27FC236}">
                <a16:creationId xmlns:a16="http://schemas.microsoft.com/office/drawing/2014/main" id="{97F81BB2-E8C2-4A5E-B28E-789882C66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F80ED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2F80ED"/>
                </a:solidFill>
                <a:latin typeface="Pretendard"/>
                <a:ea typeface="Pretendard"/>
                <a:cs typeface="Pretendard"/>
              </a:rPr>
              <a:t>AI4PM RUNWAY</a:t>
            </a:r>
          </a:p>
        </p:txBody>
      </p:sp>
      <p:sp>
        <p:nvSpPr>
          <p:cNvPr id="7" name="title">
            <a:extLst xmlns:a="http://schemas.openxmlformats.org/drawingml/2006/main">
              <a:ext uri="{FF2B5EF4-FFF2-40B4-BE49-F238E27FC236}">
                <a16:creationId xmlns:a16="http://schemas.microsoft.com/office/drawing/2014/main" id="{5A57672B-0C6C-4988-95EE-067E19D01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9906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2700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오늘의 시장 이해는 8월 실행 수업으로 이어집니다.</a:t>
            </a:r>
          </a:p>
        </p:txBody>
      </p:sp>
      <p:sp>
        <p:nvSpPr>
          <p:cNvPr id="8" name="subtitle">
            <a:extLst xmlns:a="http://schemas.openxmlformats.org/drawingml/2006/main">
              <a:ext uri="{FF2B5EF4-FFF2-40B4-BE49-F238E27FC236}">
                <a16:creationId xmlns:a16="http://schemas.microsoft.com/office/drawing/2014/main" id="{CB98483F-B062-44A2-AD6A-8B5B50AF1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990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6월 26일은 과제를 고르고, 8월 21일은 구현하고, 8월 28일은 발표와 회고로 현업 적용 인사이트를 남깁니다.</a:t>
            </a:r>
          </a:p>
        </p:txBody>
      </p:sp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fb6132d1284655"/>
          <a:stretch xmlns:a="http://schemas.openxmlformats.org/drawingml/2006/main"/>
        </p:blipFill>
        <p:spPr>
          <a:xfrm xmlns:a="http://schemas.openxmlformats.org/drawingml/2006/main">
            <a:off x="10668000" y="269137"/>
            <a:ext cx="1257300" cy="204677"/>
          </a:xfrm>
          <a:prstGeom xmlns:a="http://schemas.openxmlformats.org/drawingml/2006/main" prst="rect">
            <a:avLst/>
          </a:prstGeom>
        </p:spPr>
      </p:pic>
      <p:sp>
        <p:nvSpPr>
          <p:cNvPr id="10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F6BD3243-2DE1-4392-A1E2-1010072AF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800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75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출처: Exponential View, The State of the AI Economy, 2026</a:t>
            </a:r>
          </a:p>
        </p:txBody>
      </p:sp>
      <p:sp>
        <p:nvSpPr>
          <p:cNvPr id="11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0E4AAB0C-AAD0-4BCE-BF1A-8563D4CA1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436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16</a:t>
            </a:r>
          </a:p>
        </p:txBody>
      </p:sp>
      <p:sp>
        <p:nvSpPr>
          <p:cNvPr id="12" name="card-06.26">
            <a:extLst xmlns:a="http://schemas.openxmlformats.org/drawingml/2006/main">
              <a:ext uri="{FF2B5EF4-FFF2-40B4-BE49-F238E27FC236}">
                <a16:creationId xmlns:a16="http://schemas.microsoft.com/office/drawing/2014/main" id="{FD40CC86-B05F-460A-9467-64F8210B0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571750"/>
            <a:ext cx="3048000" cy="2190750"/>
          </a:xfrm>
          <a:prstGeom xmlns:a="http://schemas.openxmlformats.org/drawingml/2006/main" prst="roundRect">
            <a:avLst>
              <a:gd name="adj" fmla="val 78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4F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card-accent">
            <a:extLst xmlns:a="http://schemas.openxmlformats.org/drawingml/2006/main">
              <a:ext uri="{FF2B5EF4-FFF2-40B4-BE49-F238E27FC236}">
                <a16:creationId xmlns:a16="http://schemas.microsoft.com/office/drawing/2014/main" id="{544F601E-6C50-4E91-9272-1DBB9F8BB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571750"/>
            <a:ext cx="762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card-label">
            <a:extLst xmlns:a="http://schemas.openxmlformats.org/drawingml/2006/main">
              <a:ext uri="{FF2B5EF4-FFF2-40B4-BE49-F238E27FC236}">
                <a16:creationId xmlns:a16="http://schemas.microsoft.com/office/drawing/2014/main" id="{386B449B-70CC-411B-B1C7-4EDFE1D92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762250"/>
            <a:ext cx="2590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F80ED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2F80ED"/>
                </a:solidFill>
                <a:latin typeface="Pretendard"/>
                <a:ea typeface="Pretendard"/>
                <a:cs typeface="Pretendard"/>
              </a:rPr>
              <a:t>06.26</a:t>
            </a:r>
          </a:p>
        </p:txBody>
      </p:sp>
      <p:sp>
        <p:nvSpPr>
          <p:cNvPr id="15" name="card-title">
            <a:extLst xmlns:a="http://schemas.openxmlformats.org/drawingml/2006/main">
              <a:ext uri="{FF2B5EF4-FFF2-40B4-BE49-F238E27FC236}">
                <a16:creationId xmlns:a16="http://schemas.microsoft.com/office/drawing/2014/main" id="{F30F9620-B4E6-4642-BBB0-9E3BD2795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067050"/>
            <a:ext cx="2590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1800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시장 이해와 팀빌딩</a:t>
            </a:r>
          </a:p>
        </p:txBody>
      </p:sp>
      <p:sp>
        <p:nvSpPr>
          <p:cNvPr id="16" name="card-body">
            <a:extLst xmlns:a="http://schemas.openxmlformats.org/drawingml/2006/main">
              <a:ext uri="{FF2B5EF4-FFF2-40B4-BE49-F238E27FC236}">
                <a16:creationId xmlns:a16="http://schemas.microsoft.com/office/drawing/2014/main" id="{D903A290-2B93-4B05-AA5A-3F93138C7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600450"/>
            <a:ext cx="2590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AX Native 조직 관점 정렬</a:t>
            </a:r>
          </a:p>
          <a:p xmlns:a="http://schemas.openxmlformats.org/drawingml/2006/main">
            <a:pPr algn="l">
              <a:defRPr sz="1350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업무 문제와 팀 역할 확정</a:t>
            </a:r>
          </a:p>
        </p:txBody>
      </p:sp>
      <p:sp>
        <p:nvSpPr>
          <p:cNvPr id="17" name="runway-arrow-0-line">
            <a:extLst xmlns:a="http://schemas.openxmlformats.org/drawingml/2006/main">
              <a:ext uri="{FF2B5EF4-FFF2-40B4-BE49-F238E27FC236}">
                <a16:creationId xmlns:a16="http://schemas.microsoft.com/office/drawing/2014/main" id="{B3A56B0A-E750-4A92-A9B1-53C921E58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562350"/>
            <a:ext cx="285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runway-arrow-0-head">
            <a:extLst xmlns:a="http://schemas.openxmlformats.org/drawingml/2006/main">
              <a:ext uri="{FF2B5EF4-FFF2-40B4-BE49-F238E27FC236}">
                <a16:creationId xmlns:a16="http://schemas.microsoft.com/office/drawing/2014/main" id="{C2F491E7-FB27-4838-8016-69AAA44B3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524250"/>
            <a:ext cx="228600" cy="2286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card-08.21">
            <a:extLst xmlns:a="http://schemas.openxmlformats.org/drawingml/2006/main">
              <a:ext uri="{FF2B5EF4-FFF2-40B4-BE49-F238E27FC236}">
                <a16:creationId xmlns:a16="http://schemas.microsoft.com/office/drawing/2014/main" id="{7B17A903-A75C-4A24-8B36-DED0CF95F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571750"/>
            <a:ext cx="3048000" cy="2190750"/>
          </a:xfrm>
          <a:prstGeom xmlns:a="http://schemas.openxmlformats.org/drawingml/2006/main" prst="roundRect">
            <a:avLst>
              <a:gd name="adj" fmla="val 78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4F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0" name="card-accent">
            <a:extLst xmlns:a="http://schemas.openxmlformats.org/drawingml/2006/main">
              <a:ext uri="{FF2B5EF4-FFF2-40B4-BE49-F238E27FC236}">
                <a16:creationId xmlns:a16="http://schemas.microsoft.com/office/drawing/2014/main" id="{C21677E1-0CBA-41C7-AC0A-D2B8B3579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571750"/>
            <a:ext cx="762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A6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card-label">
            <a:extLst xmlns:a="http://schemas.openxmlformats.org/drawingml/2006/main">
              <a:ext uri="{FF2B5EF4-FFF2-40B4-BE49-F238E27FC236}">
                <a16:creationId xmlns:a16="http://schemas.microsoft.com/office/drawing/2014/main" id="{445EAA40-AFC2-4855-A086-09F250E5D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762250"/>
            <a:ext cx="2590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A67A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11A67A"/>
                </a:solidFill>
                <a:latin typeface="Pretendard"/>
                <a:ea typeface="Pretendard"/>
                <a:cs typeface="Pretendard"/>
              </a:rPr>
              <a:t>08.21</a:t>
            </a:r>
          </a:p>
        </p:txBody>
      </p:sp>
      <p:sp>
        <p:nvSpPr>
          <p:cNvPr id="22" name="card-title">
            <a:extLst xmlns:a="http://schemas.openxmlformats.org/drawingml/2006/main">
              <a:ext uri="{FF2B5EF4-FFF2-40B4-BE49-F238E27FC236}">
                <a16:creationId xmlns:a16="http://schemas.microsoft.com/office/drawing/2014/main" id="{69189322-9B12-430F-8FD9-47827CDB8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067050"/>
            <a:ext cx="2590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1800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프로젝트 구현</a:t>
            </a:r>
          </a:p>
        </p:txBody>
      </p:sp>
      <p:sp>
        <p:nvSpPr>
          <p:cNvPr id="23" name="card-body">
            <a:extLst xmlns:a="http://schemas.openxmlformats.org/drawingml/2006/main">
              <a:ext uri="{FF2B5EF4-FFF2-40B4-BE49-F238E27FC236}">
                <a16:creationId xmlns:a16="http://schemas.microsoft.com/office/drawing/2014/main" id="{A7A90AD7-650F-4B4C-92B7-3A8E3F797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600450"/>
            <a:ext cx="2590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스파로스 데브엑스 기반</a:t>
            </a:r>
          </a:p>
          <a:p xmlns:a="http://schemas.openxmlformats.org/drawingml/2006/main">
            <a:pPr algn="l">
              <a:defRPr sz="1350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Agent 또는 업무 보조 도구 구현</a:t>
            </a:r>
          </a:p>
        </p:txBody>
      </p:sp>
      <p:sp>
        <p:nvSpPr>
          <p:cNvPr id="24" name="runway-arrow-1-line">
            <a:extLst xmlns:a="http://schemas.openxmlformats.org/drawingml/2006/main">
              <a:ext uri="{FF2B5EF4-FFF2-40B4-BE49-F238E27FC236}">
                <a16:creationId xmlns:a16="http://schemas.microsoft.com/office/drawing/2014/main" id="{436A794C-6E20-4E26-A285-65710863E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562350"/>
            <a:ext cx="285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A6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runway-arrow-1-head">
            <a:extLst xmlns:a="http://schemas.openxmlformats.org/drawingml/2006/main">
              <a:ext uri="{FF2B5EF4-FFF2-40B4-BE49-F238E27FC236}">
                <a16:creationId xmlns:a16="http://schemas.microsoft.com/office/drawing/2014/main" id="{D3B5A8B1-0282-40D8-BD62-56333CD9D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524250"/>
            <a:ext cx="228600" cy="2286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1A6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card-08.28">
            <a:extLst xmlns:a="http://schemas.openxmlformats.org/drawingml/2006/main">
              <a:ext uri="{FF2B5EF4-FFF2-40B4-BE49-F238E27FC236}">
                <a16:creationId xmlns:a16="http://schemas.microsoft.com/office/drawing/2014/main" id="{E5A4D769-DFC0-4F25-A776-264095DCA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571750"/>
            <a:ext cx="3048000" cy="2190750"/>
          </a:xfrm>
          <a:prstGeom xmlns:a="http://schemas.openxmlformats.org/drawingml/2006/main" prst="roundRect">
            <a:avLst>
              <a:gd name="adj" fmla="val 78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4F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7" name="card-accent">
            <a:extLst xmlns:a="http://schemas.openxmlformats.org/drawingml/2006/main">
              <a:ext uri="{FF2B5EF4-FFF2-40B4-BE49-F238E27FC236}">
                <a16:creationId xmlns:a16="http://schemas.microsoft.com/office/drawing/2014/main" id="{D69BF04B-F3DD-4765-AD53-CD200BED7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571750"/>
            <a:ext cx="762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7C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card-label">
            <a:extLst xmlns:a="http://schemas.openxmlformats.org/drawingml/2006/main">
              <a:ext uri="{FF2B5EF4-FFF2-40B4-BE49-F238E27FC236}">
                <a16:creationId xmlns:a16="http://schemas.microsoft.com/office/drawing/2014/main" id="{5BED280D-C24D-48D2-ACAC-0A5B984E4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762250"/>
            <a:ext cx="2590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B7CFF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6B7CFF"/>
                </a:solidFill>
                <a:latin typeface="Pretendard"/>
                <a:ea typeface="Pretendard"/>
                <a:cs typeface="Pretendard"/>
              </a:rPr>
              <a:t>08.28</a:t>
            </a:r>
          </a:p>
        </p:txBody>
      </p:sp>
      <p:sp>
        <p:nvSpPr>
          <p:cNvPr id="29" name="card-title">
            <a:extLst xmlns:a="http://schemas.openxmlformats.org/drawingml/2006/main">
              <a:ext uri="{FF2B5EF4-FFF2-40B4-BE49-F238E27FC236}">
                <a16:creationId xmlns:a16="http://schemas.microsoft.com/office/drawing/2014/main" id="{59CCD74A-1F0C-4575-BA0D-F828C41D0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067050"/>
            <a:ext cx="2590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1800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발표와 회고</a:t>
            </a:r>
          </a:p>
        </p:txBody>
      </p:sp>
      <p:sp>
        <p:nvSpPr>
          <p:cNvPr id="30" name="card-body">
            <a:extLst xmlns:a="http://schemas.openxmlformats.org/drawingml/2006/main">
              <a:ext uri="{FF2B5EF4-FFF2-40B4-BE49-F238E27FC236}">
                <a16:creationId xmlns:a16="http://schemas.microsoft.com/office/drawing/2014/main" id="{7FC334E9-90C1-4A9D-933C-1A4AA5599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600450"/>
            <a:ext cx="2590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5분 데모 발표</a:t>
            </a:r>
          </a:p>
          <a:p xmlns:a="http://schemas.openxmlformats.org/drawingml/2006/main">
            <a:pPr algn="l">
              <a:defRPr sz="1350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현업 적용 가능성과 후속 과제 도출</a:t>
            </a:r>
          </a:p>
        </p:txBody>
      </p:sp>
      <p:sp>
        <p:nvSpPr>
          <p:cNvPr id="31" name="bottom-message">
            <a:extLst xmlns:a="http://schemas.openxmlformats.org/drawingml/2006/main">
              <a:ext uri="{FF2B5EF4-FFF2-40B4-BE49-F238E27FC236}">
                <a16:creationId xmlns:a16="http://schemas.microsoft.com/office/drawing/2014/main" id="{D7FB7A91-2B70-4C23-887F-5B8210340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10200"/>
            <a:ext cx="1028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D4D9F"/>
                </a:solidFill>
                <a:latin typeface="Pretendard"/>
                <a:ea typeface="Pretendard"/>
                <a:cs typeface="Pretendard"/>
              </a:defRPr>
            </a:pPr>
            <a:r>
              <a:rPr sz="1650" b="1">
                <a:solidFill>
                  <a:srgbClr val="0D4D9F"/>
                </a:solidFill>
                <a:latin typeface="Pretendard"/>
                <a:ea typeface="Pretendard"/>
                <a:cs typeface="Pretendard"/>
              </a:rPr>
              <a:t>핵심 산출물: 각 팀이 현업에서 어떤 업무를 어떻게 AI와 처리할지 설명할 수 있는 1개 데모</a:t>
            </a:r>
          </a:p>
        </p:txBody>
      </p:sp>
    </p:spTree>
    <p:extLst>
      <p:ext uri="{BB962C8B-B14F-4D97-AF65-F5344CB8AC3E}">
        <p14:creationId xmlns:p14="http://schemas.microsoft.com/office/powerpoint/2010/main" val="465648365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4F8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decor-ring-1">
            <a:extLst xmlns:a="http://schemas.openxmlformats.org/drawingml/2006/main">
              <a:ext uri="{FF2B5EF4-FFF2-40B4-BE49-F238E27FC236}">
                <a16:creationId xmlns:a16="http://schemas.microsoft.com/office/drawing/2014/main" id="{EFCA1DEC-B389-4FEE-9374-82EBDBFE3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609600" y="-800100"/>
            <a:ext cx="3429000" cy="2095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BFF"/>
            </a:solidFill>
            <a:prstDash val="solid"/>
          </a:ln>
        </p:spPr>
      </p:sp>
      <p:sp>
        <p:nvSpPr>
          <p:cNvPr id="2" name="decor-ring-2">
            <a:extLst xmlns:a="http://schemas.openxmlformats.org/drawingml/2006/main">
              <a:ext uri="{FF2B5EF4-FFF2-40B4-BE49-F238E27FC236}">
                <a16:creationId xmlns:a16="http://schemas.microsoft.com/office/drawing/2014/main" id="{68FA51E0-B38D-4424-AE42-46530EDF9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28600" y="-895350"/>
            <a:ext cx="2762250" cy="2095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BFF"/>
            </a:solidFill>
            <a:prstDash val="solid"/>
          </a:ln>
        </p:spPr>
      </p:sp>
      <p:sp>
        <p:nvSpPr>
          <p:cNvPr id="3" name="decor-orb-1">
            <a:extLst xmlns:a="http://schemas.openxmlformats.org/drawingml/2006/main">
              <a:ext uri="{FF2B5EF4-FFF2-40B4-BE49-F238E27FC236}">
                <a16:creationId xmlns:a16="http://schemas.microsoft.com/office/drawing/2014/main" id="{1651A624-32A5-46AB-AF72-BD5CE739B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838700"/>
            <a:ext cx="333375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E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decor-orb-2">
            <a:extLst xmlns:a="http://schemas.openxmlformats.org/drawingml/2006/main">
              <a:ext uri="{FF2B5EF4-FFF2-40B4-BE49-F238E27FC236}">
                <a16:creationId xmlns:a16="http://schemas.microsoft.com/office/drawing/2014/main" id="{18E152E1-433E-4AA0-B8AA-D579715D0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5219700"/>
            <a:ext cx="2952750" cy="2190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6D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itle-bar">
            <a:extLst xmlns:a="http://schemas.openxmlformats.org/drawingml/2006/main">
              <a:ext uri="{FF2B5EF4-FFF2-40B4-BE49-F238E27FC236}">
                <a16:creationId xmlns:a16="http://schemas.microsoft.com/office/drawing/2014/main" id="{CF50B198-7992-4159-9BFB-C7E9167F2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90550"/>
            <a:ext cx="6667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kicker">
            <a:extLst xmlns:a="http://schemas.openxmlformats.org/drawingml/2006/main">
              <a:ext uri="{FF2B5EF4-FFF2-40B4-BE49-F238E27FC236}">
                <a16:creationId xmlns:a16="http://schemas.microsoft.com/office/drawing/2014/main" id="{A6B93024-F69E-4768-938B-2461B0D6B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F80ED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2F80ED"/>
                </a:solidFill>
                <a:latin typeface="Pretendard"/>
                <a:ea typeface="Pretendard"/>
                <a:cs typeface="Pretendard"/>
              </a:rPr>
              <a:t>WORKSHOP HANDOFF</a:t>
            </a:r>
          </a:p>
        </p:txBody>
      </p:sp>
      <p:sp>
        <p:nvSpPr>
          <p:cNvPr id="7" name="title">
            <a:extLst xmlns:a="http://schemas.openxmlformats.org/drawingml/2006/main">
              <a:ext uri="{FF2B5EF4-FFF2-40B4-BE49-F238E27FC236}">
                <a16:creationId xmlns:a16="http://schemas.microsoft.com/office/drawing/2014/main" id="{AE936C5E-F776-40BB-B563-4FD954549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9906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2700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지금부터 팀별로 네 가지를 스프레드시트에 기록합니다.</a:t>
            </a:r>
          </a:p>
        </p:txBody>
      </p:sp>
      <p:sp>
        <p:nvSpPr>
          <p:cNvPr id="8" name="subtitle">
            <a:extLst xmlns:a="http://schemas.openxmlformats.org/drawingml/2006/main">
              <a:ext uri="{FF2B5EF4-FFF2-40B4-BE49-F238E27FC236}">
                <a16:creationId xmlns:a16="http://schemas.microsoft.com/office/drawing/2014/main" id="{02094BCD-4CD8-43AB-B325-0A5EDB6F2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990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기록은 발표 자료가 아니라 8월 구현 수업의 작업 지시서입니다.</a:t>
            </a:r>
          </a:p>
        </p:txBody>
      </p:sp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5b9ded8403449b"/>
          <a:stretch xmlns:a="http://schemas.openxmlformats.org/drawingml/2006/main"/>
        </p:blipFill>
        <p:spPr>
          <a:xfrm xmlns:a="http://schemas.openxmlformats.org/drawingml/2006/main">
            <a:off x="10668000" y="269137"/>
            <a:ext cx="1257300" cy="204677"/>
          </a:xfrm>
          <a:prstGeom xmlns:a="http://schemas.openxmlformats.org/drawingml/2006/main" prst="rect">
            <a:avLst/>
          </a:prstGeom>
        </p:spPr>
      </p:pic>
      <p:sp>
        <p:nvSpPr>
          <p:cNvPr id="10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69C1E652-784D-404C-ABE7-A052EC0BB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800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75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출처: Exponential View, The State of the AI Economy, 2026</a:t>
            </a:r>
          </a:p>
        </p:txBody>
      </p:sp>
      <p:sp>
        <p:nvSpPr>
          <p:cNvPr id="11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8A0C1106-9F0B-49A1-8E58-597DB7BC0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436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17</a:t>
            </a:r>
          </a:p>
        </p:txBody>
      </p:sp>
      <p:sp>
        <p:nvSpPr>
          <p:cNvPr id="12" name="metric-card">
            <a:extLst xmlns:a="http://schemas.openxmlformats.org/drawingml/2006/main">
              <a:ext uri="{FF2B5EF4-FFF2-40B4-BE49-F238E27FC236}">
                <a16:creationId xmlns:a16="http://schemas.microsoft.com/office/drawing/2014/main" id="{84864928-D3C6-4304-B286-7F43F003E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0"/>
            <a:ext cx="2552700" cy="2333625"/>
          </a:xfrm>
          <a:prstGeom xmlns:a="http://schemas.openxmlformats.org/drawingml/2006/main" prst="roundRect">
            <a:avLst>
              <a:gd name="adj" fmla="val 73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4F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metric-value">
            <a:extLst xmlns:a="http://schemas.openxmlformats.org/drawingml/2006/main">
              <a:ext uri="{FF2B5EF4-FFF2-40B4-BE49-F238E27FC236}">
                <a16:creationId xmlns:a16="http://schemas.microsoft.com/office/drawing/2014/main" id="{AD40DE62-93F5-463F-9FD7-73F880D54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28900"/>
            <a:ext cx="2133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F80ED"/>
                </a:solidFill>
                <a:latin typeface="Pretendard"/>
                <a:ea typeface="Pretendard"/>
                <a:cs typeface="Pretendard"/>
              </a:defRPr>
            </a:pPr>
            <a:r>
              <a:rPr sz="3150" b="1">
                <a:solidFill>
                  <a:srgbClr val="2F80ED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4" name="metric-label">
            <a:extLst xmlns:a="http://schemas.openxmlformats.org/drawingml/2006/main">
              <a:ext uri="{FF2B5EF4-FFF2-40B4-BE49-F238E27FC236}">
                <a16:creationId xmlns:a16="http://schemas.microsoft.com/office/drawing/2014/main" id="{AF8FA54D-8E51-41DB-A20D-921EA37B5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57550"/>
            <a:ext cx="209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1500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문제</a:t>
            </a:r>
          </a:p>
        </p:txBody>
      </p:sp>
      <p:sp>
        <p:nvSpPr>
          <p:cNvPr id="15" name="metric-note">
            <a:extLst xmlns:a="http://schemas.openxmlformats.org/drawingml/2006/main">
              <a:ext uri="{FF2B5EF4-FFF2-40B4-BE49-F238E27FC236}">
                <a16:creationId xmlns:a16="http://schemas.microsoft.com/office/drawing/2014/main" id="{93F37B5F-3BF3-4CCA-ABB5-1B3426CED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90950"/>
            <a:ext cx="20955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반복되는 업무 문제와 현재 병목</a:t>
            </a:r>
          </a:p>
        </p:txBody>
      </p:sp>
      <p:sp>
        <p:nvSpPr>
          <p:cNvPr id="16" name="metric-card">
            <a:extLst xmlns:a="http://schemas.openxmlformats.org/drawingml/2006/main">
              <a:ext uri="{FF2B5EF4-FFF2-40B4-BE49-F238E27FC236}">
                <a16:creationId xmlns:a16="http://schemas.microsoft.com/office/drawing/2014/main" id="{18ADCC79-3D96-4A1C-A9C2-AB1F82A82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381250"/>
            <a:ext cx="2552700" cy="2333625"/>
          </a:xfrm>
          <a:prstGeom xmlns:a="http://schemas.openxmlformats.org/drawingml/2006/main" prst="roundRect">
            <a:avLst>
              <a:gd name="adj" fmla="val 73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4F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metric-value">
            <a:extLst xmlns:a="http://schemas.openxmlformats.org/drawingml/2006/main">
              <a:ext uri="{FF2B5EF4-FFF2-40B4-BE49-F238E27FC236}">
                <a16:creationId xmlns:a16="http://schemas.microsoft.com/office/drawing/2014/main" id="{1EB41734-5374-4644-8270-AFABABECC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628900"/>
            <a:ext cx="2133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A67A"/>
                </a:solidFill>
                <a:latin typeface="Pretendard"/>
                <a:ea typeface="Pretendard"/>
                <a:cs typeface="Pretendard"/>
              </a:defRPr>
            </a:pPr>
            <a:r>
              <a:rPr sz="3150" b="1">
                <a:solidFill>
                  <a:srgbClr val="11A67A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8" name="metric-label">
            <a:extLst xmlns:a="http://schemas.openxmlformats.org/drawingml/2006/main">
              <a:ext uri="{FF2B5EF4-FFF2-40B4-BE49-F238E27FC236}">
                <a16:creationId xmlns:a16="http://schemas.microsoft.com/office/drawing/2014/main" id="{F7DC96F3-BB8D-4FAC-A295-87410F7E2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257550"/>
            <a:ext cx="209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1500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자료</a:t>
            </a:r>
          </a:p>
        </p:txBody>
      </p:sp>
      <p:sp>
        <p:nvSpPr>
          <p:cNvPr id="19" name="metric-note">
            <a:extLst xmlns:a="http://schemas.openxmlformats.org/drawingml/2006/main">
              <a:ext uri="{FF2B5EF4-FFF2-40B4-BE49-F238E27FC236}">
                <a16:creationId xmlns:a16="http://schemas.microsoft.com/office/drawing/2014/main" id="{12E4056F-A4D6-4425-B8B6-0DE77E636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790950"/>
            <a:ext cx="20955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안전한 샘플 입력과 금지 자료</a:t>
            </a:r>
          </a:p>
        </p:txBody>
      </p:sp>
      <p:sp>
        <p:nvSpPr>
          <p:cNvPr id="20" name="metric-card">
            <a:extLst xmlns:a="http://schemas.openxmlformats.org/drawingml/2006/main">
              <a:ext uri="{FF2B5EF4-FFF2-40B4-BE49-F238E27FC236}">
                <a16:creationId xmlns:a16="http://schemas.microsoft.com/office/drawing/2014/main" id="{859E9706-58CF-40A0-A370-4D4788FEE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381250"/>
            <a:ext cx="2552700" cy="2333625"/>
          </a:xfrm>
          <a:prstGeom xmlns:a="http://schemas.openxmlformats.org/drawingml/2006/main" prst="roundRect">
            <a:avLst>
              <a:gd name="adj" fmla="val 73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4F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1" name="metric-value">
            <a:extLst xmlns:a="http://schemas.openxmlformats.org/drawingml/2006/main">
              <a:ext uri="{FF2B5EF4-FFF2-40B4-BE49-F238E27FC236}">
                <a16:creationId xmlns:a16="http://schemas.microsoft.com/office/drawing/2014/main" id="{6D03EC62-051A-4117-AF55-06033BC03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628900"/>
            <a:ext cx="2133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C400"/>
                </a:solidFill>
                <a:latin typeface="Pretendard"/>
                <a:ea typeface="Pretendard"/>
                <a:cs typeface="Pretendard"/>
              </a:defRPr>
            </a:pPr>
            <a:r>
              <a:rPr sz="3150" b="1">
                <a:solidFill>
                  <a:srgbClr val="FFC400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22" name="metric-label">
            <a:extLst xmlns:a="http://schemas.openxmlformats.org/drawingml/2006/main">
              <a:ext uri="{FF2B5EF4-FFF2-40B4-BE49-F238E27FC236}">
                <a16:creationId xmlns:a16="http://schemas.microsoft.com/office/drawing/2014/main" id="{5F7EF85E-CE63-408E-A86D-30E31A985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257550"/>
            <a:ext cx="209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1500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검증</a:t>
            </a:r>
          </a:p>
        </p:txBody>
      </p:sp>
      <p:sp>
        <p:nvSpPr>
          <p:cNvPr id="23" name="metric-note">
            <a:extLst xmlns:a="http://schemas.openxmlformats.org/drawingml/2006/main">
              <a:ext uri="{FF2B5EF4-FFF2-40B4-BE49-F238E27FC236}">
                <a16:creationId xmlns:a16="http://schemas.microsoft.com/office/drawing/2014/main" id="{29F4E1A4-78F1-4AE3-AD9B-99D0109CA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790950"/>
            <a:ext cx="20955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사람이 확인할 기준과 승인 지점</a:t>
            </a:r>
          </a:p>
        </p:txBody>
      </p:sp>
      <p:sp>
        <p:nvSpPr>
          <p:cNvPr id="24" name="metric-card">
            <a:extLst xmlns:a="http://schemas.openxmlformats.org/drawingml/2006/main">
              <a:ext uri="{FF2B5EF4-FFF2-40B4-BE49-F238E27FC236}">
                <a16:creationId xmlns:a16="http://schemas.microsoft.com/office/drawing/2014/main" id="{BB0F3CC0-C472-4434-91BB-D20D658EB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381250"/>
            <a:ext cx="2552700" cy="2333625"/>
          </a:xfrm>
          <a:prstGeom xmlns:a="http://schemas.openxmlformats.org/drawingml/2006/main" prst="roundRect">
            <a:avLst>
              <a:gd name="adj" fmla="val 73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4F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5" name="metric-value">
            <a:extLst xmlns:a="http://schemas.openxmlformats.org/drawingml/2006/main">
              <a:ext uri="{FF2B5EF4-FFF2-40B4-BE49-F238E27FC236}">
                <a16:creationId xmlns:a16="http://schemas.microsoft.com/office/drawing/2014/main" id="{D1CFF5D7-A2CD-477D-9E8D-849BB36D6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628900"/>
            <a:ext cx="2133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6B7CFF"/>
                </a:solidFill>
                <a:latin typeface="Pretendard"/>
                <a:ea typeface="Pretendard"/>
                <a:cs typeface="Pretendard"/>
              </a:defRPr>
            </a:pPr>
            <a:r>
              <a:rPr sz="3150" b="1">
                <a:solidFill>
                  <a:srgbClr val="6B7CFF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  <p:sp>
        <p:nvSpPr>
          <p:cNvPr id="26" name="metric-label">
            <a:extLst xmlns:a="http://schemas.openxmlformats.org/drawingml/2006/main">
              <a:ext uri="{FF2B5EF4-FFF2-40B4-BE49-F238E27FC236}">
                <a16:creationId xmlns:a16="http://schemas.microsoft.com/office/drawing/2014/main" id="{7C6353E8-89AA-413F-A65C-C446315F5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257550"/>
            <a:ext cx="209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1500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데모</a:t>
            </a:r>
          </a:p>
        </p:txBody>
      </p:sp>
      <p:sp>
        <p:nvSpPr>
          <p:cNvPr id="27" name="metric-note">
            <a:extLst xmlns:a="http://schemas.openxmlformats.org/drawingml/2006/main">
              <a:ext uri="{FF2B5EF4-FFF2-40B4-BE49-F238E27FC236}">
                <a16:creationId xmlns:a16="http://schemas.microsoft.com/office/drawing/2014/main" id="{A021A793-70A7-4B9B-93BB-8A860AC0A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790950"/>
            <a:ext cx="20955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8월 21일에 보여줄 작동 장면</a:t>
            </a:r>
          </a:p>
        </p:txBody>
      </p:sp>
      <p:sp>
        <p:nvSpPr>
          <p:cNvPr id="28" name="sheet-link">
            <a:extLst xmlns:a="http://schemas.openxmlformats.org/drawingml/2006/main">
              <a:ext uri="{FF2B5EF4-FFF2-40B4-BE49-F238E27FC236}">
                <a16:creationId xmlns:a16="http://schemas.microsoft.com/office/drawing/2014/main" id="{D6396041-6328-4334-AE05-D8573126B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86375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1650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스프레드시트 입력 위치: Canvas A → Canvas B → 데모 범위 → 액션플랜</a:t>
            </a:r>
          </a:p>
        </p:txBody>
      </p:sp>
    </p:spTree>
    <p:extLst>
      <p:ext uri="{BB962C8B-B14F-4D97-AF65-F5344CB8AC3E}">
        <p14:creationId xmlns:p14="http://schemas.microsoft.com/office/powerpoint/2010/main" val="663400428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4F8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decor-ring-1">
            <a:extLst xmlns:a="http://schemas.openxmlformats.org/drawingml/2006/main">
              <a:ext uri="{FF2B5EF4-FFF2-40B4-BE49-F238E27FC236}">
                <a16:creationId xmlns:a16="http://schemas.microsoft.com/office/drawing/2014/main" id="{2BB82C31-F51D-41BF-8A85-2E79E0C3D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609600" y="-800100"/>
            <a:ext cx="3429000" cy="2095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BFF"/>
            </a:solidFill>
            <a:prstDash val="solid"/>
          </a:ln>
        </p:spPr>
      </p:sp>
      <p:sp>
        <p:nvSpPr>
          <p:cNvPr id="2" name="decor-ring-2">
            <a:extLst xmlns:a="http://schemas.openxmlformats.org/drawingml/2006/main">
              <a:ext uri="{FF2B5EF4-FFF2-40B4-BE49-F238E27FC236}">
                <a16:creationId xmlns:a16="http://schemas.microsoft.com/office/drawing/2014/main" id="{A13F7F10-E0E7-48AC-9ED8-6FC6E9BF3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28600" y="-895350"/>
            <a:ext cx="2762250" cy="2095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BFF"/>
            </a:solidFill>
            <a:prstDash val="solid"/>
          </a:ln>
        </p:spPr>
      </p:sp>
      <p:sp>
        <p:nvSpPr>
          <p:cNvPr id="3" name="decor-orb-1">
            <a:extLst xmlns:a="http://schemas.openxmlformats.org/drawingml/2006/main">
              <a:ext uri="{FF2B5EF4-FFF2-40B4-BE49-F238E27FC236}">
                <a16:creationId xmlns:a16="http://schemas.microsoft.com/office/drawing/2014/main" id="{4E3F0D3A-6077-4D12-BF7C-C5D06D3BF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838700"/>
            <a:ext cx="333375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E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decor-orb-2">
            <a:extLst xmlns:a="http://schemas.openxmlformats.org/drawingml/2006/main">
              <a:ext uri="{FF2B5EF4-FFF2-40B4-BE49-F238E27FC236}">
                <a16:creationId xmlns:a16="http://schemas.microsoft.com/office/drawing/2014/main" id="{5DDB54D2-50F4-430D-9E82-8FF817CEB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5219700"/>
            <a:ext cx="2952750" cy="2190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6D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itle-bar">
            <a:extLst xmlns:a="http://schemas.openxmlformats.org/drawingml/2006/main">
              <a:ext uri="{FF2B5EF4-FFF2-40B4-BE49-F238E27FC236}">
                <a16:creationId xmlns:a16="http://schemas.microsoft.com/office/drawing/2014/main" id="{1D1DEAC4-4242-4E14-9932-15E17595C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90550"/>
            <a:ext cx="6667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close-kicker">
            <a:extLst xmlns:a="http://schemas.openxmlformats.org/drawingml/2006/main">
              <a:ext uri="{FF2B5EF4-FFF2-40B4-BE49-F238E27FC236}">
                <a16:creationId xmlns:a16="http://schemas.microsoft.com/office/drawing/2014/main" id="{60A7DF57-C94F-48BD-AF58-F47203455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495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F80ED"/>
                </a:solidFill>
                <a:latin typeface="Pretendard"/>
                <a:ea typeface="Pretendard"/>
                <a:cs typeface="Pretendard"/>
              </a:defRPr>
            </a:pPr>
            <a:r>
              <a:rPr sz="1650" b="1">
                <a:solidFill>
                  <a:srgbClr val="2F80ED"/>
                </a:solidFill>
                <a:latin typeface="Pretendard"/>
                <a:ea typeface="Pretendard"/>
                <a:cs typeface="Pretendard"/>
              </a:rPr>
              <a:t>결론</a:t>
            </a:r>
          </a:p>
        </p:txBody>
      </p:sp>
      <p:sp>
        <p:nvSpPr>
          <p:cNvPr id="7" name="close-title">
            <a:extLst xmlns:a="http://schemas.openxmlformats.org/drawingml/2006/main">
              <a:ext uri="{FF2B5EF4-FFF2-40B4-BE49-F238E27FC236}">
                <a16:creationId xmlns:a16="http://schemas.microsoft.com/office/drawing/2014/main" id="{118C8401-85DF-48B4-848C-A5A7CDA09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23950"/>
            <a:ext cx="7429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3450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AI 경제는 모델 경쟁에서</a:t>
            </a:r>
          </a:p>
          <a:p xmlns:a="http://schemas.openxmlformats.org/drawingml/2006/main">
            <a:pPr algn="l">
              <a:defRPr sz="3450" b="1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3450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업무 처리량 경쟁으로</a:t>
            </a:r>
          </a:p>
          <a:p xmlns:a="http://schemas.openxmlformats.org/drawingml/2006/main">
            <a:pPr algn="l">
              <a:defRPr sz="3450" b="1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3450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넘어가고 있습니다.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43c84d1ab1489e"/>
          <a:stretch xmlns:a="http://schemas.openxmlformats.org/drawingml/2006/main"/>
        </p:blipFill>
        <p:spPr>
          <a:xfrm xmlns:a="http://schemas.openxmlformats.org/drawingml/2006/main">
            <a:off x="10668000" y="269137"/>
            <a:ext cx="1257300" cy="204677"/>
          </a:xfrm>
          <a:prstGeom xmlns:a="http://schemas.openxmlformats.org/drawingml/2006/main" prst="rect">
            <a:avLst/>
          </a:prstGeom>
        </p:spPr>
      </p:pic>
      <p:sp>
        <p:nvSpPr>
          <p:cNvPr id="9" name="close-dot">
            <a:extLst xmlns:a="http://schemas.openxmlformats.org/drawingml/2006/main">
              <a:ext uri="{FF2B5EF4-FFF2-40B4-BE49-F238E27FC236}">
                <a16:creationId xmlns:a16="http://schemas.microsoft.com/office/drawing/2014/main" id="{83BE97BA-3D1C-4DA2-A84A-193599400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1242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close-line">
            <a:extLst xmlns:a="http://schemas.openxmlformats.org/drawingml/2006/main">
              <a:ext uri="{FF2B5EF4-FFF2-40B4-BE49-F238E27FC236}">
                <a16:creationId xmlns:a16="http://schemas.microsoft.com/office/drawing/2014/main" id="{6FAC66DD-EF79-4153-9096-FC184184E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048000"/>
            <a:ext cx="781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1800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수요는 이미 검증됐습니다.</a:t>
            </a:r>
          </a:p>
        </p:txBody>
      </p:sp>
      <p:sp>
        <p:nvSpPr>
          <p:cNvPr id="11" name="close-dot">
            <a:extLst xmlns:a="http://schemas.openxmlformats.org/drawingml/2006/main">
              <a:ext uri="{FF2B5EF4-FFF2-40B4-BE49-F238E27FC236}">
                <a16:creationId xmlns:a16="http://schemas.microsoft.com/office/drawing/2014/main" id="{6593E5F5-30F8-4C34-9A46-32DCA8405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6766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A6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close-line">
            <a:extLst xmlns:a="http://schemas.openxmlformats.org/drawingml/2006/main">
              <a:ext uri="{FF2B5EF4-FFF2-40B4-BE49-F238E27FC236}">
                <a16:creationId xmlns:a16="http://schemas.microsoft.com/office/drawing/2014/main" id="{AC43E21F-42A5-4551-B01D-7BA2222B7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600450"/>
            <a:ext cx="781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1800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기업 내부 가치는 아직 설계해야 합니다.</a:t>
            </a:r>
          </a:p>
        </p:txBody>
      </p:sp>
      <p:sp>
        <p:nvSpPr>
          <p:cNvPr id="13" name="close-dot">
            <a:extLst xmlns:a="http://schemas.openxmlformats.org/drawingml/2006/main">
              <a:ext uri="{FF2B5EF4-FFF2-40B4-BE49-F238E27FC236}">
                <a16:creationId xmlns:a16="http://schemas.microsoft.com/office/drawing/2014/main" id="{BE8425F1-80A7-40EC-916D-46E293D8A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2291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4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close-line">
            <a:extLst xmlns:a="http://schemas.openxmlformats.org/drawingml/2006/main">
              <a:ext uri="{FF2B5EF4-FFF2-40B4-BE49-F238E27FC236}">
                <a16:creationId xmlns:a16="http://schemas.microsoft.com/office/drawing/2014/main" id="{D4D3C559-0B1B-4FA9-BFB6-240EBFC80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152900"/>
            <a:ext cx="781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1800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토큰 사용량보다 검증된 산출물을 기록해야 합니다.</a:t>
            </a:r>
          </a:p>
        </p:txBody>
      </p:sp>
      <p:sp>
        <p:nvSpPr>
          <p:cNvPr id="15" name="close-dot">
            <a:extLst xmlns:a="http://schemas.openxmlformats.org/drawingml/2006/main">
              <a:ext uri="{FF2B5EF4-FFF2-40B4-BE49-F238E27FC236}">
                <a16:creationId xmlns:a16="http://schemas.microsoft.com/office/drawing/2014/main" id="{95237B4C-85F0-42DB-91AB-3E49FD85F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7815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B7C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close-line">
            <a:extLst xmlns:a="http://schemas.openxmlformats.org/drawingml/2006/main">
              <a:ext uri="{FF2B5EF4-FFF2-40B4-BE49-F238E27FC236}">
                <a16:creationId xmlns:a16="http://schemas.microsoft.com/office/drawing/2014/main" id="{B23FB9E5-5C7C-4FD3-B7D2-344CC64D7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705350"/>
            <a:ext cx="781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1800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오늘의 팀 과제가 8월 구현 데모의 출발점입니다.</a:t>
            </a:r>
          </a:p>
        </p:txBody>
      </p:sp>
      <p:sp>
        <p:nvSpPr>
          <p:cNvPr id="17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53E048D5-7A47-430E-BE1E-941D6ABFD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800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75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출처: Exponential View, The State of the AI Economy, 2026</a:t>
            </a:r>
          </a:p>
        </p:txBody>
      </p:sp>
      <p:sp>
        <p:nvSpPr>
          <p:cNvPr id="18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410C9903-655C-4951-B8B4-5CD8D22A6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436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40933562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2026-06-26T03:56:18.5380000Z</dcterms:created>
  <dcterms:modified xsi:type="dcterms:W3CDTF">2026-06-26T03:56:18.5380000Z</dcterms:modified>
</coreProperties>
</file>