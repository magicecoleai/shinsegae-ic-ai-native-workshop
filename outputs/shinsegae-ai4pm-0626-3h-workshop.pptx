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716514a3724312" /><Relationship Type="http://schemas.openxmlformats.org/officeDocument/2006/relationships/extended-properties" Target="/docProps/app.xml" Id="Ra083b1e7e8684fb7" /><Relationship Type="http://schemas.openxmlformats.org/officeDocument/2006/relationships/officeDocument" Target="/ppt/presentation.xml" Id="R42341a3ad59546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33c8c022cf4f74"/>
  </p:sldMasterIdLst>
  <p:notesMasterIdLst>
    <p:notesMasterId xmlns:r="http://schemas.openxmlformats.org/officeDocument/2006/relationships" r:id="R7b14ed3dbe0e44f8"/>
  </p:notesMasterIdLst>
  <p:sldIdLst>
    <p:sldId xmlns:r="http://schemas.openxmlformats.org/officeDocument/2006/relationships" id="256" r:id="R184347c8baf24c52"/>
    <p:sldId xmlns:r="http://schemas.openxmlformats.org/officeDocument/2006/relationships" id="257" r:id="R15aceac7cda24836"/>
    <p:sldId xmlns:r="http://schemas.openxmlformats.org/officeDocument/2006/relationships" id="258" r:id="R916fdad78bc840ab"/>
    <p:sldId xmlns:r="http://schemas.openxmlformats.org/officeDocument/2006/relationships" id="259" r:id="R229f748e13094acc"/>
    <p:sldId xmlns:r="http://schemas.openxmlformats.org/officeDocument/2006/relationships" id="260" r:id="Rb6245f0298904dda"/>
    <p:sldId xmlns:r="http://schemas.openxmlformats.org/officeDocument/2006/relationships" id="261" r:id="R5f2e14855a07471a"/>
    <p:sldId xmlns:r="http://schemas.openxmlformats.org/officeDocument/2006/relationships" id="262" r:id="R0e351e8b0c184331"/>
    <p:sldId xmlns:r="http://schemas.openxmlformats.org/officeDocument/2006/relationships" id="263" r:id="Rb8fa36d3fcef45db"/>
    <p:sldId xmlns:r="http://schemas.openxmlformats.org/officeDocument/2006/relationships" id="264" r:id="Rd47d14225fb146ff"/>
    <p:sldId xmlns:r="http://schemas.openxmlformats.org/officeDocument/2006/relationships" id="265" r:id="Rd22e89e89d4643e5"/>
    <p:sldId xmlns:r="http://schemas.openxmlformats.org/officeDocument/2006/relationships" id="266" r:id="Rb23de1b899a14137"/>
    <p:sldId xmlns:r="http://schemas.openxmlformats.org/officeDocument/2006/relationships" id="267" r:id="R155ff1a27c514030"/>
    <p:sldId xmlns:r="http://schemas.openxmlformats.org/officeDocument/2006/relationships" id="268" r:id="R3de92e4b6b464832"/>
    <p:sldId xmlns:r="http://schemas.openxmlformats.org/officeDocument/2006/relationships" id="269" r:id="Rc692ac41ea8f430a"/>
    <p:sldId xmlns:r="http://schemas.openxmlformats.org/officeDocument/2006/relationships" id="270" r:id="R5c9caba7c8884df0"/>
    <p:sldId xmlns:r="http://schemas.openxmlformats.org/officeDocument/2006/relationships" id="271" r:id="R98f479c679b84616"/>
    <p:sldId xmlns:r="http://schemas.openxmlformats.org/officeDocument/2006/relationships" id="272" r:id="Re2c73d37ba9a4e3a"/>
    <p:sldId xmlns:r="http://schemas.openxmlformats.org/officeDocument/2006/relationships" id="273" r:id="R31e1fa7df08c4daa"/>
    <p:sldId xmlns:r="http://schemas.openxmlformats.org/officeDocument/2006/relationships" id="274" r:id="Rdfad3b86ef9443bf"/>
    <p:sldId xmlns:r="http://schemas.openxmlformats.org/officeDocument/2006/relationships" id="275" r:id="Red5c6b6e28564981"/>
    <p:sldId xmlns:r="http://schemas.openxmlformats.org/officeDocument/2006/relationships" id="276" r:id="R0c68216789ef4af6"/>
    <p:sldId xmlns:r="http://schemas.openxmlformats.org/officeDocument/2006/relationships" id="277" r:id="Rd4862ae47e0544e7"/>
    <p:sldId xmlns:r="http://schemas.openxmlformats.org/officeDocument/2006/relationships" id="278" r:id="R15e7c831a65d45c3"/>
    <p:sldId xmlns:r="http://schemas.openxmlformats.org/officeDocument/2006/relationships" id="279" r:id="R3ad6ce7efa4a414f"/>
    <p:sldId xmlns:r="http://schemas.openxmlformats.org/officeDocument/2006/relationships" id="280" r:id="Rbaae21d39b6e4c85"/>
    <p:sldId xmlns:r="http://schemas.openxmlformats.org/officeDocument/2006/relationships" id="281" r:id="R5198f3212f08400d"/>
    <p:sldId xmlns:r="http://schemas.openxmlformats.org/officeDocument/2006/relationships" id="282" r:id="R83d85892d74d454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173ee823b7d455a" /><Relationship Type="http://schemas.openxmlformats.org/officeDocument/2006/relationships/slideMaster" Target="/ppt/slideMasters/slideMaster1.xml" Id="R9633c8c022cf4f74" /><Relationship Type="http://schemas.openxmlformats.org/officeDocument/2006/relationships/notesMaster" Target="/ppt/notesMasters/notesMaster1.xml" Id="R7b14ed3dbe0e44f8" /><Relationship Type="http://schemas.openxmlformats.org/officeDocument/2006/relationships/presProps" Target="/ppt/presProps.xml" Id="R149568d8819f4bb4" /><Relationship Type="http://schemas.openxmlformats.org/officeDocument/2006/relationships/tableStyles" Target="/ppt/tableStyles.xml" Id="R51792dd3a4244cf1" /><Relationship Type="http://schemas.openxmlformats.org/officeDocument/2006/relationships/slide" Target="/ppt/slides/slide1.xml" Id="R184347c8baf24c52" /><Relationship Type="http://schemas.openxmlformats.org/officeDocument/2006/relationships/slide" Target="/ppt/slides/slide2.xml" Id="R15aceac7cda24836" /><Relationship Type="http://schemas.openxmlformats.org/officeDocument/2006/relationships/slide" Target="/ppt/slides/slide3.xml" Id="R916fdad78bc840ab" /><Relationship Type="http://schemas.openxmlformats.org/officeDocument/2006/relationships/slide" Target="/ppt/slides/slide4.xml" Id="R229f748e13094acc" /><Relationship Type="http://schemas.openxmlformats.org/officeDocument/2006/relationships/slide" Target="/ppt/slides/slide5.xml" Id="Rb6245f0298904dda" /><Relationship Type="http://schemas.openxmlformats.org/officeDocument/2006/relationships/slide" Target="/ppt/slides/slide6.xml" Id="R5f2e14855a07471a" /><Relationship Type="http://schemas.openxmlformats.org/officeDocument/2006/relationships/slide" Target="/ppt/slides/slide7.xml" Id="R0e351e8b0c184331" /><Relationship Type="http://schemas.openxmlformats.org/officeDocument/2006/relationships/slide" Target="/ppt/slides/slide8.xml" Id="Rb8fa36d3fcef45db" /><Relationship Type="http://schemas.openxmlformats.org/officeDocument/2006/relationships/slide" Target="/ppt/slides/slide9.xml" Id="Rd47d14225fb146ff" /><Relationship Type="http://schemas.openxmlformats.org/officeDocument/2006/relationships/slide" Target="/ppt/slides/slide10.xml" Id="Rd22e89e89d4643e5" /><Relationship Type="http://schemas.openxmlformats.org/officeDocument/2006/relationships/slide" Target="/ppt/slides/slide11.xml" Id="Rb23de1b899a14137" /><Relationship Type="http://schemas.openxmlformats.org/officeDocument/2006/relationships/slide" Target="/ppt/slides/slide12.xml" Id="R155ff1a27c514030" /><Relationship Type="http://schemas.openxmlformats.org/officeDocument/2006/relationships/slide" Target="/ppt/slides/slide13.xml" Id="R3de92e4b6b464832" /><Relationship Type="http://schemas.openxmlformats.org/officeDocument/2006/relationships/slide" Target="/ppt/slides/slide14.xml" Id="Rc692ac41ea8f430a" /><Relationship Type="http://schemas.openxmlformats.org/officeDocument/2006/relationships/slide" Target="/ppt/slides/slide15.xml" Id="R5c9caba7c8884df0" /><Relationship Type="http://schemas.openxmlformats.org/officeDocument/2006/relationships/slide" Target="/ppt/slides/slide16.xml" Id="R98f479c679b84616" /><Relationship Type="http://schemas.openxmlformats.org/officeDocument/2006/relationships/slide" Target="/ppt/slides/slide17.xml" Id="Re2c73d37ba9a4e3a" /><Relationship Type="http://schemas.openxmlformats.org/officeDocument/2006/relationships/slide" Target="/ppt/slides/slide18.xml" Id="R31e1fa7df08c4daa" /><Relationship Type="http://schemas.openxmlformats.org/officeDocument/2006/relationships/slide" Target="/ppt/slides/slide19.xml" Id="Rdfad3b86ef9443bf" /><Relationship Type="http://schemas.openxmlformats.org/officeDocument/2006/relationships/slide" Target="/ppt/slides/slide20.xml" Id="Red5c6b6e28564981" /><Relationship Type="http://schemas.openxmlformats.org/officeDocument/2006/relationships/slide" Target="/ppt/slides/slide21.xml" Id="R0c68216789ef4af6" /><Relationship Type="http://schemas.openxmlformats.org/officeDocument/2006/relationships/slide" Target="/ppt/slides/slide22.xml" Id="Rd4862ae47e0544e7" /><Relationship Type="http://schemas.openxmlformats.org/officeDocument/2006/relationships/slide" Target="/ppt/slides/slide23.xml" Id="R15e7c831a65d45c3" /><Relationship Type="http://schemas.openxmlformats.org/officeDocument/2006/relationships/slide" Target="/ppt/slides/slide24.xml" Id="R3ad6ce7efa4a414f" /><Relationship Type="http://schemas.openxmlformats.org/officeDocument/2006/relationships/slide" Target="/ppt/slides/slide25.xml" Id="Rbaae21d39b6e4c85" /><Relationship Type="http://schemas.openxmlformats.org/officeDocument/2006/relationships/slide" Target="/ppt/slides/slide26.xml" Id="R5198f3212f08400d" /><Relationship Type="http://schemas.openxmlformats.org/officeDocument/2006/relationships/slide" Target="/ppt/slides/slide27.xml" Id="R83d85892d74d45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159b733df8c408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d019ada7a53485f" /><Relationship Type="http://schemas.openxmlformats.org/officeDocument/2006/relationships/notesMaster" Target="/ppt/notesMasters/notesMaster1.xml" Id="R0683168767924d3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2026ed7da64499" /><Relationship Type="http://schemas.openxmlformats.org/officeDocument/2006/relationships/notesMaster" Target="/ppt/notesMasters/notesMaster1.xml" Id="Rc0519764fd8e406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a2b3f5a7f32413f" /><Relationship Type="http://schemas.openxmlformats.org/officeDocument/2006/relationships/notesMaster" Target="/ppt/notesMasters/notesMaster1.xml" Id="R810a04d6a5584ad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7fa882929bf4e1c" /><Relationship Type="http://schemas.openxmlformats.org/officeDocument/2006/relationships/notesMaster" Target="/ppt/notesMasters/notesMaster1.xml" Id="R655a9b2944a246d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c242c7f8e1044e1" /><Relationship Type="http://schemas.openxmlformats.org/officeDocument/2006/relationships/notesMaster" Target="/ppt/notesMasters/notesMaster1.xml" Id="Ra577a8b3cce748e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bfa38d8bbdc4ddf" /><Relationship Type="http://schemas.openxmlformats.org/officeDocument/2006/relationships/notesMaster" Target="/ppt/notesMasters/notesMaster1.xml" Id="Rfb7d1eef6408478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f3c4c8c222f42f0" /><Relationship Type="http://schemas.openxmlformats.org/officeDocument/2006/relationships/notesMaster" Target="/ppt/notesMasters/notesMaster1.xml" Id="Rdbd46905fef540a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385d96611c84132" /><Relationship Type="http://schemas.openxmlformats.org/officeDocument/2006/relationships/notesMaster" Target="/ppt/notesMasters/notesMaster1.xml" Id="Rf99b882c94df410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823d2cb97084abc" /><Relationship Type="http://schemas.openxmlformats.org/officeDocument/2006/relationships/notesMaster" Target="/ppt/notesMasters/notesMaster1.xml" Id="R030de7e97dbf417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34485cbe43c4ef8" /><Relationship Type="http://schemas.openxmlformats.org/officeDocument/2006/relationships/notesMaster" Target="/ppt/notesMasters/notesMaster1.xml" Id="R4eeee326ae7249d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a042a12222849c4" /><Relationship Type="http://schemas.openxmlformats.org/officeDocument/2006/relationships/notesMaster" Target="/ppt/notesMasters/notesMaster1.xml" Id="Rdb1d52423cea4bb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1849d0610eb4b4c" /><Relationship Type="http://schemas.openxmlformats.org/officeDocument/2006/relationships/notesMaster" Target="/ppt/notesMasters/notesMaster1.xml" Id="Rc3e52c68f1ab441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2d0b9169bdc4328" /><Relationship Type="http://schemas.openxmlformats.org/officeDocument/2006/relationships/notesMaster" Target="/ppt/notesMasters/notesMaster1.xml" Id="R053e06779083437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f5e650f39af4f61" /><Relationship Type="http://schemas.openxmlformats.org/officeDocument/2006/relationships/notesMaster" Target="/ppt/notesMasters/notesMaster1.xml" Id="R002a50d1ba3b44a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09fa0709a4644f7" /><Relationship Type="http://schemas.openxmlformats.org/officeDocument/2006/relationships/notesMaster" Target="/ppt/notesMasters/notesMaster1.xml" Id="R32876e862655439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518cda78b594154" /><Relationship Type="http://schemas.openxmlformats.org/officeDocument/2006/relationships/notesMaster" Target="/ppt/notesMasters/notesMaster1.xml" Id="Rd0bc9d9487ae45c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331bf05d11043ae" /><Relationship Type="http://schemas.openxmlformats.org/officeDocument/2006/relationships/notesMaster" Target="/ppt/notesMasters/notesMaster1.xml" Id="Rf7b27b0be95b4cc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814e1106b9249b5" /><Relationship Type="http://schemas.openxmlformats.org/officeDocument/2006/relationships/notesMaster" Target="/ppt/notesMasters/notesMaster1.xml" Id="Rfe51802be98e4f1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3e4468a3aa74775" /><Relationship Type="http://schemas.openxmlformats.org/officeDocument/2006/relationships/notesMaster" Target="/ppt/notesMasters/notesMaster1.xml" Id="Rfff3698ee32a49d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b31d6eb97794991" /><Relationship Type="http://schemas.openxmlformats.org/officeDocument/2006/relationships/notesMaster" Target="/ppt/notesMasters/notesMaster1.xml" Id="R3f881067639b48f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55639dd80814447" /><Relationship Type="http://schemas.openxmlformats.org/officeDocument/2006/relationships/notesMaster" Target="/ppt/notesMasters/notesMaster1.xml" Id="R32c3b85ea98c4ab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6119bb71242405b" /><Relationship Type="http://schemas.openxmlformats.org/officeDocument/2006/relationships/notesMaster" Target="/ppt/notesMasters/notesMaster1.xml" Id="Rbe36fe54650f4d8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9c3c6ca9e504113" /><Relationship Type="http://schemas.openxmlformats.org/officeDocument/2006/relationships/notesMaster" Target="/ppt/notesMasters/notesMaster1.xml" Id="R741c62fe8ac849b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39264218c3143b8" /><Relationship Type="http://schemas.openxmlformats.org/officeDocument/2006/relationships/notesMaster" Target="/ppt/notesMasters/notesMaster1.xml" Id="Rfb5b39050a6043f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3e44706132d4b9f" /><Relationship Type="http://schemas.openxmlformats.org/officeDocument/2006/relationships/notesMaster" Target="/ppt/notesMasters/notesMaster1.xml" Id="R7da7f3ed37a64e0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3fe04f8ce004771" /><Relationship Type="http://schemas.openxmlformats.org/officeDocument/2006/relationships/notesMaster" Target="/ppt/notesMasters/notesMaster1.xml" Id="R465846879fd7405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7f99967e53a434e" /><Relationship Type="http://schemas.openxmlformats.org/officeDocument/2006/relationships/notesMaster" Target="/ppt/notesMasters/notesMaster1.xml" Id="R2ed05e6baccc48d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장표는 3시간 워크샵 시작 전에 보여준다.</a:t>
            </a:r>
          </a:p>
          <a:p xmlns:a="http://schemas.openxmlformats.org/drawingml/2006/main">
            <a:r>
              <a:t>핵심 메시지: 오늘 산출물은 팀별 AX 프로젝트 후보 1장이다.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수업 전반의 산출물을 명확히 한다.</a:t>
            </a:r>
          </a:p>
          <a:p xmlns:a="http://schemas.openxmlformats.org/drawingml/2006/main">
            <a:r>
              <a:t>아이디어 개수를 늘리는 시간이 아니라 실행 가능한 하나의 팀 과제를 고르는 시간이라고 강조한다.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시간표는 실제 운영용이다.</a:t>
            </a:r>
          </a:p>
          <a:p xmlns:a="http://schemas.openxmlformats.org/drawingml/2006/main">
            <a:r>
              <a:t>팀별 발표 시간이 밀리지 않도록 18:10 이후에는 타이머를 사용한다.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과제 선택 기준을 먼저 합의한다.</a:t>
            </a:r>
          </a:p>
          <a:p xmlns:a="http://schemas.openxmlformats.org/drawingml/2006/main">
            <a:r>
              <a:t>보안과 자료 준비 가능성은 후속 구현의 병목이 되므로 초기에 제외 기준으로 사용한다.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팀빌딩 시 역할을 먼저 배정하면 토론이 빨라진다.</a:t>
            </a:r>
          </a:p>
          <a:p xmlns:a="http://schemas.openxmlformats.org/drawingml/2006/main">
            <a:r>
              <a:t>한 명이 두 역할을 겸해도 되지만 최종 책임자는 분리한다.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개인 과제 발굴: 본인 업무에서 후보를 3개 찾습니다.</a:t>
            </a:r>
          </a:p>
          <a:p xmlns:a="http://schemas.openxmlformats.org/drawingml/2006/main">
            <a:r>
              <a:t>개인 작성 10분 → 옆 사람 공유 5분 → 가장 강한 후보 1개 표시 5분</a:t>
            </a:r>
          </a:p>
          <a:p xmlns:a="http://schemas.openxmlformats.org/drawingml/2006/main">
            <a:r>
              <a:t>개인별 후보 3개와 우선 후보 1개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개인 작성 10분, 옆 사람 공유 10분.</a:t>
            </a:r>
          </a:p>
          <a:p xmlns:a="http://schemas.openxmlformats.org/drawingml/2006/main">
            <a:r>
              <a:t>후보는 크고 멋진 프로젝트보다 반복 업무 중심으로 유도한다.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예시는 특정 부서에 제한하지 않는다.</a:t>
            </a:r>
          </a:p>
          <a:p xmlns:a="http://schemas.openxmlformats.org/drawingml/2006/main">
            <a:r>
              <a:t>참여자들이 본인 업무명을 바로 떠올리도록 입력물과 출력물을 묻는다.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과제 후보 점수화: 실행 가능한 후보를 고릅니다.</a:t>
            </a:r>
          </a:p>
          <a:p xmlns:a="http://schemas.openxmlformats.org/drawingml/2006/main">
            <a:r>
              <a:t>후보별 5개 기준 점수화 → 제외 조건 확인 → 팀 토론용 후보 1-2개 선정</a:t>
            </a:r>
          </a:p>
          <a:p xmlns:a="http://schemas.openxmlformats.org/drawingml/2006/main">
            <a:r>
              <a:t>팀 토론으로 가져갈 후보 목록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점수보다 제외 조건을 우선한다.</a:t>
            </a:r>
          </a:p>
          <a:p xmlns:a="http://schemas.openxmlformats.org/drawingml/2006/main">
            <a:r>
              <a:t>안전한 샘플 자료 준비가 불가능한 후보는 8월 구현 과제로 넘기지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팀빌딩: 3인 1조, 총 5개 프로젝트팀을 확정합니다.</a:t>
            </a:r>
          </a:p>
          <a:p xmlns:a="http://schemas.openxmlformats.org/drawingml/2006/main">
            <a:r>
              <a:t>업무 오너, 구현 담당, 검증·발표 담당을 먼저 정하고 주제 축을 선택</a:t>
            </a:r>
          </a:p>
          <a:p xmlns:a="http://schemas.openxmlformats.org/drawingml/2006/main">
            <a:r>
              <a:t>5개 팀 구성표와 팀별 1순위 업무 문제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구성 후 반드시 역할을 적게 한다.</a:t>
            </a:r>
          </a:p>
          <a:p xmlns:a="http://schemas.openxmlformats.org/drawingml/2006/main">
            <a:r>
              <a:t>같은 부서끼리만 묶이지 않도록 퍼실리테이터가 조정한다.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Canvas의 목적은 회의록이 아니라 구현 입력값이다.</a:t>
            </a:r>
          </a:p>
          <a:p xmlns:a="http://schemas.openxmlformats.org/drawingml/2006/main">
            <a:r>
              <a:t>모든 팀이 같은 양식으로 작성해야 8월 멘토링이 가능하다.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Canvas A: 문제와 현재 업무 방식을 씁니다.</a:t>
            </a:r>
          </a:p>
          <a:p xmlns:a="http://schemas.openxmlformats.org/drawingml/2006/main">
            <a:r>
              <a:t>팀 토론 20분 → 업무 문제 한 문장 확정 → 현재 입력/출력/병목 정리</a:t>
            </a:r>
          </a:p>
          <a:p xmlns:a="http://schemas.openxmlformats.org/drawingml/2006/main">
            <a:r>
              <a:t>업무 문제, 현재 방식, 병목, 산출물 정의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현재 업무를 충분히 설명하지 못하면 AI 역할도 모호해진다.</a:t>
            </a:r>
          </a:p>
          <a:p xmlns:a="http://schemas.openxmlformats.org/drawingml/2006/main">
            <a:r>
              <a:t>문제를 기능명으로 쓰지 말고 업무 병목 문장으로 쓰게 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Canvas B: AI 보조 역할과 사람 검토 기준을 나눕니다.</a:t>
            </a:r>
          </a:p>
          <a:p xmlns:a="http://schemas.openxmlformats.org/drawingml/2006/main">
            <a:r>
              <a:t>AI 역할 선택 → 사용 금지 자료 표시 → 품질·보안·승인 기준 작성</a:t>
            </a:r>
          </a:p>
          <a:p xmlns:a="http://schemas.openxmlformats.org/drawingml/2006/main">
            <a:r>
              <a:t>AI Agent 흐름 초안과 검증 기준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AI가 보조하는 일과 사람이 검토·승인하는 일을 분리하게 한다.</a:t>
            </a:r>
          </a:p>
          <a:p xmlns:a="http://schemas.openxmlformats.org/drawingml/2006/main">
            <a:r>
              <a:t>스파로스 데브엑스 활용 전제를 명시한다.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데모 범위 고정: 시연 장면을 하나로 좁힙니다.</a:t>
            </a:r>
          </a:p>
          <a:p xmlns:a="http://schemas.openxmlformats.org/drawingml/2006/main">
            <a:r>
              <a:t>데모 장면, 샘플 데이터, 성공 기준, 제외 범위를 한 장에 작성</a:t>
            </a:r>
          </a:p>
          <a:p xmlns:a="http://schemas.openxmlformats.org/drawingml/2006/main">
            <a:r>
              <a:t>8월 21일 구현 범위와 준비물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구현 범위가 커지는 것을 막는 장표다.</a:t>
            </a:r>
          </a:p>
          <a:p xmlns:a="http://schemas.openxmlformats.org/drawingml/2006/main">
            <a:r>
              <a:t>8월 21일 이전 준비물까지 연결한다.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팀별 1차 발표: 5분 안에 과제 방향을 공유합니다.</a:t>
            </a:r>
          </a:p>
          <a:p xmlns:a="http://schemas.openxmlformats.org/drawingml/2006/main">
            <a:r>
              <a:t>5개 팀 x 5분 발표. 질문은 발표 후 피드백 기록지에 남김</a:t>
            </a:r>
          </a:p>
          <a:p xmlns:a="http://schemas.openxmlformats.org/drawingml/2006/main">
            <a:r>
              <a:t>팀별 발표 내용과 개선 질문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팀별 발표는 5분을 넘기지 않는다.</a:t>
            </a:r>
          </a:p>
          <a:p xmlns:a="http://schemas.openxmlformats.org/drawingml/2006/main">
            <a:r>
              <a:t>발표가 솔루션 판매처럼 흐르면 현재 업무와 자료 준비로 되돌린다.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피드백은 비판이 아니라 구현 가능성을 높이는 질문이다.</a:t>
            </a:r>
          </a:p>
          <a:p xmlns:a="http://schemas.openxmlformats.org/drawingml/2006/main">
            <a:r>
              <a:t>각 팀은 받은 질문 중 1개 이상을 준비계획에 반영하게 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참여자에게 각 팀당 한 줄씩 쓰게 한다.</a:t>
            </a:r>
          </a:p>
          <a:p xmlns:a="http://schemas.openxmlformats.org/drawingml/2006/main">
            <a:r>
              <a:t>마지막 보완 시간에 발표 팀이 피드백을 보고 준비 계획을 수정한다.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8월 준비계획 확정: 다음 수업 전까지 할 일을 배정합니다.</a:t>
            </a:r>
          </a:p>
          <a:p xmlns:a="http://schemas.openxmlformats.org/drawingml/2006/main">
            <a:r>
              <a:t>팀별 피드백 반영 → 샘플 자료/금지 자료/담당자/마감 작성</a:t>
            </a:r>
          </a:p>
          <a:p xmlns:a="http://schemas.openxmlformats.org/drawingml/2006/main">
            <a:r>
              <a:t>팀별 사전 준비 목록과 담당자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각 팀이 이 장표를 완성하지 못하면 8월 구현 수업이 지연된다.</a:t>
            </a:r>
          </a:p>
          <a:p xmlns:a="http://schemas.openxmlformats.org/drawingml/2006/main">
            <a:r>
              <a:t>실데이터를 쓰기 어렵다면 익명 샘플을 준비하게 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후속 수업의 목적을 다시 연결한다.</a:t>
            </a:r>
          </a:p>
          <a:p xmlns:a="http://schemas.openxmlformats.org/drawingml/2006/main">
            <a:r>
              <a:t>오늘 확정한 과제는 8월에 실제 구현해야 하므로 준비물을 반드시 남기게 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 5분에 이 체크리스트를 보며 팀별 제출 상태를 확인한다.</a:t>
            </a:r>
          </a:p>
          <a:p xmlns:a="http://schemas.openxmlformats.org/drawingml/2006/main">
            <a:r>
              <a:t>모든 팀은 최소 Project Canvas 1장을 완성해야 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e2b2203eb54d5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a00d9eb6b214a8a" /><Relationship Type="http://schemas.openxmlformats.org/officeDocument/2006/relationships/slideLayout" Target="/ppt/slideLayouts/slideLayout1.xml" Id="R0c196421bcc543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c196421bcc543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a496f33d0541c9" /><Relationship Type="http://schemas.openxmlformats.org/officeDocument/2006/relationships/image" Target="/ppt/media/image.png" Id="Rc0d0c4d024e5465d" /><Relationship Type="http://schemas.openxmlformats.org/officeDocument/2006/relationships/notesSlide" Target="/ppt/notesSlides/notesSlide1.xml" Id="R4aa46e183cbd40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a6186c3ec3498b" /><Relationship Type="http://schemas.openxmlformats.org/officeDocument/2006/relationships/image" Target="/ppt/media/image2.png" Id="R6474dce9a9454ec0" /><Relationship Type="http://schemas.openxmlformats.org/officeDocument/2006/relationships/notesSlide" Target="/ppt/notesSlides/notesSlide2.xml" Id="Rc91abd57cc1d4f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4b73656b724b49" /><Relationship Type="http://schemas.openxmlformats.org/officeDocument/2006/relationships/image" Target="/ppt/media/image3.png" Id="R901ddc536b0f4706" /><Relationship Type="http://schemas.openxmlformats.org/officeDocument/2006/relationships/notesSlide" Target="/ppt/notesSlides/notesSlide3.xml" Id="Ra9e274f46f3741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df1c66d6934876" /><Relationship Type="http://schemas.openxmlformats.org/officeDocument/2006/relationships/image" Target="/ppt/media/image4.png" Id="R4cf032ae7b1f4f4c" /><Relationship Type="http://schemas.openxmlformats.org/officeDocument/2006/relationships/notesSlide" Target="/ppt/notesSlides/notesSlide4.xml" Id="R6000a698e579434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e9a0b1a3c64ff2" /><Relationship Type="http://schemas.openxmlformats.org/officeDocument/2006/relationships/image" Target="/ppt/media/image5.png" Id="R93da94c394124499" /><Relationship Type="http://schemas.openxmlformats.org/officeDocument/2006/relationships/notesSlide" Target="/ppt/notesSlides/notesSlide5.xml" Id="R450397e5fe8741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8fc55dcd4c41d7" /><Relationship Type="http://schemas.openxmlformats.org/officeDocument/2006/relationships/image" Target="/ppt/media/image6.png" Id="R9e82ae0f85794cfe" /><Relationship Type="http://schemas.openxmlformats.org/officeDocument/2006/relationships/notesSlide" Target="/ppt/notesSlides/notesSlide6.xml" Id="Rc6da157062b14e6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d74cb3ce1c4016" /><Relationship Type="http://schemas.openxmlformats.org/officeDocument/2006/relationships/image" Target="/ppt/media/image7.png" Id="R33ce6aa8c3de435d" /><Relationship Type="http://schemas.openxmlformats.org/officeDocument/2006/relationships/notesSlide" Target="/ppt/notesSlides/notesSlide7.xml" Id="Rd560eb75c30f45a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2718fb726e4543" /><Relationship Type="http://schemas.openxmlformats.org/officeDocument/2006/relationships/image" Target="/ppt/media/image8.png" Id="Rdd44710367de49bf" /><Relationship Type="http://schemas.openxmlformats.org/officeDocument/2006/relationships/notesSlide" Target="/ppt/notesSlides/notesSlide8.xml" Id="Rb528f0e6eb33454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3e02d33d594ac8" /><Relationship Type="http://schemas.openxmlformats.org/officeDocument/2006/relationships/image" Target="/ppt/media/image9.png" Id="Ra7507c5ff7534935" /><Relationship Type="http://schemas.openxmlformats.org/officeDocument/2006/relationships/notesSlide" Target="/ppt/notesSlides/notesSlide9.xml" Id="R72c93a4dd06647a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47cec84156433c" /><Relationship Type="http://schemas.openxmlformats.org/officeDocument/2006/relationships/image" Target="/ppt/media/image10.png" Id="R6cee41ba834e4daf" /><Relationship Type="http://schemas.openxmlformats.org/officeDocument/2006/relationships/notesSlide" Target="/ppt/notesSlides/notesSlide10.xml" Id="R8c74a76ba68e4d2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f0e002e6a546ce" /><Relationship Type="http://schemas.openxmlformats.org/officeDocument/2006/relationships/image" Target="/ppt/media/image11.png" Id="Rd235ba45b72e46d4" /><Relationship Type="http://schemas.openxmlformats.org/officeDocument/2006/relationships/notesSlide" Target="/ppt/notesSlides/notesSlide11.xml" Id="R08d730c30b2e49c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a3b51db48f410f" /><Relationship Type="http://schemas.openxmlformats.org/officeDocument/2006/relationships/image" Target="/ppt/media/image12.png" Id="R9eec182604734ebb" /><Relationship Type="http://schemas.openxmlformats.org/officeDocument/2006/relationships/notesSlide" Target="/ppt/notesSlides/notesSlide12.xml" Id="Rd24599651d96445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75a5572a8948ac" /><Relationship Type="http://schemas.openxmlformats.org/officeDocument/2006/relationships/image" Target="/ppt/media/image13.png" Id="Re44870c70f994a0e" /><Relationship Type="http://schemas.openxmlformats.org/officeDocument/2006/relationships/notesSlide" Target="/ppt/notesSlides/notesSlide13.xml" Id="R7b7b675543734fa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2e6c9092724fda" /><Relationship Type="http://schemas.openxmlformats.org/officeDocument/2006/relationships/image" Target="/ppt/media/image14.png" Id="R5bc7840933b749dc" /><Relationship Type="http://schemas.openxmlformats.org/officeDocument/2006/relationships/notesSlide" Target="/ppt/notesSlides/notesSlide14.xml" Id="Radf8d2a14d5d499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502771db1a43e5" /><Relationship Type="http://schemas.openxmlformats.org/officeDocument/2006/relationships/image" Target="/ppt/media/image15.png" Id="R0ce4a7ba763d49c1" /><Relationship Type="http://schemas.openxmlformats.org/officeDocument/2006/relationships/notesSlide" Target="/ppt/notesSlides/notesSlide15.xml" Id="R377a2201703f4c3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fa0e8f52d443d3" /><Relationship Type="http://schemas.openxmlformats.org/officeDocument/2006/relationships/image" Target="/ppt/media/image16.png" Id="Rcaa1eee98b694b31" /><Relationship Type="http://schemas.openxmlformats.org/officeDocument/2006/relationships/notesSlide" Target="/ppt/notesSlides/notesSlide16.xml" Id="R6d57b02d3d7e4dd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9ad8960a4d4cb0" /><Relationship Type="http://schemas.openxmlformats.org/officeDocument/2006/relationships/image" Target="/ppt/media/image17.png" Id="R0df37eb3844c49ab" /><Relationship Type="http://schemas.openxmlformats.org/officeDocument/2006/relationships/notesSlide" Target="/ppt/notesSlides/notesSlide17.xml" Id="R4fec61c129c1447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c8a9dce5a84322" /><Relationship Type="http://schemas.openxmlformats.org/officeDocument/2006/relationships/image" Target="/ppt/media/image18.png" Id="R8f05d2cb63e241c8" /><Relationship Type="http://schemas.openxmlformats.org/officeDocument/2006/relationships/notesSlide" Target="/ppt/notesSlides/notesSlide18.xml" Id="R47ffc6566e0b472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294b4a8a5f47da" /><Relationship Type="http://schemas.openxmlformats.org/officeDocument/2006/relationships/image" Target="/ppt/media/image19.png" Id="Rd9af3879bd1247f4" /><Relationship Type="http://schemas.openxmlformats.org/officeDocument/2006/relationships/notesSlide" Target="/ppt/notesSlides/notesSlide19.xml" Id="Rc5c0289d5e87437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26549304de4cdb" /><Relationship Type="http://schemas.openxmlformats.org/officeDocument/2006/relationships/image" Target="/ppt/media/image20.png" Id="R9cc936c567ff404a" /><Relationship Type="http://schemas.openxmlformats.org/officeDocument/2006/relationships/notesSlide" Target="/ppt/notesSlides/notesSlide20.xml" Id="R8d53f70a77714a1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2ad932a8294634" /><Relationship Type="http://schemas.openxmlformats.org/officeDocument/2006/relationships/image" Target="/ppt/media/image21.png" Id="Ra51d22272e644a04" /><Relationship Type="http://schemas.openxmlformats.org/officeDocument/2006/relationships/notesSlide" Target="/ppt/notesSlides/notesSlide21.xml" Id="R137a4d1e8b7d469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9971b2523e4a07" /><Relationship Type="http://schemas.openxmlformats.org/officeDocument/2006/relationships/image" Target="/ppt/media/image22.png" Id="R946c1a3959194ed7" /><Relationship Type="http://schemas.openxmlformats.org/officeDocument/2006/relationships/notesSlide" Target="/ppt/notesSlides/notesSlide22.xml" Id="Ra5ae655ac9664c2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3a3db42a2a4960" /><Relationship Type="http://schemas.openxmlformats.org/officeDocument/2006/relationships/image" Target="/ppt/media/image23.png" Id="Rc049a646157e4d33" /><Relationship Type="http://schemas.openxmlformats.org/officeDocument/2006/relationships/notesSlide" Target="/ppt/notesSlides/notesSlide23.xml" Id="R47a8e90cb10347e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26bc01c9ad4f3d" /><Relationship Type="http://schemas.openxmlformats.org/officeDocument/2006/relationships/image" Target="/ppt/media/image24.png" Id="R12e8d841623a40b0" /><Relationship Type="http://schemas.openxmlformats.org/officeDocument/2006/relationships/notesSlide" Target="/ppt/notesSlides/notesSlide24.xml" Id="Ra38a15cfcedf480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86e22b06ac44cf" /><Relationship Type="http://schemas.openxmlformats.org/officeDocument/2006/relationships/image" Target="/ppt/media/image25.png" Id="Rd3c543be72164fc1" /><Relationship Type="http://schemas.openxmlformats.org/officeDocument/2006/relationships/notesSlide" Target="/ppt/notesSlides/notesSlide25.xml" Id="R07152303f9e040c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295d3d8cb440a6" /><Relationship Type="http://schemas.openxmlformats.org/officeDocument/2006/relationships/image" Target="/ppt/media/image26.png" Id="Rcf6a79fada39426f" /><Relationship Type="http://schemas.openxmlformats.org/officeDocument/2006/relationships/notesSlide" Target="/ppt/notesSlides/notesSlide26.xml" Id="R38e4d879b5f447b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dc9b360dff4d05" /><Relationship Type="http://schemas.openxmlformats.org/officeDocument/2006/relationships/image" Target="/ppt/media/image27.png" Id="R31610339e1874350" /><Relationship Type="http://schemas.openxmlformats.org/officeDocument/2006/relationships/notesSlide" Target="/ppt/notesSlides/notesSlide27.xml" Id="R4b26ff77ba5d4e7f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3B8AF2"/>
            </a:gs>
            <a:gs pos="100000">
              <a:srgbClr val="1455A6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CF0815B8-78DF-4302-A5C6-4596791E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62000" y="-952500"/>
            <a:ext cx="3619500" cy="2476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D97E1287-4ED1-47F0-9FE7-367D3E785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" y="-1028700"/>
            <a:ext cx="2857500" cy="2476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" name="cover-orb-1">
            <a:extLst xmlns:a="http://schemas.openxmlformats.org/drawingml/2006/main">
              <a:ext uri="{FF2B5EF4-FFF2-40B4-BE49-F238E27FC236}">
                <a16:creationId xmlns:a16="http://schemas.microsoft.com/office/drawing/2014/main" id="{40605E6E-8AB7-43AA-A09A-7043D82F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3714750" cy="2857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B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ver-orb-2">
            <a:extLst xmlns:a="http://schemas.openxmlformats.org/drawingml/2006/main">
              <a:ext uri="{FF2B5EF4-FFF2-40B4-BE49-F238E27FC236}">
                <a16:creationId xmlns:a16="http://schemas.microsoft.com/office/drawing/2014/main" id="{3831BC65-CECA-49F0-A858-8D13E4B6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10100"/>
            <a:ext cx="3238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8C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logo-backplate">
            <a:extLst xmlns:a="http://schemas.openxmlformats.org/drawingml/2006/main">
              <a:ext uri="{FF2B5EF4-FFF2-40B4-BE49-F238E27FC236}">
                <a16:creationId xmlns:a16="http://schemas.microsoft.com/office/drawing/2014/main" id="{CEAD62AA-AE25-43F7-AA07-22BF6E55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171450"/>
            <a:ext cx="1466850" cy="381000"/>
          </a:xfrm>
          <a:prstGeom xmlns:a="http://schemas.openxmlformats.org/drawingml/2006/main" prst="roundRect">
            <a:avLst>
              <a:gd name="adj" fmla="val 4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0c4d024e5465d"/>
          <a:stretch xmlns:a="http://schemas.openxmlformats.org/drawingml/2006/main"/>
        </p:blipFill>
        <p:spPr>
          <a:xfrm xmlns:a="http://schemas.openxmlformats.org/drawingml/2006/main">
            <a:off x="10648950" y="259612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A62833DC-F37B-4211-BB70-F4BDF7CA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 Native EPM (AI4PM)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78A2675D-8F35-4369-901E-FC7A9DB4E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5905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6월 26일</a:t>
            </a:r>
          </a:p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3시간 워크샵</a:t>
            </a:r>
          </a:p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진행자료</a:t>
            </a:r>
          </a:p>
        </p:txBody>
      </p:sp>
      <p:sp>
        <p:nvSpPr>
          <p:cNvPr id="9" name="cover-line">
            <a:extLst xmlns:a="http://schemas.openxmlformats.org/drawingml/2006/main">
              <a:ext uri="{FF2B5EF4-FFF2-40B4-BE49-F238E27FC236}">
                <a16:creationId xmlns:a16="http://schemas.microsoft.com/office/drawing/2014/main" id="{FBE38037-833D-4B2B-9477-5603824B8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37D63437-0728-4C26-8F0F-B11AB630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C400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C400"/>
                </a:solidFill>
                <a:latin typeface="Pretendard"/>
                <a:ea typeface="Pretendard"/>
                <a:cs typeface="Pretendard"/>
              </a:rPr>
              <a:t>이론 수업 이후 16:00-19:00</a:t>
            </a:r>
          </a:p>
          <a:p xmlns:a="http://schemas.openxmlformats.org/drawingml/2006/main">
            <a:pPr algn="l">
              <a:defRPr sz="1800" b="1">
                <a:solidFill>
                  <a:srgbClr val="FFC400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C400"/>
                </a:solidFill>
                <a:latin typeface="Pretendard"/>
                <a:ea typeface="Pretendard"/>
                <a:cs typeface="Pretendard"/>
              </a:rPr>
              <a:t>팀빌딩 · 과제 발굴 · 8월 실행 준비</a:t>
            </a:r>
          </a:p>
        </p:txBody>
      </p:sp>
      <p:sp>
        <p:nvSpPr>
          <p:cNvPr id="11" name="cover-panel">
            <a:extLst xmlns:a="http://schemas.openxmlformats.org/drawingml/2006/main">
              <a:ext uri="{FF2B5EF4-FFF2-40B4-BE49-F238E27FC236}">
                <a16:creationId xmlns:a16="http://schemas.microsoft.com/office/drawing/2014/main" id="{D8638185-9E6A-4F9E-8574-BB30B6D96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485900"/>
            <a:ext cx="3048000" cy="2971800"/>
          </a:xfrm>
          <a:prstGeom xmlns:a="http://schemas.openxmlformats.org/drawingml/2006/main" prst="roundRect">
            <a:avLst>
              <a:gd name="adj" fmla="val 89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over-metric">
            <a:extLst xmlns:a="http://schemas.openxmlformats.org/drawingml/2006/main">
              <a:ext uri="{FF2B5EF4-FFF2-40B4-BE49-F238E27FC236}">
                <a16:creationId xmlns:a16="http://schemas.microsoft.com/office/drawing/2014/main" id="{3C96123E-55AF-48F6-802F-9D96FDA5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09750"/>
            <a:ext cx="23812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D4D9F"/>
                </a:solidFill>
                <a:latin typeface="Pretendard"/>
                <a:ea typeface="Pretendard"/>
                <a:cs typeface="Pretendard"/>
              </a:defRPr>
            </a:pPr>
            <a:r>
              <a:rPr sz="2850" b="1">
                <a:solidFill>
                  <a:srgbClr val="0D4D9F"/>
                </a:solidFill>
                <a:latin typeface="Pretendard"/>
                <a:ea typeface="Pretendard"/>
                <a:cs typeface="Pretendard"/>
              </a:rPr>
              <a:t>15명</a:t>
            </a:r>
          </a:p>
          <a:p xmlns:a="http://schemas.openxmlformats.org/drawingml/2006/main">
            <a:pPr algn="l">
              <a:defRPr sz="2850" b="1">
                <a:solidFill>
                  <a:srgbClr val="0D4D9F"/>
                </a:solidFill>
                <a:latin typeface="Pretendard"/>
                <a:ea typeface="Pretendard"/>
                <a:cs typeface="Pretendard"/>
              </a:defRPr>
            </a:pPr>
            <a:r>
              <a:rPr sz="2850" b="1">
                <a:solidFill>
                  <a:srgbClr val="0D4D9F"/>
                </a:solidFill>
                <a:latin typeface="Pretendard"/>
                <a:ea typeface="Pretendard"/>
                <a:cs typeface="Pretendard"/>
              </a:rPr>
              <a:t>3인 1조</a:t>
            </a:r>
          </a:p>
          <a:p xmlns:a="http://schemas.openxmlformats.org/drawingml/2006/main">
            <a:pPr algn="l">
              <a:defRPr sz="2850" b="1">
                <a:solidFill>
                  <a:srgbClr val="0D4D9F"/>
                </a:solidFill>
                <a:latin typeface="Pretendard"/>
                <a:ea typeface="Pretendard"/>
                <a:cs typeface="Pretendard"/>
              </a:defRPr>
            </a:pPr>
            <a:r>
              <a:rPr sz="2850" b="1">
                <a:solidFill>
                  <a:srgbClr val="0D4D9F"/>
                </a:solidFill>
                <a:latin typeface="Pretendard"/>
                <a:ea typeface="Pretendard"/>
                <a:cs typeface="Pretendard"/>
              </a:rPr>
              <a:t>5개 팀</a:t>
            </a:r>
          </a:p>
        </p:txBody>
      </p:sp>
      <p:sp>
        <p:nvSpPr>
          <p:cNvPr id="13" name="cover-note">
            <a:extLst xmlns:a="http://schemas.openxmlformats.org/drawingml/2006/main">
              <a:ext uri="{FF2B5EF4-FFF2-40B4-BE49-F238E27FC236}">
                <a16:creationId xmlns:a16="http://schemas.microsoft.com/office/drawing/2014/main" id="{59FF180A-579F-411F-B53F-8925D6611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409950"/>
            <a:ext cx="2362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오늘의 목적은 아이디어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확장이 아니라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8월 21일에 구현할 업무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과제 확정입니다.</a:t>
            </a:r>
          </a:p>
        </p:txBody>
      </p:sp>
      <p:sp>
        <p:nvSpPr>
          <p:cNvPr id="1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4328CECC-6ED3-4889-AD78-31B1B319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6506257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AB1511C1-162F-4A71-AEA9-0CFA4449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B3050360-770B-48E8-95CB-D12B4973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C49B0754-AA7E-4E65-9790-DF93BE30D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A6EDA2A9-7AEC-47E0-820E-F7B55FBE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966B71EC-D1CB-4E42-9317-A4AE4F4CD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BE42A063-98A0-46D6-A595-B16FD336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WORKSHOP OUTCOME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45BBE718-2C02-4E1C-8088-6F0A290FD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강의 내용을 현업 AX 실행 과제로 바꾸는 시간입니다.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29244BEE-8C75-4AE6-9594-CFB44AB4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3시간 뒤 각 팀은 8월 21일 구현 수업으로 가져갈 문제, 자료, 역할, 데모 목표를 확정합니다.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74dce9a9454ec0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9E174115-0BFA-48F6-AEFA-BCFD20DFC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1" name="card-01">
            <a:extLst xmlns:a="http://schemas.openxmlformats.org/drawingml/2006/main">
              <a:ext uri="{FF2B5EF4-FFF2-40B4-BE49-F238E27FC236}">
                <a16:creationId xmlns:a16="http://schemas.microsoft.com/office/drawing/2014/main" id="{524A5F19-F8B1-40CF-829F-44D615AB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25527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CA458BA1-A0C4-4E5B-8DB6-85168AF9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762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EEE226C5-8314-4BDF-AC95-6AF11B7F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6C22355B-DFAC-4D5C-BA0B-1E732587A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해결할 업무 문제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B165A5BD-310D-418D-A79A-1B5234BDC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67100"/>
            <a:ext cx="209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반복, 병목, 검토, 보고,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현업 요청 중 하나를 한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문장으로 고정합니다.</a:t>
            </a:r>
          </a:p>
        </p:txBody>
      </p:sp>
      <p:sp>
        <p:nvSpPr>
          <p:cNvPr id="16" name="card-02">
            <a:extLst xmlns:a="http://schemas.openxmlformats.org/drawingml/2006/main">
              <a:ext uri="{FF2B5EF4-FFF2-40B4-BE49-F238E27FC236}">
                <a16:creationId xmlns:a16="http://schemas.microsoft.com/office/drawing/2014/main" id="{80656AA2-72DF-4321-8AE9-EB2153398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76500"/>
            <a:ext cx="25527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A6E35CC6-6A41-42D1-8643-96E1123E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76500"/>
            <a:ext cx="762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7840122E-AE1B-41B6-AE80-AE0C1AF2D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670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458660EB-551A-4B03-A5C6-A197470D2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5275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AI가 보조할 일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023BDDFC-70D7-4B12-AC99-09B66F0C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67100"/>
            <a:ext cx="209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검색, 분류, 요약, 초안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작성, 코드 생성, 체크리스트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검증 중 역할을 정합니다.</a:t>
            </a:r>
          </a:p>
        </p:txBody>
      </p:sp>
      <p:sp>
        <p:nvSpPr>
          <p:cNvPr id="21" name="card-03">
            <a:extLst xmlns:a="http://schemas.openxmlformats.org/drawingml/2006/main">
              <a:ext uri="{FF2B5EF4-FFF2-40B4-BE49-F238E27FC236}">
                <a16:creationId xmlns:a16="http://schemas.microsoft.com/office/drawing/2014/main" id="{A77345AB-CA97-41AB-ADEE-F03C2C0BC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76500"/>
            <a:ext cx="25527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8513BCBD-CA1A-4B4E-99C7-9D8005EF7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76500"/>
            <a:ext cx="762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E8EBE777-D7E2-435D-98FD-096C45AA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670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53FA9735-CF34-47B8-A81A-2F682A29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5275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사람의 검토 기준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42011DE9-F2A8-4BF4-95F6-497487D0E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67100"/>
            <a:ext cx="209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정확도, 보안, 승인, 대외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전달 여부 등 확인 지점을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먼저 정합니다.</a:t>
            </a:r>
          </a:p>
        </p:txBody>
      </p:sp>
      <p:sp>
        <p:nvSpPr>
          <p:cNvPr id="26" name="card-04">
            <a:extLst xmlns:a="http://schemas.openxmlformats.org/drawingml/2006/main">
              <a:ext uri="{FF2B5EF4-FFF2-40B4-BE49-F238E27FC236}">
                <a16:creationId xmlns:a16="http://schemas.microsoft.com/office/drawing/2014/main" id="{231B5F81-7262-4BA3-80FA-28E50DC42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5527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3848322E-FFC1-49CC-A4C7-B69AC035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762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ard-label">
            <a:extLst xmlns:a="http://schemas.openxmlformats.org/drawingml/2006/main">
              <a:ext uri="{FF2B5EF4-FFF2-40B4-BE49-F238E27FC236}">
                <a16:creationId xmlns:a16="http://schemas.microsoft.com/office/drawing/2014/main" id="{5F49D464-3100-4B5C-94BB-3997CF2D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6670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9" name="card-title">
            <a:extLst xmlns:a="http://schemas.openxmlformats.org/drawingml/2006/main">
              <a:ext uri="{FF2B5EF4-FFF2-40B4-BE49-F238E27FC236}">
                <a16:creationId xmlns:a16="http://schemas.microsoft.com/office/drawing/2014/main" id="{998749A6-749B-4107-ADBC-E2300705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95275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8월 구현 목표</a:t>
            </a:r>
          </a:p>
        </p:txBody>
      </p:sp>
      <p:sp>
        <p:nvSpPr>
          <p:cNvPr id="30" name="card-body">
            <a:extLst xmlns:a="http://schemas.openxmlformats.org/drawingml/2006/main">
              <a:ext uri="{FF2B5EF4-FFF2-40B4-BE49-F238E27FC236}">
                <a16:creationId xmlns:a16="http://schemas.microsoft.com/office/drawing/2014/main" id="{48292CBC-8292-4A71-83A3-A2F9E9586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67100"/>
            <a:ext cx="209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8시간 안에 시연할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흐름을 정합니다.</a:t>
            </a:r>
          </a:p>
        </p:txBody>
      </p:sp>
      <p:sp>
        <p:nvSpPr>
          <p:cNvPr id="31" name="timeline-cell">
            <a:extLst xmlns:a="http://schemas.openxmlformats.org/drawingml/2006/main">
              <a:ext uri="{FF2B5EF4-FFF2-40B4-BE49-F238E27FC236}">
                <a16:creationId xmlns:a16="http://schemas.microsoft.com/office/drawing/2014/main" id="{5F104748-F0EF-4A2E-ABF6-D41595B0C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7653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2" name="timeline-time">
            <a:extLst xmlns:a="http://schemas.openxmlformats.org/drawingml/2006/main">
              <a:ext uri="{FF2B5EF4-FFF2-40B4-BE49-F238E27FC236}">
                <a16:creationId xmlns:a16="http://schemas.microsoft.com/office/drawing/2014/main" id="{9E0F7EE5-D744-4871-97F6-A588810C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53100"/>
            <a:ext cx="153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16:00</a:t>
            </a:r>
          </a:p>
        </p:txBody>
      </p:sp>
      <p:sp>
        <p:nvSpPr>
          <p:cNvPr id="33" name="timeline-text">
            <a:extLst xmlns:a="http://schemas.openxmlformats.org/drawingml/2006/main">
              <a:ext uri="{FF2B5EF4-FFF2-40B4-BE49-F238E27FC236}">
                <a16:creationId xmlns:a16="http://schemas.microsoft.com/office/drawing/2014/main" id="{A636C6C5-B7B9-4A17-89F6-704C30A2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153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목표 전환</a:t>
            </a:r>
          </a:p>
        </p:txBody>
      </p:sp>
      <p:sp>
        <p:nvSpPr>
          <p:cNvPr id="34" name="timeline-cell">
            <a:extLst xmlns:a="http://schemas.openxmlformats.org/drawingml/2006/main">
              <a:ext uri="{FF2B5EF4-FFF2-40B4-BE49-F238E27FC236}">
                <a16:creationId xmlns:a16="http://schemas.microsoft.com/office/drawing/2014/main" id="{2DE8228A-5C32-43DE-83C5-EBFE1C9DD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100" y="5657850"/>
            <a:ext cx="17653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5" name="timeline-time">
            <a:extLst xmlns:a="http://schemas.openxmlformats.org/drawingml/2006/main">
              <a:ext uri="{FF2B5EF4-FFF2-40B4-BE49-F238E27FC236}">
                <a16:creationId xmlns:a16="http://schemas.microsoft.com/office/drawing/2014/main" id="{B30E8AFF-0409-494B-8700-09A469165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753100"/>
            <a:ext cx="153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16:10</a:t>
            </a:r>
          </a:p>
        </p:txBody>
      </p:sp>
      <p:sp>
        <p:nvSpPr>
          <p:cNvPr id="36" name="timeline-text">
            <a:extLst xmlns:a="http://schemas.openxmlformats.org/drawingml/2006/main">
              <a:ext uri="{FF2B5EF4-FFF2-40B4-BE49-F238E27FC236}">
                <a16:creationId xmlns:a16="http://schemas.microsoft.com/office/drawing/2014/main" id="{E46BC1E3-E392-4AC2-9F56-D13F28CC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943600"/>
            <a:ext cx="153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개인 발굴</a:t>
            </a:r>
          </a:p>
        </p:txBody>
      </p:sp>
      <p:sp>
        <p:nvSpPr>
          <p:cNvPr id="37" name="timeline-cell">
            <a:extLst xmlns:a="http://schemas.openxmlformats.org/drawingml/2006/main">
              <a:ext uri="{FF2B5EF4-FFF2-40B4-BE49-F238E27FC236}">
                <a16:creationId xmlns:a16="http://schemas.microsoft.com/office/drawing/2014/main" id="{DFD63620-2CFD-4E5D-BF2C-7C4B71EE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5657850"/>
            <a:ext cx="17653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8" name="timeline-time">
            <a:extLst xmlns:a="http://schemas.openxmlformats.org/drawingml/2006/main">
              <a:ext uri="{FF2B5EF4-FFF2-40B4-BE49-F238E27FC236}">
                <a16:creationId xmlns:a16="http://schemas.microsoft.com/office/drawing/2014/main" id="{257222FD-E6EB-4AEC-A260-53FBFA8D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753100"/>
            <a:ext cx="153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16:45</a:t>
            </a:r>
          </a:p>
        </p:txBody>
      </p:sp>
      <p:sp>
        <p:nvSpPr>
          <p:cNvPr id="39" name="timeline-text">
            <a:extLst xmlns:a="http://schemas.openxmlformats.org/drawingml/2006/main">
              <a:ext uri="{FF2B5EF4-FFF2-40B4-BE49-F238E27FC236}">
                <a16:creationId xmlns:a16="http://schemas.microsoft.com/office/drawing/2014/main" id="{7EE46B49-19A4-479F-BE44-04BFD30A3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943600"/>
            <a:ext cx="153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 구성</a:t>
            </a:r>
          </a:p>
        </p:txBody>
      </p:sp>
      <p:sp>
        <p:nvSpPr>
          <p:cNvPr id="40" name="timeline-cell">
            <a:extLst xmlns:a="http://schemas.openxmlformats.org/drawingml/2006/main">
              <a:ext uri="{FF2B5EF4-FFF2-40B4-BE49-F238E27FC236}">
                <a16:creationId xmlns:a16="http://schemas.microsoft.com/office/drawing/2014/main" id="{4C08FFC6-C745-4325-9A8C-1A4A6118C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657850"/>
            <a:ext cx="17653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1" name="timeline-time">
            <a:extLst xmlns:a="http://schemas.openxmlformats.org/drawingml/2006/main">
              <a:ext uri="{FF2B5EF4-FFF2-40B4-BE49-F238E27FC236}">
                <a16:creationId xmlns:a16="http://schemas.microsoft.com/office/drawing/2014/main" id="{09482E64-EC53-44FF-8BA8-31296A607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753100"/>
            <a:ext cx="153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17:05</a:t>
            </a:r>
          </a:p>
        </p:txBody>
      </p:sp>
      <p:sp>
        <p:nvSpPr>
          <p:cNvPr id="42" name="timeline-text">
            <a:extLst xmlns:a="http://schemas.openxmlformats.org/drawingml/2006/main">
              <a:ext uri="{FF2B5EF4-FFF2-40B4-BE49-F238E27FC236}">
                <a16:creationId xmlns:a16="http://schemas.microsoft.com/office/drawing/2014/main" id="{76B4B770-79D6-48E3-A111-5789B9216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943600"/>
            <a:ext cx="153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캔버스</a:t>
            </a:r>
          </a:p>
        </p:txBody>
      </p:sp>
      <p:sp>
        <p:nvSpPr>
          <p:cNvPr id="43" name="timeline-cell">
            <a:extLst xmlns:a="http://schemas.openxmlformats.org/drawingml/2006/main">
              <a:ext uri="{FF2B5EF4-FFF2-40B4-BE49-F238E27FC236}">
                <a16:creationId xmlns:a16="http://schemas.microsoft.com/office/drawing/2014/main" id="{3629847F-42C3-4811-890B-75498E0A0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5657850"/>
            <a:ext cx="17653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4" name="timeline-time">
            <a:extLst xmlns:a="http://schemas.openxmlformats.org/drawingml/2006/main">
              <a:ext uri="{FF2B5EF4-FFF2-40B4-BE49-F238E27FC236}">
                <a16:creationId xmlns:a16="http://schemas.microsoft.com/office/drawing/2014/main" id="{3954951F-E009-42E9-94E8-5A333A18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753100"/>
            <a:ext cx="153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18:10</a:t>
            </a:r>
          </a:p>
        </p:txBody>
      </p:sp>
      <p:sp>
        <p:nvSpPr>
          <p:cNvPr id="45" name="timeline-text">
            <a:extLst xmlns:a="http://schemas.openxmlformats.org/drawingml/2006/main">
              <a:ext uri="{FF2B5EF4-FFF2-40B4-BE49-F238E27FC236}">
                <a16:creationId xmlns:a16="http://schemas.microsoft.com/office/drawing/2014/main" id="{C792A280-A0B5-4807-84D8-8389F7114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943600"/>
            <a:ext cx="153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발표</a:t>
            </a:r>
          </a:p>
        </p:txBody>
      </p:sp>
      <p:sp>
        <p:nvSpPr>
          <p:cNvPr id="46" name="timeline-cell">
            <a:extLst xmlns:a="http://schemas.openxmlformats.org/drawingml/2006/main">
              <a:ext uri="{FF2B5EF4-FFF2-40B4-BE49-F238E27FC236}">
                <a16:creationId xmlns:a16="http://schemas.microsoft.com/office/drawing/2014/main" id="{949F2620-7CEA-4FA4-98D2-823A48011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7100" y="5657850"/>
            <a:ext cx="17653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7" name="timeline-time">
            <a:extLst xmlns:a="http://schemas.openxmlformats.org/drawingml/2006/main">
              <a:ext uri="{FF2B5EF4-FFF2-40B4-BE49-F238E27FC236}">
                <a16:creationId xmlns:a16="http://schemas.microsoft.com/office/drawing/2014/main" id="{D1A468EA-3C94-4836-9D5C-264EBD6F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753100"/>
            <a:ext cx="153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18:50</a:t>
            </a:r>
          </a:p>
        </p:txBody>
      </p:sp>
      <p:sp>
        <p:nvSpPr>
          <p:cNvPr id="48" name="timeline-text">
            <a:extLst xmlns:a="http://schemas.openxmlformats.org/drawingml/2006/main">
              <a:ext uri="{FF2B5EF4-FFF2-40B4-BE49-F238E27FC236}">
                <a16:creationId xmlns:a16="http://schemas.microsoft.com/office/drawing/2014/main" id="{E400876B-31E1-40AA-9430-35E2EF4E5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943600"/>
            <a:ext cx="153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다음 액션</a:t>
            </a:r>
          </a:p>
        </p:txBody>
      </p:sp>
    </p:spTree>
    <p:extLst>
      <p:ext uri="{BB962C8B-B14F-4D97-AF65-F5344CB8AC3E}">
        <p14:creationId xmlns:p14="http://schemas.microsoft.com/office/powerpoint/2010/main" val="10172068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474BCDCF-40DC-4B57-8CE0-A37477A3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66008296-0CDC-4AB8-AB03-64CE4E1B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984E8053-975A-4003-88E6-D8487F9DC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1A1BA5CA-A227-4430-B0A7-AF32F7D6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9B8CBB08-C48E-4DD9-BFC4-B8FC11B9C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DEE2B2F0-6EBE-43F9-9F6E-6FE8EBDD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180-MINUTE RUN SHEET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85BD9B19-2FDE-4B83-A330-B44646C49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16:00-19:00 워크샵 세부 시간표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F6BBBDB3-A026-465F-8047-A36F6D64B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진행자는 시간 박스를 끊어 운영하고, 각 팀은 단계별 산출물을 하나씩 남깁니다.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1ddc536b0f4706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54029650-F5CA-4DC7-BE82-63697CD7F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1" name="schedule-row">
            <a:extLst xmlns:a="http://schemas.openxmlformats.org/drawingml/2006/main">
              <a:ext uri="{FF2B5EF4-FFF2-40B4-BE49-F238E27FC236}">
                <a16:creationId xmlns:a16="http://schemas.microsoft.com/office/drawing/2014/main" id="{ED0FC2CC-7461-4D82-A865-E17A67F4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1085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2" name="time">
            <a:extLst xmlns:a="http://schemas.openxmlformats.org/drawingml/2006/main">
              <a:ext uri="{FF2B5EF4-FFF2-40B4-BE49-F238E27FC236}">
                <a16:creationId xmlns:a16="http://schemas.microsoft.com/office/drawing/2014/main" id="{DF4945E1-338A-4629-BA6E-5FF952F4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16:00-16:10</a:t>
            </a:r>
          </a:p>
        </p:txBody>
      </p:sp>
      <p:sp>
        <p:nvSpPr>
          <p:cNvPr id="13" name="activity">
            <a:extLst xmlns:a="http://schemas.openxmlformats.org/drawingml/2006/main">
              <a:ext uri="{FF2B5EF4-FFF2-40B4-BE49-F238E27FC236}">
                <a16:creationId xmlns:a16="http://schemas.microsoft.com/office/drawing/2014/main" id="{29C23F03-5685-4B44-A09D-F462E8CAE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1336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전환 브리핑</a:t>
            </a:r>
          </a:p>
        </p:txBody>
      </p:sp>
      <p:sp>
        <p:nvSpPr>
          <p:cNvPr id="14" name="output">
            <a:extLst xmlns:a="http://schemas.openxmlformats.org/drawingml/2006/main">
              <a:ext uri="{FF2B5EF4-FFF2-40B4-BE49-F238E27FC236}">
                <a16:creationId xmlns:a16="http://schemas.microsoft.com/office/drawing/2014/main" id="{CD12E40C-5CB2-4D1D-8E15-CD320ADA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33600"/>
            <a:ext cx="638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오늘 산출물과 8월 과정 연결 설명</a:t>
            </a:r>
          </a:p>
        </p:txBody>
      </p:sp>
      <p:sp>
        <p:nvSpPr>
          <p:cNvPr id="15" name="schedule-row">
            <a:extLst xmlns:a="http://schemas.openxmlformats.org/drawingml/2006/main">
              <a:ext uri="{FF2B5EF4-FFF2-40B4-BE49-F238E27FC236}">
                <a16:creationId xmlns:a16="http://schemas.microsoft.com/office/drawing/2014/main" id="{E017D8C7-F3A2-432C-A1BC-81E63A22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66975"/>
            <a:ext cx="1085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6" name="time">
            <a:extLst xmlns:a="http://schemas.openxmlformats.org/drawingml/2006/main">
              <a:ext uri="{FF2B5EF4-FFF2-40B4-BE49-F238E27FC236}">
                <a16:creationId xmlns:a16="http://schemas.microsoft.com/office/drawing/2014/main" id="{FDDC8367-90FF-4FD8-8486-BBB0F3E8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527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16:10-16:30</a:t>
            </a:r>
          </a:p>
        </p:txBody>
      </p:sp>
      <p:sp>
        <p:nvSpPr>
          <p:cNvPr id="17" name="activity">
            <a:extLst xmlns:a="http://schemas.openxmlformats.org/drawingml/2006/main">
              <a:ext uri="{FF2B5EF4-FFF2-40B4-BE49-F238E27FC236}">
                <a16:creationId xmlns:a16="http://schemas.microsoft.com/office/drawing/2014/main" id="{64395A41-5988-4530-A13A-94A8E209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552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개인 과제 발굴</a:t>
            </a:r>
          </a:p>
        </p:txBody>
      </p:sp>
      <p:sp>
        <p:nvSpPr>
          <p:cNvPr id="18" name="output">
            <a:extLst xmlns:a="http://schemas.openxmlformats.org/drawingml/2006/main">
              <a:ext uri="{FF2B5EF4-FFF2-40B4-BE49-F238E27FC236}">
                <a16:creationId xmlns:a16="http://schemas.microsoft.com/office/drawing/2014/main" id="{A440A7F0-D4CA-4513-8F39-3CAC11F9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52700"/>
            <a:ext cx="638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반복/병목/검토/보고 업무 후보 작성</a:t>
            </a:r>
          </a:p>
        </p:txBody>
      </p:sp>
      <p:sp>
        <p:nvSpPr>
          <p:cNvPr id="19" name="schedule-row">
            <a:extLst xmlns:a="http://schemas.openxmlformats.org/drawingml/2006/main">
              <a:ext uri="{FF2B5EF4-FFF2-40B4-BE49-F238E27FC236}">
                <a16:creationId xmlns:a16="http://schemas.microsoft.com/office/drawing/2014/main" id="{C83E4974-A915-4109-8C91-26A46B34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86075"/>
            <a:ext cx="1085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0" name="time">
            <a:extLst xmlns:a="http://schemas.openxmlformats.org/drawingml/2006/main">
              <a:ext uri="{FF2B5EF4-FFF2-40B4-BE49-F238E27FC236}">
                <a16:creationId xmlns:a16="http://schemas.microsoft.com/office/drawing/2014/main" id="{23B64D5B-1AB2-4158-AE43-C6258ABD9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718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16:30-16:45</a:t>
            </a:r>
          </a:p>
        </p:txBody>
      </p:sp>
      <p:sp>
        <p:nvSpPr>
          <p:cNvPr id="21" name="activity">
            <a:extLst xmlns:a="http://schemas.openxmlformats.org/drawingml/2006/main">
              <a:ext uri="{FF2B5EF4-FFF2-40B4-BE49-F238E27FC236}">
                <a16:creationId xmlns:a16="http://schemas.microsoft.com/office/drawing/2014/main" id="{D2861644-564E-487F-AFE8-57EA57D32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9718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후보 점수화</a:t>
            </a:r>
          </a:p>
        </p:txBody>
      </p:sp>
      <p:sp>
        <p:nvSpPr>
          <p:cNvPr id="22" name="output">
            <a:extLst xmlns:a="http://schemas.openxmlformats.org/drawingml/2006/main">
              <a:ext uri="{FF2B5EF4-FFF2-40B4-BE49-F238E27FC236}">
                <a16:creationId xmlns:a16="http://schemas.microsoft.com/office/drawing/2014/main" id="{165AA0F2-4A40-4454-92DA-EED624E63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71800"/>
            <a:ext cx="638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현업성, 구현성, 자료 준비도 기준으로 1차 선택</a:t>
            </a:r>
          </a:p>
        </p:txBody>
      </p:sp>
      <p:sp>
        <p:nvSpPr>
          <p:cNvPr id="23" name="schedule-row">
            <a:extLst xmlns:a="http://schemas.openxmlformats.org/drawingml/2006/main">
              <a:ext uri="{FF2B5EF4-FFF2-40B4-BE49-F238E27FC236}">
                <a16:creationId xmlns:a16="http://schemas.microsoft.com/office/drawing/2014/main" id="{CA469148-16AF-4160-90C3-8EA398BE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05175"/>
            <a:ext cx="1085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4" name="time">
            <a:extLst xmlns:a="http://schemas.openxmlformats.org/drawingml/2006/main">
              <a:ext uri="{FF2B5EF4-FFF2-40B4-BE49-F238E27FC236}">
                <a16:creationId xmlns:a16="http://schemas.microsoft.com/office/drawing/2014/main" id="{C3771BB2-3EE7-4AD5-8839-051EA02B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909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16:45-17:05</a:t>
            </a:r>
          </a:p>
        </p:txBody>
      </p:sp>
      <p:sp>
        <p:nvSpPr>
          <p:cNvPr id="25" name="activity">
            <a:extLst xmlns:a="http://schemas.openxmlformats.org/drawingml/2006/main">
              <a:ext uri="{FF2B5EF4-FFF2-40B4-BE49-F238E27FC236}">
                <a16:creationId xmlns:a16="http://schemas.microsoft.com/office/drawing/2014/main" id="{A78EF767-1810-4420-9946-32C74D044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3909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팀빌딩</a:t>
            </a:r>
          </a:p>
        </p:txBody>
      </p:sp>
      <p:sp>
        <p:nvSpPr>
          <p:cNvPr id="26" name="output">
            <a:extLst xmlns:a="http://schemas.openxmlformats.org/drawingml/2006/main">
              <a:ext uri="{FF2B5EF4-FFF2-40B4-BE49-F238E27FC236}">
                <a16:creationId xmlns:a16="http://schemas.microsoft.com/office/drawing/2014/main" id="{A799E50B-A792-4C3B-A16E-60E7FFBA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390900"/>
            <a:ext cx="638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3인 1조, 5개 팀, 역할 배정</a:t>
            </a:r>
          </a:p>
        </p:txBody>
      </p:sp>
      <p:sp>
        <p:nvSpPr>
          <p:cNvPr id="27" name="schedule-row">
            <a:extLst xmlns:a="http://schemas.openxmlformats.org/drawingml/2006/main">
              <a:ext uri="{FF2B5EF4-FFF2-40B4-BE49-F238E27FC236}">
                <a16:creationId xmlns:a16="http://schemas.microsoft.com/office/drawing/2014/main" id="{C732EC82-AE36-4861-BD22-402D67F15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24275"/>
            <a:ext cx="1085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8" name="time">
            <a:extLst xmlns:a="http://schemas.openxmlformats.org/drawingml/2006/main">
              <a:ext uri="{FF2B5EF4-FFF2-40B4-BE49-F238E27FC236}">
                <a16:creationId xmlns:a16="http://schemas.microsoft.com/office/drawing/2014/main" id="{AEFA492F-D9EB-4848-8DFA-791F1F0B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100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17:05-17:55</a:t>
            </a:r>
          </a:p>
        </p:txBody>
      </p:sp>
      <p:sp>
        <p:nvSpPr>
          <p:cNvPr id="29" name="activity">
            <a:extLst xmlns:a="http://schemas.openxmlformats.org/drawingml/2006/main">
              <a:ext uri="{FF2B5EF4-FFF2-40B4-BE49-F238E27FC236}">
                <a16:creationId xmlns:a16="http://schemas.microsoft.com/office/drawing/2014/main" id="{35B8D4CE-1058-4441-9A34-BE3473C7D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8100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Project Canvas</a:t>
            </a:r>
          </a:p>
        </p:txBody>
      </p:sp>
      <p:sp>
        <p:nvSpPr>
          <p:cNvPr id="30" name="output">
            <a:extLst xmlns:a="http://schemas.openxmlformats.org/drawingml/2006/main">
              <a:ext uri="{FF2B5EF4-FFF2-40B4-BE49-F238E27FC236}">
                <a16:creationId xmlns:a16="http://schemas.microsoft.com/office/drawing/2014/main" id="{1F4DBDAC-143F-4EEE-BDD2-16B22779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810000"/>
            <a:ext cx="638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문제, 현재 방식, AI 보조 역할, 검토 기준 작성</a:t>
            </a:r>
          </a:p>
        </p:txBody>
      </p:sp>
      <p:sp>
        <p:nvSpPr>
          <p:cNvPr id="31" name="schedule-row">
            <a:extLst xmlns:a="http://schemas.openxmlformats.org/drawingml/2006/main">
              <a:ext uri="{FF2B5EF4-FFF2-40B4-BE49-F238E27FC236}">
                <a16:creationId xmlns:a16="http://schemas.microsoft.com/office/drawing/2014/main" id="{285AC66F-3B71-40A5-8488-9C675EFD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43375"/>
            <a:ext cx="1085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2" name="time">
            <a:extLst xmlns:a="http://schemas.openxmlformats.org/drawingml/2006/main">
              <a:ext uri="{FF2B5EF4-FFF2-40B4-BE49-F238E27FC236}">
                <a16:creationId xmlns:a16="http://schemas.microsoft.com/office/drawing/2014/main" id="{6AB146D2-212D-43E7-A985-112364EB0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17:55-18:10</a:t>
            </a:r>
          </a:p>
        </p:txBody>
      </p:sp>
      <p:sp>
        <p:nvSpPr>
          <p:cNvPr id="33" name="activity">
            <a:extLst xmlns:a="http://schemas.openxmlformats.org/drawingml/2006/main">
              <a:ext uri="{FF2B5EF4-FFF2-40B4-BE49-F238E27FC236}">
                <a16:creationId xmlns:a16="http://schemas.microsoft.com/office/drawing/2014/main" id="{B7B511AA-A9FE-4794-817C-69EAF01B1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2291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휴식 및 보완</a:t>
            </a:r>
          </a:p>
        </p:txBody>
      </p:sp>
      <p:sp>
        <p:nvSpPr>
          <p:cNvPr id="34" name="output">
            <a:extLst xmlns:a="http://schemas.openxmlformats.org/drawingml/2006/main">
              <a:ext uri="{FF2B5EF4-FFF2-40B4-BE49-F238E27FC236}">
                <a16:creationId xmlns:a16="http://schemas.microsoft.com/office/drawing/2014/main" id="{D2A47333-1693-4287-9E31-346BAF220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229100"/>
            <a:ext cx="638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발표 전 누락 항목 확인</a:t>
            </a:r>
          </a:p>
        </p:txBody>
      </p:sp>
      <p:sp>
        <p:nvSpPr>
          <p:cNvPr id="35" name="schedule-row">
            <a:extLst xmlns:a="http://schemas.openxmlformats.org/drawingml/2006/main">
              <a:ext uri="{FF2B5EF4-FFF2-40B4-BE49-F238E27FC236}">
                <a16:creationId xmlns:a16="http://schemas.microsoft.com/office/drawing/2014/main" id="{D924FE7F-E1D0-461F-92B4-DB31592EE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1085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6" name="time">
            <a:extLst xmlns:a="http://schemas.openxmlformats.org/drawingml/2006/main">
              <a:ext uri="{FF2B5EF4-FFF2-40B4-BE49-F238E27FC236}">
                <a16:creationId xmlns:a16="http://schemas.microsoft.com/office/drawing/2014/main" id="{C69AD16B-2FFF-4CC0-8C9B-5AEF41E70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18:10-18:35</a:t>
            </a:r>
          </a:p>
        </p:txBody>
      </p:sp>
      <p:sp>
        <p:nvSpPr>
          <p:cNvPr id="37" name="activity">
            <a:extLst xmlns:a="http://schemas.openxmlformats.org/drawingml/2006/main">
              <a:ext uri="{FF2B5EF4-FFF2-40B4-BE49-F238E27FC236}">
                <a16:creationId xmlns:a16="http://schemas.microsoft.com/office/drawing/2014/main" id="{172F889B-EA82-4042-8AD4-BC91C446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6482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팀별 1차 발표</a:t>
            </a:r>
          </a:p>
        </p:txBody>
      </p:sp>
      <p:sp>
        <p:nvSpPr>
          <p:cNvPr id="38" name="output">
            <a:extLst xmlns:a="http://schemas.openxmlformats.org/drawingml/2006/main">
              <a:ext uri="{FF2B5EF4-FFF2-40B4-BE49-F238E27FC236}">
                <a16:creationId xmlns:a16="http://schemas.microsoft.com/office/drawing/2014/main" id="{C8C78E24-E923-4487-9E0D-9EE142621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648200"/>
            <a:ext cx="638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5개 팀 발표와 질문</a:t>
            </a:r>
          </a:p>
        </p:txBody>
      </p:sp>
      <p:sp>
        <p:nvSpPr>
          <p:cNvPr id="39" name="schedule-row">
            <a:extLst xmlns:a="http://schemas.openxmlformats.org/drawingml/2006/main">
              <a:ext uri="{FF2B5EF4-FFF2-40B4-BE49-F238E27FC236}">
                <a16:creationId xmlns:a16="http://schemas.microsoft.com/office/drawing/2014/main" id="{D49E8AEE-78E1-469F-AA9B-3141551CE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81575"/>
            <a:ext cx="1085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0" name="time">
            <a:extLst xmlns:a="http://schemas.openxmlformats.org/drawingml/2006/main">
              <a:ext uri="{FF2B5EF4-FFF2-40B4-BE49-F238E27FC236}">
                <a16:creationId xmlns:a16="http://schemas.microsoft.com/office/drawing/2014/main" id="{AAE381E5-24AB-47C9-97D4-0646E74A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673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18:35-18:50</a:t>
            </a:r>
          </a:p>
        </p:txBody>
      </p:sp>
      <p:sp>
        <p:nvSpPr>
          <p:cNvPr id="41" name="activity">
            <a:extLst xmlns:a="http://schemas.openxmlformats.org/drawingml/2006/main">
              <a:ext uri="{FF2B5EF4-FFF2-40B4-BE49-F238E27FC236}">
                <a16:creationId xmlns:a16="http://schemas.microsoft.com/office/drawing/2014/main" id="{9674601F-AB24-48F8-8210-009AA9AE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0673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8월 준비계획</a:t>
            </a:r>
          </a:p>
        </p:txBody>
      </p:sp>
      <p:sp>
        <p:nvSpPr>
          <p:cNvPr id="42" name="output">
            <a:extLst xmlns:a="http://schemas.openxmlformats.org/drawingml/2006/main">
              <a:ext uri="{FF2B5EF4-FFF2-40B4-BE49-F238E27FC236}">
                <a16:creationId xmlns:a16="http://schemas.microsoft.com/office/drawing/2014/main" id="{A852BB26-AC13-4836-9785-F9B6E54D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067300"/>
            <a:ext cx="638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자료, 담당자, 데모 목표 확정</a:t>
            </a:r>
          </a:p>
        </p:txBody>
      </p:sp>
      <p:sp>
        <p:nvSpPr>
          <p:cNvPr id="43" name="schedule-row">
            <a:extLst xmlns:a="http://schemas.openxmlformats.org/drawingml/2006/main">
              <a:ext uri="{FF2B5EF4-FFF2-40B4-BE49-F238E27FC236}">
                <a16:creationId xmlns:a16="http://schemas.microsoft.com/office/drawing/2014/main" id="{0971529F-6F99-4B81-9B80-493C68C7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00675"/>
            <a:ext cx="1085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4" name="time">
            <a:extLst xmlns:a="http://schemas.openxmlformats.org/drawingml/2006/main">
              <a:ext uri="{FF2B5EF4-FFF2-40B4-BE49-F238E27FC236}">
                <a16:creationId xmlns:a16="http://schemas.microsoft.com/office/drawing/2014/main" id="{43E876EC-53B6-49CD-AA28-F0C838E7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864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18:50-19:00</a:t>
            </a:r>
          </a:p>
        </p:txBody>
      </p:sp>
      <p:sp>
        <p:nvSpPr>
          <p:cNvPr id="45" name="activity">
            <a:extLst xmlns:a="http://schemas.openxmlformats.org/drawingml/2006/main">
              <a:ext uri="{FF2B5EF4-FFF2-40B4-BE49-F238E27FC236}">
                <a16:creationId xmlns:a16="http://schemas.microsoft.com/office/drawing/2014/main" id="{95A5933A-E4C8-44D7-BC19-F6C6A8BF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4864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클로징</a:t>
            </a:r>
          </a:p>
        </p:txBody>
      </p:sp>
      <p:sp>
        <p:nvSpPr>
          <p:cNvPr id="46" name="output">
            <a:extLst xmlns:a="http://schemas.openxmlformats.org/drawingml/2006/main">
              <a:ext uri="{FF2B5EF4-FFF2-40B4-BE49-F238E27FC236}">
                <a16:creationId xmlns:a16="http://schemas.microsoft.com/office/drawing/2014/main" id="{8B97A96E-E4CA-43D8-8B2F-6603128A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486400"/>
            <a:ext cx="638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제출물 확인과 다음 수업 안내</a:t>
            </a:r>
          </a:p>
        </p:txBody>
      </p:sp>
    </p:spTree>
    <p:extLst>
      <p:ext uri="{BB962C8B-B14F-4D97-AF65-F5344CB8AC3E}">
        <p14:creationId xmlns:p14="http://schemas.microsoft.com/office/powerpoint/2010/main" val="20420314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D755B9E7-B6FC-48C9-B91D-5DAE6200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5BD89BE0-8F8C-4E36-A438-BCA942479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C7833CD9-7604-4698-AF39-0262709DD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0295008D-5642-4AD1-8BAE-9A9C869D3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2C52E877-DDEB-45B0-BF47-E1DBF9379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2F4D3E63-4C38-4E6A-A81C-7C2595B3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운영 기준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78119F8E-922A-44FD-B1C5-5CA9F20F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작게 잡고, 실제로 만들 수 있게 좁힙니다.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A1B466AD-73AE-4D0C-B5C3-A821E582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8월 21일은 다시 아이디어를 내는 날이 아니라 구현과 멘토링을 시작하는 날입니다.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f032ae7b1f4f4c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E65AF74A-D9B4-4DB7-BD41-82706282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11" name="card-RULE 1">
            <a:extLst xmlns:a="http://schemas.openxmlformats.org/drawingml/2006/main">
              <a:ext uri="{FF2B5EF4-FFF2-40B4-BE49-F238E27FC236}">
                <a16:creationId xmlns:a16="http://schemas.microsoft.com/office/drawing/2014/main" id="{25872A28-04D0-4FE5-8CC8-6A02E263B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42900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8127ACCB-309E-41DE-AB35-28EE963A5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FD0A78EF-806E-4DAA-8586-70A30EA0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RULE 1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C5FA5B29-4E51-4340-8D05-9F58524FD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업무성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97A8BD3F-C7CA-46AA-8F6D-8E26DABFE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2971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현업에서 반복되거나 병목을 만드는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업무여야 합니다.</a:t>
            </a:r>
          </a:p>
        </p:txBody>
      </p:sp>
      <p:sp>
        <p:nvSpPr>
          <p:cNvPr id="16" name="card-RULE 2">
            <a:extLst xmlns:a="http://schemas.openxmlformats.org/drawingml/2006/main">
              <a:ext uri="{FF2B5EF4-FFF2-40B4-BE49-F238E27FC236}">
                <a16:creationId xmlns:a16="http://schemas.microsoft.com/office/drawing/2014/main" id="{7A3B5E2B-19F5-4A70-8AD4-9FAFFCC2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09800"/>
            <a:ext cx="342900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9E036F22-AEDD-4D49-8E34-AB6E8502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098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AE4DFDF8-163F-440A-82E1-DD5F31BF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003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rPr>
              <a:t>RULE 2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0C1AEC8B-6666-44EA-9DE3-9126D1B9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4795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자료성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82C8E818-CBD0-42FF-A4AE-AC5CAA053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28950"/>
            <a:ext cx="2971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샘플 문서, 입력값, 예시 출력물 중 하나는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준비 가능해야 합니다.</a:t>
            </a:r>
          </a:p>
        </p:txBody>
      </p:sp>
      <p:sp>
        <p:nvSpPr>
          <p:cNvPr id="21" name="card-RULE 3">
            <a:extLst xmlns:a="http://schemas.openxmlformats.org/drawingml/2006/main">
              <a:ext uri="{FF2B5EF4-FFF2-40B4-BE49-F238E27FC236}">
                <a16:creationId xmlns:a16="http://schemas.microsoft.com/office/drawing/2014/main" id="{4E3EE625-0791-4944-9661-B8DE56545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09800"/>
            <a:ext cx="342900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68E90EF3-6E6E-41CE-8D6B-5D5BA9DCC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098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350EBCC8-C0F7-437D-941B-077E5E111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003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RULE 3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852B62C3-C6A6-4AB4-A2A1-CA511E37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4795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검증성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08FE6522-3996-4CED-A168-0C67B054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2971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 결과를 사람이 검토할 기준을 말할 수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있어야 합니다.</a:t>
            </a:r>
          </a:p>
        </p:txBody>
      </p:sp>
      <p:sp>
        <p:nvSpPr>
          <p:cNvPr id="26" name="card-RULE 4">
            <a:extLst xmlns:a="http://schemas.openxmlformats.org/drawingml/2006/main">
              <a:ext uri="{FF2B5EF4-FFF2-40B4-BE49-F238E27FC236}">
                <a16:creationId xmlns:a16="http://schemas.microsoft.com/office/drawing/2014/main" id="{36E68183-6BD6-4FDE-B680-29480110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42900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FE872114-FDAE-4106-93EB-FC1DD1B18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ard-label">
            <a:extLst xmlns:a="http://schemas.openxmlformats.org/drawingml/2006/main">
              <a:ext uri="{FF2B5EF4-FFF2-40B4-BE49-F238E27FC236}">
                <a16:creationId xmlns:a16="http://schemas.microsoft.com/office/drawing/2014/main" id="{3FEEC8C3-F72C-4DF7-9177-C48ABAB5A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4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RULE 4</a:t>
            </a:r>
          </a:p>
        </p:txBody>
      </p:sp>
      <p:sp>
        <p:nvSpPr>
          <p:cNvPr id="29" name="card-title">
            <a:extLst xmlns:a="http://schemas.openxmlformats.org/drawingml/2006/main">
              <a:ext uri="{FF2B5EF4-FFF2-40B4-BE49-F238E27FC236}">
                <a16:creationId xmlns:a16="http://schemas.microsoft.com/office/drawing/2014/main" id="{A4F7DE0C-961A-456C-B6BC-11E6D96C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6245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데모성</a:t>
            </a:r>
          </a:p>
        </p:txBody>
      </p:sp>
      <p:sp>
        <p:nvSpPr>
          <p:cNvPr id="30" name="card-body">
            <a:extLst xmlns:a="http://schemas.openxmlformats.org/drawingml/2006/main">
              <a:ext uri="{FF2B5EF4-FFF2-40B4-BE49-F238E27FC236}">
                <a16:creationId xmlns:a16="http://schemas.microsoft.com/office/drawing/2014/main" id="{99ADAA2B-6B1C-4A7F-9A60-D712E073F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43450"/>
            <a:ext cx="2971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화면, Agent 흐름, 자동화 초안 중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하나를 시연합니다.</a:t>
            </a:r>
          </a:p>
        </p:txBody>
      </p:sp>
      <p:sp>
        <p:nvSpPr>
          <p:cNvPr id="31" name="card-RULE 5">
            <a:extLst xmlns:a="http://schemas.openxmlformats.org/drawingml/2006/main">
              <a:ext uri="{FF2B5EF4-FFF2-40B4-BE49-F238E27FC236}">
                <a16:creationId xmlns:a16="http://schemas.microsoft.com/office/drawing/2014/main" id="{28F98E75-1311-4564-83F4-870A0656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24300"/>
            <a:ext cx="342900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6279E25F-8869-4825-9733-44A9C7595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243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card-label">
            <a:extLst xmlns:a="http://schemas.openxmlformats.org/drawingml/2006/main">
              <a:ext uri="{FF2B5EF4-FFF2-40B4-BE49-F238E27FC236}">
                <a16:creationId xmlns:a16="http://schemas.microsoft.com/office/drawing/2014/main" id="{F9B0FCA4-775C-4F44-8EF9-03A1F995F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14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rPr>
              <a:t>RULE 5</a:t>
            </a:r>
          </a:p>
        </p:txBody>
      </p:sp>
      <p:sp>
        <p:nvSpPr>
          <p:cNvPr id="34" name="card-title">
            <a:extLst xmlns:a="http://schemas.openxmlformats.org/drawingml/2006/main">
              <a:ext uri="{FF2B5EF4-FFF2-40B4-BE49-F238E27FC236}">
                <a16:creationId xmlns:a16="http://schemas.microsoft.com/office/drawing/2014/main" id="{EFD3A6A9-CEE1-491A-BD0C-6480587F8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6245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보안성</a:t>
            </a:r>
          </a:p>
        </p:txBody>
      </p:sp>
      <p:sp>
        <p:nvSpPr>
          <p:cNvPr id="35" name="card-body">
            <a:extLst xmlns:a="http://schemas.openxmlformats.org/drawingml/2006/main">
              <a:ext uri="{FF2B5EF4-FFF2-40B4-BE49-F238E27FC236}">
                <a16:creationId xmlns:a16="http://schemas.microsoft.com/office/drawing/2014/main" id="{3F8D8392-D17D-4C08-9CE1-05F8F2BC8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743450"/>
            <a:ext cx="2971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민감정보, 운영 로그, 접근키, 고객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개인정보는 쓰지 않습니다.</a:t>
            </a:r>
          </a:p>
        </p:txBody>
      </p:sp>
      <p:sp>
        <p:nvSpPr>
          <p:cNvPr id="36" name="card-RULE 6">
            <a:extLst xmlns:a="http://schemas.openxmlformats.org/drawingml/2006/main">
              <a:ext uri="{FF2B5EF4-FFF2-40B4-BE49-F238E27FC236}">
                <a16:creationId xmlns:a16="http://schemas.microsoft.com/office/drawing/2014/main" id="{40DBD9EF-7297-4972-BA3A-E3959554C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924300"/>
            <a:ext cx="342900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DF8CD7A5-2CEF-4E3C-B060-938B46EE4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9243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card-label">
            <a:extLst xmlns:a="http://schemas.openxmlformats.org/drawingml/2006/main">
              <a:ext uri="{FF2B5EF4-FFF2-40B4-BE49-F238E27FC236}">
                <a16:creationId xmlns:a16="http://schemas.microsoft.com/office/drawing/2014/main" id="{4F595E81-4141-425F-BDE3-A77342B10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14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RULE 6</a:t>
            </a:r>
          </a:p>
        </p:txBody>
      </p:sp>
      <p:sp>
        <p:nvSpPr>
          <p:cNvPr id="39" name="card-title">
            <a:extLst xmlns:a="http://schemas.openxmlformats.org/drawingml/2006/main">
              <a:ext uri="{FF2B5EF4-FFF2-40B4-BE49-F238E27FC236}">
                <a16:creationId xmlns:a16="http://schemas.microsoft.com/office/drawing/2014/main" id="{D9C71070-1B84-4124-BF8A-A3154988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6245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환경성</a:t>
            </a:r>
          </a:p>
        </p:txBody>
      </p:sp>
      <p:sp>
        <p:nvSpPr>
          <p:cNvPr id="40" name="card-body">
            <a:extLst xmlns:a="http://schemas.openxmlformats.org/drawingml/2006/main">
              <a:ext uri="{FF2B5EF4-FFF2-40B4-BE49-F238E27FC236}">
                <a16:creationId xmlns:a16="http://schemas.microsoft.com/office/drawing/2014/main" id="{46B6336B-4F22-4979-A456-0B982B096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743450"/>
            <a:ext cx="2971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실습은 사내 AI 플랫폼 스파로스 데브엑스를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기본으로 전제합니다.</a:t>
            </a:r>
          </a:p>
        </p:txBody>
      </p:sp>
    </p:spTree>
    <p:extLst>
      <p:ext uri="{BB962C8B-B14F-4D97-AF65-F5344CB8AC3E}">
        <p14:creationId xmlns:p14="http://schemas.microsoft.com/office/powerpoint/2010/main" val="141641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F647E7CB-8465-4054-A21F-8E5F2298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50236CB7-970F-4346-9D2F-15A6444A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93C18B34-5644-4C9D-85D1-1A229E6E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B25E66A4-5922-4A6F-873E-AD1CA869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0DEBF4EF-C2F9-4B81-86D8-CC53C398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8FA69D31-4AB7-40AF-A701-7AC0FD09F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팀빌딩 모델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7569BACF-D3EF-42C6-86F6-AA042C87C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3인 1조는 역할이 분명해야 작동합니다.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53A93FE6-63DD-4126-86FF-E56392EC6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각 팀은 업무 오너, 구현 담당, 검증·발표 담당을 반드시 정합니다.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da94c394124499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93EA280D-8A4A-4B79-B457-2D8EAF35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11" name="role-card">
            <a:extLst xmlns:a="http://schemas.openxmlformats.org/drawingml/2006/main">
              <a:ext uri="{FF2B5EF4-FFF2-40B4-BE49-F238E27FC236}">
                <a16:creationId xmlns:a16="http://schemas.microsoft.com/office/drawing/2014/main" id="{BA147302-2F10-4A0E-9C69-E0170818B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3429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2" name="role-accent">
            <a:extLst xmlns:a="http://schemas.openxmlformats.org/drawingml/2006/main">
              <a:ext uri="{FF2B5EF4-FFF2-40B4-BE49-F238E27FC236}">
                <a16:creationId xmlns:a16="http://schemas.microsoft.com/office/drawing/2014/main" id="{ABF4788D-9AFD-47F1-8267-E847ACAF4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3429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ole-title">
            <a:extLst xmlns:a="http://schemas.openxmlformats.org/drawingml/2006/main">
              <a:ext uri="{FF2B5EF4-FFF2-40B4-BE49-F238E27FC236}">
                <a16:creationId xmlns:a16="http://schemas.microsoft.com/office/drawing/2014/main" id="{E21B1BDB-3FD3-43A6-86B3-CD8C16575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670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업무 오너</a:t>
            </a:r>
          </a:p>
        </p:txBody>
      </p:sp>
      <p:sp>
        <p:nvSpPr>
          <p:cNvPr id="14" name="role-body">
            <a:extLst xmlns:a="http://schemas.openxmlformats.org/drawingml/2006/main">
              <a:ext uri="{FF2B5EF4-FFF2-40B4-BE49-F238E27FC236}">
                <a16:creationId xmlns:a16="http://schemas.microsoft.com/office/drawing/2014/main" id="{6A138652-1C86-44FB-9824-BDFCC8CB1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76600"/>
            <a:ext cx="285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현재 업무 흐름, 병목, 성공 기준,</a:t>
            </a:r>
          </a:p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실제 사용자를 설명합니다.</a:t>
            </a:r>
          </a:p>
        </p:txBody>
      </p:sp>
      <p:sp>
        <p:nvSpPr>
          <p:cNvPr id="15" name="role-question">
            <a:extLst xmlns:a="http://schemas.openxmlformats.org/drawingml/2006/main">
              <a:ext uri="{FF2B5EF4-FFF2-40B4-BE49-F238E27FC236}">
                <a16:creationId xmlns:a16="http://schemas.microsoft.com/office/drawing/2014/main" id="{C57008E3-E75F-4416-B632-A2F0FFF95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434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질문: 이 업무가 지금 왜 어려운가?</a:t>
            </a:r>
          </a:p>
        </p:txBody>
      </p:sp>
      <p:sp>
        <p:nvSpPr>
          <p:cNvPr id="16" name="role-card">
            <a:extLst xmlns:a="http://schemas.openxmlformats.org/drawingml/2006/main">
              <a:ext uri="{FF2B5EF4-FFF2-40B4-BE49-F238E27FC236}">
                <a16:creationId xmlns:a16="http://schemas.microsoft.com/office/drawing/2014/main" id="{ED246515-FB24-434C-A9BD-9D2F48AD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66950"/>
            <a:ext cx="3429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7" name="role-accent">
            <a:extLst xmlns:a="http://schemas.openxmlformats.org/drawingml/2006/main">
              <a:ext uri="{FF2B5EF4-FFF2-40B4-BE49-F238E27FC236}">
                <a16:creationId xmlns:a16="http://schemas.microsoft.com/office/drawing/2014/main" id="{5DA9040C-654D-4340-9D95-A45CBC3C4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66950"/>
            <a:ext cx="3429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ole-title">
            <a:extLst xmlns:a="http://schemas.openxmlformats.org/drawingml/2006/main">
              <a:ext uri="{FF2B5EF4-FFF2-40B4-BE49-F238E27FC236}">
                <a16:creationId xmlns:a16="http://schemas.microsoft.com/office/drawing/2014/main" id="{10AE1F38-C3E5-4B38-994D-A9414E4E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670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구현 담당</a:t>
            </a:r>
          </a:p>
        </p:txBody>
      </p:sp>
      <p:sp>
        <p:nvSpPr>
          <p:cNvPr id="19" name="role-body">
            <a:extLst xmlns:a="http://schemas.openxmlformats.org/drawingml/2006/main">
              <a:ext uri="{FF2B5EF4-FFF2-40B4-BE49-F238E27FC236}">
                <a16:creationId xmlns:a16="http://schemas.microsoft.com/office/drawing/2014/main" id="{DC33916B-97FA-47D5-AB4A-268D858FF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76600"/>
            <a:ext cx="285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스파로스 데브엑스에서 Prompt,</a:t>
            </a:r>
          </a:p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Context, Agent 흐름, 화면</a:t>
            </a:r>
          </a:p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초안을 만듭니다.</a:t>
            </a:r>
          </a:p>
        </p:txBody>
      </p:sp>
      <p:sp>
        <p:nvSpPr>
          <p:cNvPr id="20" name="role-question">
            <a:extLst xmlns:a="http://schemas.openxmlformats.org/drawingml/2006/main">
              <a:ext uri="{FF2B5EF4-FFF2-40B4-BE49-F238E27FC236}">
                <a16:creationId xmlns:a16="http://schemas.microsoft.com/office/drawing/2014/main" id="{89006535-B6CA-4F88-8961-AE43AED89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434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질문: 8시간 안에 무엇을 시연할</a:t>
            </a:r>
          </a:p>
          <a:p xmlns:a="http://schemas.openxmlformats.org/drawingml/2006/main">
            <a:pPr algn="l">
              <a:defRPr sz="13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수 있는가?</a:t>
            </a:r>
          </a:p>
        </p:txBody>
      </p:sp>
      <p:sp>
        <p:nvSpPr>
          <p:cNvPr id="21" name="role-card">
            <a:extLst xmlns:a="http://schemas.openxmlformats.org/drawingml/2006/main">
              <a:ext uri="{FF2B5EF4-FFF2-40B4-BE49-F238E27FC236}">
                <a16:creationId xmlns:a16="http://schemas.microsoft.com/office/drawing/2014/main" id="{867296F5-7D3D-4F5F-BB75-DBEE0089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66950"/>
            <a:ext cx="3429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2" name="role-accent">
            <a:extLst xmlns:a="http://schemas.openxmlformats.org/drawingml/2006/main">
              <a:ext uri="{FF2B5EF4-FFF2-40B4-BE49-F238E27FC236}">
                <a16:creationId xmlns:a16="http://schemas.microsoft.com/office/drawing/2014/main" id="{28958143-9463-4793-B9D6-17667E9B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66950"/>
            <a:ext cx="3429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role-title">
            <a:extLst xmlns:a="http://schemas.openxmlformats.org/drawingml/2006/main">
              <a:ext uri="{FF2B5EF4-FFF2-40B4-BE49-F238E27FC236}">
                <a16:creationId xmlns:a16="http://schemas.microsoft.com/office/drawing/2014/main" id="{368B9D8E-8A19-41E0-91DA-91F98DF61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670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검증·발표 담당</a:t>
            </a:r>
          </a:p>
        </p:txBody>
      </p:sp>
      <p:sp>
        <p:nvSpPr>
          <p:cNvPr id="24" name="role-body">
            <a:extLst xmlns:a="http://schemas.openxmlformats.org/drawingml/2006/main">
              <a:ext uri="{FF2B5EF4-FFF2-40B4-BE49-F238E27FC236}">
                <a16:creationId xmlns:a16="http://schemas.microsoft.com/office/drawing/2014/main" id="{67FC94AA-BD48-49EE-9B9F-BDCD70907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76600"/>
            <a:ext cx="285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샘플 자료, 금지사항, 품질 기준,</a:t>
            </a:r>
          </a:p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발표 흐름을 정리합니다.</a:t>
            </a:r>
          </a:p>
        </p:txBody>
      </p:sp>
      <p:sp>
        <p:nvSpPr>
          <p:cNvPr id="25" name="role-question">
            <a:extLst xmlns:a="http://schemas.openxmlformats.org/drawingml/2006/main">
              <a:ext uri="{FF2B5EF4-FFF2-40B4-BE49-F238E27FC236}">
                <a16:creationId xmlns:a16="http://schemas.microsoft.com/office/drawing/2014/main" id="{CDDA9587-A834-4DF4-90B8-85027F2E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3434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질문: 사람이 어디서 최종</a:t>
            </a:r>
          </a:p>
          <a:p xmlns:a="http://schemas.openxmlformats.org/drawingml/2006/main">
            <a:pPr algn="l">
              <a:defRPr sz="1350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판단해야 하는가?</a:t>
            </a:r>
          </a:p>
        </p:txBody>
      </p:sp>
    </p:spTree>
    <p:extLst>
      <p:ext uri="{BB962C8B-B14F-4D97-AF65-F5344CB8AC3E}">
        <p14:creationId xmlns:p14="http://schemas.microsoft.com/office/powerpoint/2010/main" val="8818712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EC402615-F679-4539-9881-B9EC8530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637AD369-158B-4EF4-8ED0-9DE450786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FC54BDE0-775B-448E-8DE1-80A4A59A5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742FE13C-9D34-4DE5-B487-377B5784F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01926C3D-1D5F-4503-B106-99F0FE25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EBD885EC-BCEF-41AF-AE10-7579913F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ACTIVITY 1 · 16:10-16:30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F7D3E7A1-6DA3-4937-B0CA-2326D579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개인 과제 발굴: 본인 업무에서 후보를 3개 찾습니다.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14367585-B920-47D2-976B-757B42661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반복 업무, 병목 업무, 검토 업무, 보고 업무, 현업 요청 업무를 중심으로 적습니다.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82ae0f85794cfe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8B014091-3682-475D-A605-8DE2DAAB1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11" name="card-진행 방법">
            <a:extLst xmlns:a="http://schemas.openxmlformats.org/drawingml/2006/main">
              <a:ext uri="{FF2B5EF4-FFF2-40B4-BE49-F238E27FC236}">
                <a16:creationId xmlns:a16="http://schemas.microsoft.com/office/drawing/2014/main" id="{5EA3FAD4-483B-457B-A537-56C1AA67D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608EC188-9C2E-4C7E-A056-3D0760F97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25B1FCF9-5B3D-44C0-AA86-054B26F8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진행 방법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FB1454DA-A89A-4CF5-A567-A683C6D2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How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4CA32D42-BE1C-4C9F-B0A6-1F2B1F83B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개인 작성 10분 → 옆 사람 공유 5분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→ 가장 강한 후보 1개 표시 5분</a:t>
            </a:r>
          </a:p>
        </p:txBody>
      </p:sp>
      <p:sp>
        <p:nvSpPr>
          <p:cNvPr id="16" name="card-결과물">
            <a:extLst xmlns:a="http://schemas.openxmlformats.org/drawingml/2006/main">
              <a:ext uri="{FF2B5EF4-FFF2-40B4-BE49-F238E27FC236}">
                <a16:creationId xmlns:a16="http://schemas.microsoft.com/office/drawing/2014/main" id="{90F3C196-3B46-4D53-BA8C-CDCE2CEFE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3EDB0735-EB08-4A8B-A7B0-C47BC41EC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77CE22E2-CA79-432E-8068-CC48F87C2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7FBFAC38-411E-4C95-8B0F-8238D80C7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Output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60F88904-4941-441E-9DF6-B6880E210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개인별 후보 3개와 우선 후보 1개</a:t>
            </a:r>
          </a:p>
        </p:txBody>
      </p:sp>
      <p:sp>
        <p:nvSpPr>
          <p:cNvPr id="21" name="card-운영 팁">
            <a:extLst xmlns:a="http://schemas.openxmlformats.org/drawingml/2006/main">
              <a:ext uri="{FF2B5EF4-FFF2-40B4-BE49-F238E27FC236}">
                <a16:creationId xmlns:a16="http://schemas.microsoft.com/office/drawing/2014/main" id="{37E40AF7-B979-435F-BF1F-17FF28AF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31432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5242A243-71CB-47C3-86EF-7CC621F8A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CACBFAF1-5688-44D4-847F-F78F9F8E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4765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 팁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769A5730-8446-4717-8D9D-91F4105E1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7622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Facilitator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C549FCAA-4FEB-4AFA-BBFA-F9B3CD46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276600"/>
            <a:ext cx="2686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타이머를 보이게 두고, 각 팀의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산출물은 다음 단계 장표에 바로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옮겨 적게 합니다.</a:t>
            </a:r>
          </a:p>
        </p:txBody>
      </p:sp>
    </p:spTree>
    <p:extLst>
      <p:ext uri="{BB962C8B-B14F-4D97-AF65-F5344CB8AC3E}">
        <p14:creationId xmlns:p14="http://schemas.microsoft.com/office/powerpoint/2010/main" val="155434081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3E7F0A31-35B1-4840-B779-8553C8E0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DCED7794-4A7A-48D7-B132-735B8BC8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1470BE90-CC24-4B5B-BC80-FAE0AB67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95BAD5CF-3806-4FE6-BC7C-4371B033C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C3C7470A-3EA2-499B-93E5-D4097ABEE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A862F9B9-9478-4875-9BCD-D0C33B25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워크시트 1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D1619A33-AE88-41B1-9922-10B46B21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개인 과제 발굴: 내 업무에서 AI가 도울 지점을 찾습니다.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28D0E972-5FCF-46B9-B560-DC7C120B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각자 3개 후보를 쓰고, 팀 토론 전에 가장 강한 후보 1개를 표시합니다.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e6aa8c3de435d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F2FF6A82-89DC-4BC4-8D9D-417DA9E3D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11" name="field-label">
            <a:extLst xmlns:a="http://schemas.openxmlformats.org/drawingml/2006/main">
              <a:ext uri="{FF2B5EF4-FFF2-40B4-BE49-F238E27FC236}">
                <a16:creationId xmlns:a16="http://schemas.microsoft.com/office/drawing/2014/main" id="{EDD12CE6-473E-4FD8-9086-FD1755A7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후보 1</a:t>
            </a:r>
          </a:p>
        </p:txBody>
      </p:sp>
      <p:sp>
        <p:nvSpPr>
          <p:cNvPr id="12" name="field-후보 1">
            <a:extLst xmlns:a="http://schemas.openxmlformats.org/drawingml/2006/main">
              <a:ext uri="{FF2B5EF4-FFF2-40B4-BE49-F238E27FC236}">
                <a16:creationId xmlns:a16="http://schemas.microsoft.com/office/drawing/2014/main" id="{F1D71899-28FD-464F-8A1C-8A65E7EA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34290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3" name="field-hint">
            <a:extLst xmlns:a="http://schemas.openxmlformats.org/drawingml/2006/main">
              <a:ext uri="{FF2B5EF4-FFF2-40B4-BE49-F238E27FC236}">
                <a16:creationId xmlns:a16="http://schemas.microsoft.com/office/drawing/2014/main" id="{CEE290C3-7C67-4452-B200-234A15B5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14600"/>
            <a:ext cx="31242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업무명 / 반복 빈도 / 현재 산출물</a:t>
            </a:r>
          </a:p>
        </p:txBody>
      </p:sp>
      <p:sp>
        <p:nvSpPr>
          <p:cNvPr id="14" name="field-label">
            <a:extLst xmlns:a="http://schemas.openxmlformats.org/drawingml/2006/main">
              <a:ext uri="{FF2B5EF4-FFF2-40B4-BE49-F238E27FC236}">
                <a16:creationId xmlns:a16="http://schemas.microsoft.com/office/drawing/2014/main" id="{FE78EE5A-805D-40F2-BBDC-C79A0AA1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145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후보 2</a:t>
            </a:r>
          </a:p>
        </p:txBody>
      </p:sp>
      <p:sp>
        <p:nvSpPr>
          <p:cNvPr id="15" name="field-후보 2">
            <a:extLst xmlns:a="http://schemas.openxmlformats.org/drawingml/2006/main">
              <a:ext uri="{FF2B5EF4-FFF2-40B4-BE49-F238E27FC236}">
                <a16:creationId xmlns:a16="http://schemas.microsoft.com/office/drawing/2014/main" id="{DE732FB9-F5B6-4794-AC1F-4EB7C0666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81250"/>
            <a:ext cx="34290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6" name="field-hint">
            <a:extLst xmlns:a="http://schemas.openxmlformats.org/drawingml/2006/main">
              <a:ext uri="{FF2B5EF4-FFF2-40B4-BE49-F238E27FC236}">
                <a16:creationId xmlns:a16="http://schemas.microsoft.com/office/drawing/2014/main" id="{2E7528BB-52B1-47E6-A6C2-BA6DBDB7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14600"/>
            <a:ext cx="31242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업무명 / 병목 지점 / 관련 자료</a:t>
            </a:r>
          </a:p>
        </p:txBody>
      </p:sp>
      <p:sp>
        <p:nvSpPr>
          <p:cNvPr id="17" name="field-label">
            <a:extLst xmlns:a="http://schemas.openxmlformats.org/drawingml/2006/main">
              <a:ext uri="{FF2B5EF4-FFF2-40B4-BE49-F238E27FC236}">
                <a16:creationId xmlns:a16="http://schemas.microsoft.com/office/drawing/2014/main" id="{C4F86830-2B6F-452B-AB86-8735A6299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145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후보 3</a:t>
            </a:r>
          </a:p>
        </p:txBody>
      </p:sp>
      <p:sp>
        <p:nvSpPr>
          <p:cNvPr id="18" name="field-후보 3">
            <a:extLst xmlns:a="http://schemas.openxmlformats.org/drawingml/2006/main">
              <a:ext uri="{FF2B5EF4-FFF2-40B4-BE49-F238E27FC236}">
                <a16:creationId xmlns:a16="http://schemas.microsoft.com/office/drawing/2014/main" id="{3DA3E3E7-A18C-4761-B832-BF2087EB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81250"/>
            <a:ext cx="34290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9" name="field-hint">
            <a:extLst xmlns:a="http://schemas.openxmlformats.org/drawingml/2006/main">
              <a:ext uri="{FF2B5EF4-FFF2-40B4-BE49-F238E27FC236}">
                <a16:creationId xmlns:a16="http://schemas.microsoft.com/office/drawing/2014/main" id="{A8D24F54-CBC8-47C1-B317-A89608305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14600"/>
            <a:ext cx="31242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업무명 / 검토 기준 / 기대 효과</a:t>
            </a:r>
          </a:p>
        </p:txBody>
      </p:sp>
      <p:sp>
        <p:nvSpPr>
          <p:cNvPr id="20" name="selection">
            <a:extLst xmlns:a="http://schemas.openxmlformats.org/drawingml/2006/main">
              <a:ext uri="{FF2B5EF4-FFF2-40B4-BE49-F238E27FC236}">
                <a16:creationId xmlns:a16="http://schemas.microsoft.com/office/drawing/2014/main" id="{0482FC7D-BBDD-4B35-8B82-0951E1C74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선택 기준: 현업성 · 구현 가능성 · 자료 준비도 · 사람 검토 가능성 · 발표 가능성</a:t>
            </a:r>
          </a:p>
        </p:txBody>
      </p:sp>
    </p:spTree>
    <p:extLst>
      <p:ext uri="{BB962C8B-B14F-4D97-AF65-F5344CB8AC3E}">
        <p14:creationId xmlns:p14="http://schemas.microsoft.com/office/powerpoint/2010/main" val="1004781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B2A23C11-84EB-49A2-B668-82591C3AE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C0ACD6DF-9E2D-4001-9C45-A136B8DF7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BA29D3C5-DA5C-444F-8180-C4F405A38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EC8894F1-530F-4324-9C6B-1BCD971F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E1CB0B82-F203-49B1-BB3C-D27B313C7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8CF2A5BB-3E7B-4787-A654-C24ACB39D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업무 후보 예시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3C60A86B-9E5C-4BAD-9313-DE59C68C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후보 업무는 반복되는 실제 업무에서 나옵니다.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AF271D59-EC35-4B5B-83D0-FD734876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아래 유형을 보고 본인 업무의 입력 자료와 출력물을 떠올리게 합니다.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44710367de49bf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F270103F-FA28-4470-91AC-A195165B2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11" name="card-TYPE 1">
            <a:extLst xmlns:a="http://schemas.openxmlformats.org/drawingml/2006/main">
              <a:ext uri="{FF2B5EF4-FFF2-40B4-BE49-F238E27FC236}">
                <a16:creationId xmlns:a16="http://schemas.microsoft.com/office/drawing/2014/main" id="{8C0AFD81-82B5-41FE-84F8-344DCC222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3429000" cy="16002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D55D886C-FF63-4676-93EC-7BB2FA3C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762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06B56405-7412-48AC-BF8C-FAE2ED3D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TYPE 1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E4F62035-3D1E-496F-B22C-75FC54880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051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요청 분류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BAABA16B-52DE-4D1B-813A-C63662916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2971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현업 요청, 장애 티켓, 문의 메일을 유형별로</a:t>
            </a:r>
          </a:p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분류하고 다음 액션을 제안</a:t>
            </a:r>
          </a:p>
        </p:txBody>
      </p:sp>
      <p:sp>
        <p:nvSpPr>
          <p:cNvPr id="16" name="card-TYPE 2">
            <a:extLst xmlns:a="http://schemas.openxmlformats.org/drawingml/2006/main">
              <a:ext uri="{FF2B5EF4-FFF2-40B4-BE49-F238E27FC236}">
                <a16:creationId xmlns:a16="http://schemas.microsoft.com/office/drawing/2014/main" id="{632F2B89-6382-4E3F-866A-910691FEC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66950"/>
            <a:ext cx="3429000" cy="16002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5BAF41E5-DCD4-4E47-BBDA-758ED69B9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66950"/>
            <a:ext cx="762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7DE49950-CBDC-47D3-A1E3-F11E2EAFE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574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TYPE 2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3705FF5A-BD83-49C1-91D6-5F3081920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051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문서 요약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A1D60284-CE40-48AF-B23A-BACADD20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86100"/>
            <a:ext cx="2971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회의록, 정책, 운영 매뉴얼, 계약/규정 초안을</a:t>
            </a:r>
          </a:p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요약하고 체크포인트 추출</a:t>
            </a:r>
          </a:p>
        </p:txBody>
      </p:sp>
      <p:sp>
        <p:nvSpPr>
          <p:cNvPr id="21" name="card-TYPE 3">
            <a:extLst xmlns:a="http://schemas.openxmlformats.org/drawingml/2006/main">
              <a:ext uri="{FF2B5EF4-FFF2-40B4-BE49-F238E27FC236}">
                <a16:creationId xmlns:a16="http://schemas.microsoft.com/office/drawing/2014/main" id="{232DF9FE-E428-470C-9FD1-ABAF7672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66950"/>
            <a:ext cx="3429000" cy="16002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45E0905D-9B42-403A-9B75-48802C78E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66950"/>
            <a:ext cx="762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F6FFCA73-98A7-46F1-B226-7CD71DDB9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TYPE 3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9CFCB741-7D9D-4F11-B91C-1EA9301D8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051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보고 초안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1E8619E3-179C-4E1F-9DC2-BFD1B6A7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86100"/>
            <a:ext cx="2971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주간 현황, 리스크, 비용/성과 데이터를</a:t>
            </a:r>
          </a:p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보고서 초안으로 정리</a:t>
            </a:r>
          </a:p>
        </p:txBody>
      </p:sp>
      <p:sp>
        <p:nvSpPr>
          <p:cNvPr id="26" name="card-TYPE 4">
            <a:extLst xmlns:a="http://schemas.openxmlformats.org/drawingml/2006/main">
              <a:ext uri="{FF2B5EF4-FFF2-40B4-BE49-F238E27FC236}">
                <a16:creationId xmlns:a16="http://schemas.microsoft.com/office/drawing/2014/main" id="{340DBB61-BB85-481A-B49D-ABC83E16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3429000" cy="16002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21759D5A-BFD1-4D3A-BE19-B9EE79D7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762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ard-label">
            <a:extLst xmlns:a="http://schemas.openxmlformats.org/drawingml/2006/main">
              <a:ext uri="{FF2B5EF4-FFF2-40B4-BE49-F238E27FC236}">
                <a16:creationId xmlns:a16="http://schemas.microsoft.com/office/drawing/2014/main" id="{F4907645-833B-4575-9A3C-D93B7C38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529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rPr>
              <a:t>TYPE 4</a:t>
            </a:r>
          </a:p>
        </p:txBody>
      </p:sp>
      <p:sp>
        <p:nvSpPr>
          <p:cNvPr id="29" name="card-title">
            <a:extLst xmlns:a="http://schemas.openxmlformats.org/drawingml/2006/main">
              <a:ext uri="{FF2B5EF4-FFF2-40B4-BE49-F238E27FC236}">
                <a16:creationId xmlns:a16="http://schemas.microsoft.com/office/drawing/2014/main" id="{2B9D232B-FD25-494A-832C-CED22158B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0055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검토 체크</a:t>
            </a:r>
          </a:p>
        </p:txBody>
      </p:sp>
      <p:sp>
        <p:nvSpPr>
          <p:cNvPr id="30" name="card-body">
            <a:extLst xmlns:a="http://schemas.openxmlformats.org/drawingml/2006/main">
              <a:ext uri="{FF2B5EF4-FFF2-40B4-BE49-F238E27FC236}">
                <a16:creationId xmlns:a16="http://schemas.microsoft.com/office/drawing/2014/main" id="{AD93C7C3-83CA-4607-82D5-2A52D972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81550"/>
            <a:ext cx="2971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품질, 준법, 보안, 승인 기준에 맞춰</a:t>
            </a:r>
          </a:p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누락 사항을 점검</a:t>
            </a:r>
          </a:p>
        </p:txBody>
      </p:sp>
      <p:sp>
        <p:nvSpPr>
          <p:cNvPr id="31" name="card-TYPE 5">
            <a:extLst xmlns:a="http://schemas.openxmlformats.org/drawingml/2006/main">
              <a:ext uri="{FF2B5EF4-FFF2-40B4-BE49-F238E27FC236}">
                <a16:creationId xmlns:a16="http://schemas.microsoft.com/office/drawing/2014/main" id="{0E794C78-ED4E-4760-BD09-718D1D3BD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62400"/>
            <a:ext cx="3429000" cy="16002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4088095F-8EBC-4066-A9C3-CEE5D2AD4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62400"/>
            <a:ext cx="762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card-label">
            <a:extLst xmlns:a="http://schemas.openxmlformats.org/drawingml/2006/main">
              <a:ext uri="{FF2B5EF4-FFF2-40B4-BE49-F238E27FC236}">
                <a16:creationId xmlns:a16="http://schemas.microsoft.com/office/drawing/2014/main" id="{3759054C-8B05-4A2B-A677-5A6FBB731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529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rPr>
              <a:t>TYPE 5</a:t>
            </a:r>
          </a:p>
        </p:txBody>
      </p:sp>
      <p:sp>
        <p:nvSpPr>
          <p:cNvPr id="34" name="card-title">
            <a:extLst xmlns:a="http://schemas.openxmlformats.org/drawingml/2006/main">
              <a:ext uri="{FF2B5EF4-FFF2-40B4-BE49-F238E27FC236}">
                <a16:creationId xmlns:a16="http://schemas.microsoft.com/office/drawing/2014/main" id="{E9A55455-D3A3-4EDE-9DA5-0DCC934D3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0055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개발 보조</a:t>
            </a:r>
          </a:p>
        </p:txBody>
      </p:sp>
      <p:sp>
        <p:nvSpPr>
          <p:cNvPr id="35" name="card-body">
            <a:extLst xmlns:a="http://schemas.openxmlformats.org/drawingml/2006/main">
              <a:ext uri="{FF2B5EF4-FFF2-40B4-BE49-F238E27FC236}">
                <a16:creationId xmlns:a16="http://schemas.microsoft.com/office/drawing/2014/main" id="{2E4B609B-FCFF-4D6E-B7CD-C0F02AAB9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781550"/>
            <a:ext cx="2971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요구사항을 코드/테스트/Agent</a:t>
            </a:r>
          </a:p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흐름으로 빠르게 변환</a:t>
            </a:r>
          </a:p>
        </p:txBody>
      </p:sp>
      <p:sp>
        <p:nvSpPr>
          <p:cNvPr id="36" name="card-TYPE 6">
            <a:extLst xmlns:a="http://schemas.openxmlformats.org/drawingml/2006/main">
              <a:ext uri="{FF2B5EF4-FFF2-40B4-BE49-F238E27FC236}">
                <a16:creationId xmlns:a16="http://schemas.microsoft.com/office/drawing/2014/main" id="{B288FBE0-8AB9-4A71-926E-23E7989C3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962400"/>
            <a:ext cx="3429000" cy="16002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C447D64B-08F5-4D21-A7C9-15026C8A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962400"/>
            <a:ext cx="762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card-label">
            <a:extLst xmlns:a="http://schemas.openxmlformats.org/drawingml/2006/main">
              <a:ext uri="{FF2B5EF4-FFF2-40B4-BE49-F238E27FC236}">
                <a16:creationId xmlns:a16="http://schemas.microsoft.com/office/drawing/2014/main" id="{3D45E70D-72D7-4FFA-8AC2-CC4DF1524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529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TYPE 6</a:t>
            </a:r>
          </a:p>
        </p:txBody>
      </p:sp>
      <p:sp>
        <p:nvSpPr>
          <p:cNvPr id="39" name="card-title">
            <a:extLst xmlns:a="http://schemas.openxmlformats.org/drawingml/2006/main">
              <a:ext uri="{FF2B5EF4-FFF2-40B4-BE49-F238E27FC236}">
                <a16:creationId xmlns:a16="http://schemas.microsoft.com/office/drawing/2014/main" id="{E7293B4A-C9BA-4E96-B45B-BEE9BA05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0055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지식 검색</a:t>
            </a:r>
          </a:p>
        </p:txBody>
      </p:sp>
      <p:sp>
        <p:nvSpPr>
          <p:cNvPr id="40" name="card-body">
            <a:extLst xmlns:a="http://schemas.openxmlformats.org/drawingml/2006/main">
              <a:ext uri="{FF2B5EF4-FFF2-40B4-BE49-F238E27FC236}">
                <a16:creationId xmlns:a16="http://schemas.microsoft.com/office/drawing/2014/main" id="{488272E1-16DB-4994-8252-71872071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781550"/>
            <a:ext cx="2971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사내 절차와 매뉴얼에서 근거를 찾아</a:t>
            </a:r>
          </a:p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응답 초안 작성</a:t>
            </a:r>
          </a:p>
        </p:txBody>
      </p:sp>
    </p:spTree>
    <p:extLst>
      <p:ext uri="{BB962C8B-B14F-4D97-AF65-F5344CB8AC3E}">
        <p14:creationId xmlns:p14="http://schemas.microsoft.com/office/powerpoint/2010/main" val="50560756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3767007B-EF53-44C0-99B0-CE3244AE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7035F2E7-4AF9-499C-B1D3-E7AA48824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33FEA1E3-CC3B-4AB9-B3C1-145ED173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4ADC4841-5B48-4ED9-845D-BEC945F9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8710B436-CB71-4626-9248-BFBF2261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4CDD358D-0110-495F-820C-8E154BD0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ACTIVITY 2 · 16:30-16:45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A2569810-A0ED-4C1C-BA49-74B820FB2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과제 후보 점수화: 실행 가능한 후보를 고릅니다.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C69906BE-EA2B-420D-84E1-F9C430BDE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좋아 보이는 아이디어가 아니라 8월 21일에 만들 수 있는 후보를 남깁니다.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507c5ff7534935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C3AA386-EBE9-4D82-9912-4ACDD63FC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11" name="card-진행 방법">
            <a:extLst xmlns:a="http://schemas.openxmlformats.org/drawingml/2006/main">
              <a:ext uri="{FF2B5EF4-FFF2-40B4-BE49-F238E27FC236}">
                <a16:creationId xmlns:a16="http://schemas.microsoft.com/office/drawing/2014/main" id="{DE82E12B-D7F9-4F0E-947C-7B25CE0BB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E7477346-152F-4CA3-AD6A-262DE7E74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802AAA09-4270-42D1-9399-B6FC02F3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rPr>
              <a:t>진행 방법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B993E941-53FA-4447-8D46-BC6B16973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How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3C7369D4-9295-4EF1-AEB1-B98F7BAA2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후보별 5개 기준 점수화 → 제외 조건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확인 → 팀 토론용 후보 1-2개 선정</a:t>
            </a:r>
          </a:p>
        </p:txBody>
      </p:sp>
      <p:sp>
        <p:nvSpPr>
          <p:cNvPr id="16" name="card-결과물">
            <a:extLst xmlns:a="http://schemas.openxmlformats.org/drawingml/2006/main">
              <a:ext uri="{FF2B5EF4-FFF2-40B4-BE49-F238E27FC236}">
                <a16:creationId xmlns:a16="http://schemas.microsoft.com/office/drawing/2014/main" id="{FCAAE201-26E0-45C5-8BC4-31B28349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1724FF3E-6E53-4DF2-9497-A0D5CB249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A93A40B2-0BFB-4CBA-AAC3-83460620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3067C840-0980-439D-9AAB-9E94617D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Output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40B175F1-2726-476E-B1CC-BDBFA0073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팀 토론으로 가져갈 후보 목록</a:t>
            </a:r>
          </a:p>
        </p:txBody>
      </p:sp>
      <p:sp>
        <p:nvSpPr>
          <p:cNvPr id="21" name="card-운영 팁">
            <a:extLst xmlns:a="http://schemas.openxmlformats.org/drawingml/2006/main">
              <a:ext uri="{FF2B5EF4-FFF2-40B4-BE49-F238E27FC236}">
                <a16:creationId xmlns:a16="http://schemas.microsoft.com/office/drawing/2014/main" id="{0778DDAE-2D9D-4ECC-9397-D4CB067B3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31432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63C469D4-8827-4923-98A4-9F49FF8F7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5A5A59E3-2B01-437D-BABF-755CFFE6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4765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 팁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2CA0ED0A-59E6-499D-91C8-6D4B73386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7622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Facilitator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CBE6A988-BD33-4EEE-A48C-C4A51026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276600"/>
            <a:ext cx="2686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타이머를 보이게 두고, 각 팀의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산출물은 다음 단계 장표에 바로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옮겨 적게 합니다.</a:t>
            </a:r>
          </a:p>
        </p:txBody>
      </p:sp>
    </p:spTree>
    <p:extLst>
      <p:ext uri="{BB962C8B-B14F-4D97-AF65-F5344CB8AC3E}">
        <p14:creationId xmlns:p14="http://schemas.microsoft.com/office/powerpoint/2010/main" val="174000588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3F77B4D2-5DD0-4A80-B391-170900BF6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2499DA2D-DDCB-452F-9139-EE85A93EB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9E533347-6A96-4C48-94BF-E651300E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95331BB0-E085-44BD-8BC6-4F0D8361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9698B345-91DA-4C93-9944-60139E440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25CB801D-54C5-4B4B-A8E0-6E66B37F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워크시트 2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13FDD28C-285A-424A-95B3-8763BBFCA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과제 후보 점수화: 8월에 시연할 후보를 고릅니다.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0634F1BF-313A-49FF-8BE9-6CE366C3B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각 후보를 1-5점으로 평가하고, 총점보다 치명적 결격 조건을 먼저 확인합니다.</a:t>
            </a:r>
          </a:p>
        </p:txBody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ee41ba834e4daf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9CDDFB1E-E85F-441C-A1EB-DD8A7B42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11" name="score-header">
            <a:extLst xmlns:a="http://schemas.openxmlformats.org/drawingml/2006/main">
              <a:ext uri="{FF2B5EF4-FFF2-40B4-BE49-F238E27FC236}">
                <a16:creationId xmlns:a16="http://schemas.microsoft.com/office/drawing/2014/main" id="{6A2F4803-6DBC-4182-8C38-79418621C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171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2" name="score-head-text">
            <a:extLst xmlns:a="http://schemas.openxmlformats.org/drawingml/2006/main">
              <a:ext uri="{FF2B5EF4-FFF2-40B4-BE49-F238E27FC236}">
                <a16:creationId xmlns:a16="http://schemas.microsoft.com/office/drawing/2014/main" id="{05691AE4-E3FD-48D6-AA83-347AED001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후보 업무</a:t>
            </a:r>
          </a:p>
        </p:txBody>
      </p:sp>
      <p:sp>
        <p:nvSpPr>
          <p:cNvPr id="13" name="score-header">
            <a:extLst xmlns:a="http://schemas.openxmlformats.org/drawingml/2006/main">
              <a:ext uri="{FF2B5EF4-FFF2-40B4-BE49-F238E27FC236}">
                <a16:creationId xmlns:a16="http://schemas.microsoft.com/office/drawing/2014/main" id="{50E8C4BE-0DAB-4E54-9067-E89B5249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1145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4" name="score-head-text">
            <a:extLst xmlns:a="http://schemas.openxmlformats.org/drawingml/2006/main">
              <a:ext uri="{FF2B5EF4-FFF2-40B4-BE49-F238E27FC236}">
                <a16:creationId xmlns:a16="http://schemas.microsoft.com/office/drawing/2014/main" id="{B172217F-AA5B-483F-B042-6F4E583D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38375"/>
            <a:ext cx="1190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현업성</a:t>
            </a:r>
          </a:p>
        </p:txBody>
      </p:sp>
      <p:sp>
        <p:nvSpPr>
          <p:cNvPr id="15" name="score-header">
            <a:extLst xmlns:a="http://schemas.openxmlformats.org/drawingml/2006/main">
              <a:ext uri="{FF2B5EF4-FFF2-40B4-BE49-F238E27FC236}">
                <a16:creationId xmlns:a16="http://schemas.microsoft.com/office/drawing/2014/main" id="{B32889B8-762C-4CA6-83EA-0E480F40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1145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6" name="score-head-text">
            <a:extLst xmlns:a="http://schemas.openxmlformats.org/drawingml/2006/main">
              <a:ext uri="{FF2B5EF4-FFF2-40B4-BE49-F238E27FC236}">
                <a16:creationId xmlns:a16="http://schemas.microsoft.com/office/drawing/2014/main" id="{D2497371-D1EF-4C46-AE19-0EFA95A8C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238375"/>
            <a:ext cx="1190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구현성</a:t>
            </a:r>
          </a:p>
        </p:txBody>
      </p:sp>
      <p:sp>
        <p:nvSpPr>
          <p:cNvPr id="17" name="score-header">
            <a:extLst xmlns:a="http://schemas.openxmlformats.org/drawingml/2006/main">
              <a:ext uri="{FF2B5EF4-FFF2-40B4-BE49-F238E27FC236}">
                <a16:creationId xmlns:a16="http://schemas.microsoft.com/office/drawing/2014/main" id="{A2DAC177-C930-4923-BED7-84BB58022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145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8" name="score-head-text">
            <a:extLst xmlns:a="http://schemas.openxmlformats.org/drawingml/2006/main">
              <a:ext uri="{FF2B5EF4-FFF2-40B4-BE49-F238E27FC236}">
                <a16:creationId xmlns:a16="http://schemas.microsoft.com/office/drawing/2014/main" id="{AA29D7FB-6009-4A94-843D-359300FF6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238375"/>
            <a:ext cx="1190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자료 준비</a:t>
            </a:r>
          </a:p>
        </p:txBody>
      </p:sp>
      <p:sp>
        <p:nvSpPr>
          <p:cNvPr id="19" name="score-header">
            <a:extLst xmlns:a="http://schemas.openxmlformats.org/drawingml/2006/main">
              <a:ext uri="{FF2B5EF4-FFF2-40B4-BE49-F238E27FC236}">
                <a16:creationId xmlns:a16="http://schemas.microsoft.com/office/drawing/2014/main" id="{77BA3889-41AF-4B73-99EC-766205AC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1145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0" name="score-head-text">
            <a:extLst xmlns:a="http://schemas.openxmlformats.org/drawingml/2006/main">
              <a:ext uri="{FF2B5EF4-FFF2-40B4-BE49-F238E27FC236}">
                <a16:creationId xmlns:a16="http://schemas.microsoft.com/office/drawing/2014/main" id="{2ECCEB6B-2866-410B-91E1-D4C9F8F2F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238375"/>
            <a:ext cx="1190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검증성</a:t>
            </a:r>
          </a:p>
        </p:txBody>
      </p:sp>
      <p:sp>
        <p:nvSpPr>
          <p:cNvPr id="21" name="score-header">
            <a:extLst xmlns:a="http://schemas.openxmlformats.org/drawingml/2006/main">
              <a:ext uri="{FF2B5EF4-FFF2-40B4-BE49-F238E27FC236}">
                <a16:creationId xmlns:a16="http://schemas.microsoft.com/office/drawing/2014/main" id="{1F5FE144-E711-4BF4-B1A4-D44CAB79B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145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2" name="score-head-text">
            <a:extLst xmlns:a="http://schemas.openxmlformats.org/drawingml/2006/main">
              <a:ext uri="{FF2B5EF4-FFF2-40B4-BE49-F238E27FC236}">
                <a16:creationId xmlns:a16="http://schemas.microsoft.com/office/drawing/2014/main" id="{C620CA78-DC4E-4584-B573-9E0E0E152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38375"/>
            <a:ext cx="1190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발표성</a:t>
            </a:r>
          </a:p>
        </p:txBody>
      </p:sp>
      <p:sp>
        <p:nvSpPr>
          <p:cNvPr id="23" name="score-header">
            <a:extLst xmlns:a="http://schemas.openxmlformats.org/drawingml/2006/main">
              <a:ext uri="{FF2B5EF4-FFF2-40B4-BE49-F238E27FC236}">
                <a16:creationId xmlns:a16="http://schemas.microsoft.com/office/drawing/2014/main" id="{7B6DCFF9-AFD8-4FD8-B53C-92E24A6CA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1145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4" name="score-head-text">
            <a:extLst xmlns:a="http://schemas.openxmlformats.org/drawingml/2006/main">
              <a:ext uri="{FF2B5EF4-FFF2-40B4-BE49-F238E27FC236}">
                <a16:creationId xmlns:a16="http://schemas.microsoft.com/office/drawing/2014/main" id="{75AFD630-11C5-4441-87FE-98C20916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2383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비고/리스크</a:t>
            </a:r>
          </a:p>
        </p:txBody>
      </p:sp>
      <p:sp>
        <p:nvSpPr>
          <p:cNvPr id="25" name="score-cell">
            <a:extLst xmlns:a="http://schemas.openxmlformats.org/drawingml/2006/main">
              <a:ext uri="{FF2B5EF4-FFF2-40B4-BE49-F238E27FC236}">
                <a16:creationId xmlns:a16="http://schemas.microsoft.com/office/drawing/2014/main" id="{A27259B1-4A52-457A-B152-E0BA690C7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71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6" name="candidate-placeholder">
            <a:extLst xmlns:a="http://schemas.openxmlformats.org/drawingml/2006/main">
              <a:ext uri="{FF2B5EF4-FFF2-40B4-BE49-F238E27FC236}">
                <a16:creationId xmlns:a16="http://schemas.microsoft.com/office/drawing/2014/main" id="{9D276DA0-4041-4B4E-AA20-51E5C1813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955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후보 1</a:t>
            </a:r>
          </a:p>
        </p:txBody>
      </p:sp>
      <p:sp>
        <p:nvSpPr>
          <p:cNvPr id="27" name="score-cell">
            <a:extLst xmlns:a="http://schemas.openxmlformats.org/drawingml/2006/main">
              <a:ext uri="{FF2B5EF4-FFF2-40B4-BE49-F238E27FC236}">
                <a16:creationId xmlns:a16="http://schemas.microsoft.com/office/drawing/2014/main" id="{D2C41932-7D47-4FE4-944C-DE7EF37DB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5717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8" name="score-cell">
            <a:extLst xmlns:a="http://schemas.openxmlformats.org/drawingml/2006/main">
              <a:ext uri="{FF2B5EF4-FFF2-40B4-BE49-F238E27FC236}">
                <a16:creationId xmlns:a16="http://schemas.microsoft.com/office/drawing/2014/main" id="{1B1AC91D-1389-4D51-AB46-7E221B6B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5717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9" name="score-cell">
            <a:extLst xmlns:a="http://schemas.openxmlformats.org/drawingml/2006/main">
              <a:ext uri="{FF2B5EF4-FFF2-40B4-BE49-F238E27FC236}">
                <a16:creationId xmlns:a16="http://schemas.microsoft.com/office/drawing/2014/main" id="{4C7D08AC-30DA-4D7E-A13E-12BC2914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5717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0" name="score-cell">
            <a:extLst xmlns:a="http://schemas.openxmlformats.org/drawingml/2006/main">
              <a:ext uri="{FF2B5EF4-FFF2-40B4-BE49-F238E27FC236}">
                <a16:creationId xmlns:a16="http://schemas.microsoft.com/office/drawing/2014/main" id="{002F6F20-847D-47C3-8017-F00DB813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5717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1" name="score-cell">
            <a:extLst xmlns:a="http://schemas.openxmlformats.org/drawingml/2006/main">
              <a:ext uri="{FF2B5EF4-FFF2-40B4-BE49-F238E27FC236}">
                <a16:creationId xmlns:a16="http://schemas.microsoft.com/office/drawing/2014/main" id="{96A609A2-90D0-4B34-9DB1-F3E92AE3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717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2" name="score-cell">
            <a:extLst xmlns:a="http://schemas.openxmlformats.org/drawingml/2006/main">
              <a:ext uri="{FF2B5EF4-FFF2-40B4-BE49-F238E27FC236}">
                <a16:creationId xmlns:a16="http://schemas.microsoft.com/office/drawing/2014/main" id="{E26EDB1D-B895-47B6-802F-BC308FE9E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5717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3" name="score-cell">
            <a:extLst xmlns:a="http://schemas.openxmlformats.org/drawingml/2006/main">
              <a:ext uri="{FF2B5EF4-FFF2-40B4-BE49-F238E27FC236}">
                <a16:creationId xmlns:a16="http://schemas.microsoft.com/office/drawing/2014/main" id="{C977E6C4-2DA3-4BC9-A1EE-2DDB18AB0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171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4" name="candidate-placeholder">
            <a:extLst xmlns:a="http://schemas.openxmlformats.org/drawingml/2006/main">
              <a:ext uri="{FF2B5EF4-FFF2-40B4-BE49-F238E27FC236}">
                <a16:creationId xmlns:a16="http://schemas.microsoft.com/office/drawing/2014/main" id="{E6056661-5F18-45FD-B25C-538912EB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527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후보 2</a:t>
            </a:r>
          </a:p>
        </p:txBody>
      </p:sp>
      <p:sp>
        <p:nvSpPr>
          <p:cNvPr id="35" name="score-cell">
            <a:extLst xmlns:a="http://schemas.openxmlformats.org/drawingml/2006/main">
              <a:ext uri="{FF2B5EF4-FFF2-40B4-BE49-F238E27FC236}">
                <a16:creationId xmlns:a16="http://schemas.microsoft.com/office/drawing/2014/main" id="{5FA0982C-B3DF-4972-B7FF-79343B57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0289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6" name="score-cell">
            <a:extLst xmlns:a="http://schemas.openxmlformats.org/drawingml/2006/main">
              <a:ext uri="{FF2B5EF4-FFF2-40B4-BE49-F238E27FC236}">
                <a16:creationId xmlns:a16="http://schemas.microsoft.com/office/drawing/2014/main" id="{8B36D6EB-3F07-4EAA-AC22-F3B087A8C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0289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7" name="score-cell">
            <a:extLst xmlns:a="http://schemas.openxmlformats.org/drawingml/2006/main">
              <a:ext uri="{FF2B5EF4-FFF2-40B4-BE49-F238E27FC236}">
                <a16:creationId xmlns:a16="http://schemas.microsoft.com/office/drawing/2014/main" id="{F1F3A153-8E8D-4794-B6F5-39E88334E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289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8" name="score-cell">
            <a:extLst xmlns:a="http://schemas.openxmlformats.org/drawingml/2006/main">
              <a:ext uri="{FF2B5EF4-FFF2-40B4-BE49-F238E27FC236}">
                <a16:creationId xmlns:a16="http://schemas.microsoft.com/office/drawing/2014/main" id="{02CA135F-C3BA-4120-BA63-8A69BE0DC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0289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9" name="score-cell">
            <a:extLst xmlns:a="http://schemas.openxmlformats.org/drawingml/2006/main">
              <a:ext uri="{FF2B5EF4-FFF2-40B4-BE49-F238E27FC236}">
                <a16:creationId xmlns:a16="http://schemas.microsoft.com/office/drawing/2014/main" id="{AFC9426D-2FA9-4954-A10D-942E5B20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289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0" name="score-cell">
            <a:extLst xmlns:a="http://schemas.openxmlformats.org/drawingml/2006/main">
              <a:ext uri="{FF2B5EF4-FFF2-40B4-BE49-F238E27FC236}">
                <a16:creationId xmlns:a16="http://schemas.microsoft.com/office/drawing/2014/main" id="{2E437F59-9781-4427-9BDA-835307A1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289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1" name="score-cell">
            <a:extLst xmlns:a="http://schemas.openxmlformats.org/drawingml/2006/main">
              <a:ext uri="{FF2B5EF4-FFF2-40B4-BE49-F238E27FC236}">
                <a16:creationId xmlns:a16="http://schemas.microsoft.com/office/drawing/2014/main" id="{33A3A669-B440-40F7-A921-88FBBBA15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86150"/>
            <a:ext cx="171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2" name="candidate-placeholder">
            <a:extLst xmlns:a="http://schemas.openxmlformats.org/drawingml/2006/main">
              <a:ext uri="{FF2B5EF4-FFF2-40B4-BE49-F238E27FC236}">
                <a16:creationId xmlns:a16="http://schemas.microsoft.com/office/drawing/2014/main" id="{859463D2-8F36-442F-972F-551EB5FA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99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후보 3</a:t>
            </a:r>
          </a:p>
        </p:txBody>
      </p:sp>
      <p:sp>
        <p:nvSpPr>
          <p:cNvPr id="43" name="score-cell">
            <a:extLst xmlns:a="http://schemas.openxmlformats.org/drawingml/2006/main">
              <a:ext uri="{FF2B5EF4-FFF2-40B4-BE49-F238E27FC236}">
                <a16:creationId xmlns:a16="http://schemas.microsoft.com/office/drawing/2014/main" id="{6FD12E8F-4BE9-4595-BCEA-E534EBB4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4861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4" name="score-cell">
            <a:extLst xmlns:a="http://schemas.openxmlformats.org/drawingml/2006/main">
              <a:ext uri="{FF2B5EF4-FFF2-40B4-BE49-F238E27FC236}">
                <a16:creationId xmlns:a16="http://schemas.microsoft.com/office/drawing/2014/main" id="{4E600155-7029-443B-A478-287D26C5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4861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5" name="score-cell">
            <a:extLst xmlns:a="http://schemas.openxmlformats.org/drawingml/2006/main">
              <a:ext uri="{FF2B5EF4-FFF2-40B4-BE49-F238E27FC236}">
                <a16:creationId xmlns:a16="http://schemas.microsoft.com/office/drawing/2014/main" id="{EEA20940-39DF-43EE-BD3E-B00C31947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4861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6" name="score-cell">
            <a:extLst xmlns:a="http://schemas.openxmlformats.org/drawingml/2006/main">
              <a:ext uri="{FF2B5EF4-FFF2-40B4-BE49-F238E27FC236}">
                <a16:creationId xmlns:a16="http://schemas.microsoft.com/office/drawing/2014/main" id="{D3B04536-9628-4BBB-9480-8E0A9A45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4861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7" name="score-cell">
            <a:extLst xmlns:a="http://schemas.openxmlformats.org/drawingml/2006/main">
              <a:ext uri="{FF2B5EF4-FFF2-40B4-BE49-F238E27FC236}">
                <a16:creationId xmlns:a16="http://schemas.microsoft.com/office/drawing/2014/main" id="{8C0836A2-D88B-4F6B-A489-E284F7EB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4861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8" name="score-cell">
            <a:extLst xmlns:a="http://schemas.openxmlformats.org/drawingml/2006/main">
              <a:ext uri="{FF2B5EF4-FFF2-40B4-BE49-F238E27FC236}">
                <a16:creationId xmlns:a16="http://schemas.microsoft.com/office/drawing/2014/main" id="{6B93995B-FB5B-4D99-9CE4-FB169AA9E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4861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9" name="score-cell">
            <a:extLst xmlns:a="http://schemas.openxmlformats.org/drawingml/2006/main">
              <a:ext uri="{FF2B5EF4-FFF2-40B4-BE49-F238E27FC236}">
                <a16:creationId xmlns:a16="http://schemas.microsoft.com/office/drawing/2014/main" id="{CB231B92-E30F-46C8-AA03-DB1A22027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71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50" name="candidate-placeholder">
            <a:extLst xmlns:a="http://schemas.openxmlformats.org/drawingml/2006/main">
              <a:ext uri="{FF2B5EF4-FFF2-40B4-BE49-F238E27FC236}">
                <a16:creationId xmlns:a16="http://schemas.microsoft.com/office/drawing/2014/main" id="{42D0C5DB-CBC8-4C62-813D-8F7F1122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671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후보 4</a:t>
            </a:r>
          </a:p>
        </p:txBody>
      </p:sp>
      <p:sp>
        <p:nvSpPr>
          <p:cNvPr id="51" name="score-cell">
            <a:extLst xmlns:a="http://schemas.openxmlformats.org/drawingml/2006/main">
              <a:ext uri="{FF2B5EF4-FFF2-40B4-BE49-F238E27FC236}">
                <a16:creationId xmlns:a16="http://schemas.microsoft.com/office/drawing/2014/main" id="{280ECC9A-1145-46BA-B864-608EE49A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433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52" name="score-cell">
            <a:extLst xmlns:a="http://schemas.openxmlformats.org/drawingml/2006/main">
              <a:ext uri="{FF2B5EF4-FFF2-40B4-BE49-F238E27FC236}">
                <a16:creationId xmlns:a16="http://schemas.microsoft.com/office/drawing/2014/main" id="{B75218DD-385D-4FF7-964A-533B17F49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9433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53" name="score-cell">
            <a:extLst xmlns:a="http://schemas.openxmlformats.org/drawingml/2006/main">
              <a:ext uri="{FF2B5EF4-FFF2-40B4-BE49-F238E27FC236}">
                <a16:creationId xmlns:a16="http://schemas.microsoft.com/office/drawing/2014/main" id="{5BC02CEB-03E3-40D1-87F1-E379354B1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9433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54" name="score-cell">
            <a:extLst xmlns:a="http://schemas.openxmlformats.org/drawingml/2006/main">
              <a:ext uri="{FF2B5EF4-FFF2-40B4-BE49-F238E27FC236}">
                <a16:creationId xmlns:a16="http://schemas.microsoft.com/office/drawing/2014/main" id="{32870E9F-D7E6-4295-9550-DA8120E4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9433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55" name="score-cell">
            <a:extLst xmlns:a="http://schemas.openxmlformats.org/drawingml/2006/main">
              <a:ext uri="{FF2B5EF4-FFF2-40B4-BE49-F238E27FC236}">
                <a16:creationId xmlns:a16="http://schemas.microsoft.com/office/drawing/2014/main" id="{74ACEBB2-C933-4412-8B64-651635D41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433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56" name="score-cell">
            <a:extLst xmlns:a="http://schemas.openxmlformats.org/drawingml/2006/main">
              <a:ext uri="{FF2B5EF4-FFF2-40B4-BE49-F238E27FC236}">
                <a16:creationId xmlns:a16="http://schemas.microsoft.com/office/drawing/2014/main" id="{BFD486E5-C121-4178-864A-EABFECCBC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9433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57" name="score-cell">
            <a:extLst xmlns:a="http://schemas.openxmlformats.org/drawingml/2006/main">
              <a:ext uri="{FF2B5EF4-FFF2-40B4-BE49-F238E27FC236}">
                <a16:creationId xmlns:a16="http://schemas.microsoft.com/office/drawing/2014/main" id="{69FAEA7C-208B-456C-965B-43E8541E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00550"/>
            <a:ext cx="171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58" name="candidate-placeholder">
            <a:extLst xmlns:a="http://schemas.openxmlformats.org/drawingml/2006/main">
              <a:ext uri="{FF2B5EF4-FFF2-40B4-BE49-F238E27FC236}">
                <a16:creationId xmlns:a16="http://schemas.microsoft.com/office/drawing/2014/main" id="{75D704F3-0494-4C32-8A9B-6E0153364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후보 5</a:t>
            </a:r>
          </a:p>
        </p:txBody>
      </p:sp>
      <p:sp>
        <p:nvSpPr>
          <p:cNvPr id="59" name="score-cell">
            <a:extLst xmlns:a="http://schemas.openxmlformats.org/drawingml/2006/main">
              <a:ext uri="{FF2B5EF4-FFF2-40B4-BE49-F238E27FC236}">
                <a16:creationId xmlns:a16="http://schemas.microsoft.com/office/drawing/2014/main" id="{40AF30A5-A5E7-4861-B867-7D8C38470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005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60" name="score-cell">
            <a:extLst xmlns:a="http://schemas.openxmlformats.org/drawingml/2006/main">
              <a:ext uri="{FF2B5EF4-FFF2-40B4-BE49-F238E27FC236}">
                <a16:creationId xmlns:a16="http://schemas.microsoft.com/office/drawing/2014/main" id="{25C71923-85D0-445E-8F08-0AACD3C4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4005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61" name="score-cell">
            <a:extLst xmlns:a="http://schemas.openxmlformats.org/drawingml/2006/main">
              <a:ext uri="{FF2B5EF4-FFF2-40B4-BE49-F238E27FC236}">
                <a16:creationId xmlns:a16="http://schemas.microsoft.com/office/drawing/2014/main" id="{1DF16AC2-6EBD-4778-A108-7786AFE8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4005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62" name="score-cell">
            <a:extLst xmlns:a="http://schemas.openxmlformats.org/drawingml/2006/main">
              <a:ext uri="{FF2B5EF4-FFF2-40B4-BE49-F238E27FC236}">
                <a16:creationId xmlns:a16="http://schemas.microsoft.com/office/drawing/2014/main" id="{D6363A21-0250-47AC-A3BE-23FE386BE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4005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63" name="score-cell">
            <a:extLst xmlns:a="http://schemas.openxmlformats.org/drawingml/2006/main">
              <a:ext uri="{FF2B5EF4-FFF2-40B4-BE49-F238E27FC236}">
                <a16:creationId xmlns:a16="http://schemas.microsoft.com/office/drawing/2014/main" id="{B5A000CA-1BE2-4051-9316-8579278A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005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64" name="score-cell">
            <a:extLst xmlns:a="http://schemas.openxmlformats.org/drawingml/2006/main">
              <a:ext uri="{FF2B5EF4-FFF2-40B4-BE49-F238E27FC236}">
                <a16:creationId xmlns:a16="http://schemas.microsoft.com/office/drawing/2014/main" id="{F8A19892-69A1-48CC-9455-9CD51A0A2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4005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65" name="drop-rule">
            <a:extLst xmlns:a="http://schemas.openxmlformats.org/drawingml/2006/main">
              <a:ext uri="{FF2B5EF4-FFF2-40B4-BE49-F238E27FC236}">
                <a16:creationId xmlns:a16="http://schemas.microsoft.com/office/drawing/2014/main" id="{A0149CCB-AB22-47DE-AB4F-17F2E2294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F59E0B"/>
                </a:solidFill>
                <a:latin typeface="Pretendard"/>
                <a:ea typeface="Pretendard"/>
                <a:cs typeface="Pretendard"/>
              </a:rPr>
              <a:t>제외 조건: 안전한 샘플 자료를 준비할 수 없음 · 사람 검토 기준을 설명할 수 없음 · 8시간 시연이 불가능함</a:t>
            </a:r>
          </a:p>
        </p:txBody>
      </p:sp>
    </p:spTree>
    <p:extLst>
      <p:ext uri="{BB962C8B-B14F-4D97-AF65-F5344CB8AC3E}">
        <p14:creationId xmlns:p14="http://schemas.microsoft.com/office/powerpoint/2010/main" val="8255791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8E3714A0-96C4-458C-BD0F-BFD567B33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13B472AC-16AA-49F6-8016-67AB95FB6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8C9E63A3-45BC-4E7B-988D-E7089CFFA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24DD9892-F67A-4934-8CC4-74155417A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62FF444F-AB67-4BF8-97BC-3E02B7BE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37C43307-9B33-4B40-8B89-D50846C05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ACTIVITY 3 · 16:45-17:05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3A53711D-10E8-448E-8288-E1047A77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팀빌딩: 3인 1조, 총 5개 프로젝트팀을 확정합니다.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79D3B68B-21DC-4C34-8752-C6BBB6D6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부서보다 역할과 주제 축을 기준으로 팀을 구성합니다.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35ba45b72e46d4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14CE22EE-EDF8-48FC-92A8-16BB4E49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11" name="card-진행 방법">
            <a:extLst xmlns:a="http://schemas.openxmlformats.org/drawingml/2006/main">
              <a:ext uri="{FF2B5EF4-FFF2-40B4-BE49-F238E27FC236}">
                <a16:creationId xmlns:a16="http://schemas.microsoft.com/office/drawing/2014/main" id="{D205ED30-ED5C-4DB5-A583-63DD9450F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EC169B31-F87B-46F2-9FE6-B7A34828C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D403E258-A0BB-4012-9525-F265964FA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진행 방법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8C56AD92-F5C5-46D3-ACE3-2893275A9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How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FAB18B2A-2A20-4C17-866C-8B765786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 오너, 구현 담당, 검증·발표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담당을 먼저 정하고 주제 축을 선택</a:t>
            </a:r>
          </a:p>
        </p:txBody>
      </p:sp>
      <p:sp>
        <p:nvSpPr>
          <p:cNvPr id="16" name="card-결과물">
            <a:extLst xmlns:a="http://schemas.openxmlformats.org/drawingml/2006/main">
              <a:ext uri="{FF2B5EF4-FFF2-40B4-BE49-F238E27FC236}">
                <a16:creationId xmlns:a16="http://schemas.microsoft.com/office/drawing/2014/main" id="{0AE0A957-6DFE-4AAA-8A11-E2A7D0AD9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E494EDC5-FC1E-4D30-95DB-8495F910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30879938-8B79-4E4C-A7C1-81FC718A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CD07E9AF-8824-4B3D-A4E4-CF151566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Output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ABFA9F81-E8C4-4BB8-87E5-ADAD0E9C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5개 팀 구성표와 팀별 1순위 업무 문제</a:t>
            </a:r>
          </a:p>
        </p:txBody>
      </p:sp>
      <p:sp>
        <p:nvSpPr>
          <p:cNvPr id="21" name="card-운영 팁">
            <a:extLst xmlns:a="http://schemas.openxmlformats.org/drawingml/2006/main">
              <a:ext uri="{FF2B5EF4-FFF2-40B4-BE49-F238E27FC236}">
                <a16:creationId xmlns:a16="http://schemas.microsoft.com/office/drawing/2014/main" id="{151DD480-EDC3-4916-B039-4DDCFF4F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31432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7A712A7F-9467-441E-A608-0FAD20653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612649D8-7C3D-4080-95DD-50D82FB16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4765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 팁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B8BE3396-8B54-4B5D-BF01-A5BBD313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7622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Facilitator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C285794A-74E3-41D9-84B4-8026BA05A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276600"/>
            <a:ext cx="2686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타이머를 보이게 두고, 각 팀의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산출물은 다음 단계 장표에 바로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옮겨 적게 합니다.</a:t>
            </a:r>
          </a:p>
        </p:txBody>
      </p:sp>
    </p:spTree>
    <p:extLst>
      <p:ext uri="{BB962C8B-B14F-4D97-AF65-F5344CB8AC3E}">
        <p14:creationId xmlns:p14="http://schemas.microsoft.com/office/powerpoint/2010/main" val="524326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E26210F5-4AF0-4977-B968-609C1055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130D971B-50CA-49CD-B900-596CB4087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0BE4405C-F503-4DAE-859B-5309F69F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B58B6B97-549C-4D3A-BCCB-2925F0096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ABABF753-D18E-466D-8DB9-38C135348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B83E3BFD-3D9D-4A1D-A4A9-64C0F62A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워크시트 3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FE7E8324-30B0-4935-9D1C-D4B37A26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 구성 카드: 3명이 맡을 역할과 주제 축을 확정합니다.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266C1291-C2F6-4D5D-8CB1-091ED36A4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팀 주제 축은 고정 배정이 아니라 8월 구현 과제를 좁히기 위한 권장 방향입니다.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ec182604734ebb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539E34BB-589F-49BB-AEF1-463B8717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11" name="field-label">
            <a:extLst xmlns:a="http://schemas.openxmlformats.org/drawingml/2006/main">
              <a:ext uri="{FF2B5EF4-FFF2-40B4-BE49-F238E27FC236}">
                <a16:creationId xmlns:a16="http://schemas.microsoft.com/office/drawing/2014/main" id="{2958D1BF-744E-4148-B9B9-3C915DA42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31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팀명 / 주제 축</a:t>
            </a:r>
          </a:p>
        </p:txBody>
      </p:sp>
      <p:sp>
        <p:nvSpPr>
          <p:cNvPr id="12" name="field-팀명 / 주제 축">
            <a:extLst xmlns:a="http://schemas.openxmlformats.org/drawingml/2006/main">
              <a:ext uri="{FF2B5EF4-FFF2-40B4-BE49-F238E27FC236}">
                <a16:creationId xmlns:a16="http://schemas.microsoft.com/office/drawing/2014/main" id="{DF41F14D-5E31-4E88-95D3-1915BF611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33147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3" name="field-hint">
            <a:extLst xmlns:a="http://schemas.openxmlformats.org/drawingml/2006/main">
              <a:ext uri="{FF2B5EF4-FFF2-40B4-BE49-F238E27FC236}">
                <a16:creationId xmlns:a16="http://schemas.microsoft.com/office/drawing/2014/main" id="{5218E32F-32F2-42AD-BA26-7EF5D6A5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95550"/>
            <a:ext cx="3009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예: Team 1 · 서비스 운영/고객 접점</a:t>
            </a:r>
          </a:p>
        </p:txBody>
      </p:sp>
      <p:sp>
        <p:nvSpPr>
          <p:cNvPr id="14" name="field-label">
            <a:extLst xmlns:a="http://schemas.openxmlformats.org/drawingml/2006/main">
              <a:ext uri="{FF2B5EF4-FFF2-40B4-BE49-F238E27FC236}">
                <a16:creationId xmlns:a16="http://schemas.microsoft.com/office/drawing/2014/main" id="{6AADEB77-18A7-413E-A57F-F8962963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95500"/>
            <a:ext cx="331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업무 오너</a:t>
            </a:r>
          </a:p>
        </p:txBody>
      </p:sp>
      <p:sp>
        <p:nvSpPr>
          <p:cNvPr id="15" name="field-업무 오너">
            <a:extLst xmlns:a="http://schemas.openxmlformats.org/drawingml/2006/main">
              <a:ext uri="{FF2B5EF4-FFF2-40B4-BE49-F238E27FC236}">
                <a16:creationId xmlns:a16="http://schemas.microsoft.com/office/drawing/2014/main" id="{09C8A27C-DBDB-4D20-88EF-6F131465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62200"/>
            <a:ext cx="33147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6" name="field-hint">
            <a:extLst xmlns:a="http://schemas.openxmlformats.org/drawingml/2006/main">
              <a:ext uri="{FF2B5EF4-FFF2-40B4-BE49-F238E27FC236}">
                <a16:creationId xmlns:a16="http://schemas.microsoft.com/office/drawing/2014/main" id="{1174C819-BA19-46D6-8FF2-AFF81702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95550"/>
            <a:ext cx="3009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이름 / 부서 / 대표 업무 문제</a:t>
            </a:r>
          </a:p>
        </p:txBody>
      </p:sp>
      <p:sp>
        <p:nvSpPr>
          <p:cNvPr id="17" name="field-label">
            <a:extLst xmlns:a="http://schemas.openxmlformats.org/drawingml/2006/main">
              <a:ext uri="{FF2B5EF4-FFF2-40B4-BE49-F238E27FC236}">
                <a16:creationId xmlns:a16="http://schemas.microsoft.com/office/drawing/2014/main" id="{2C4E0DC2-5283-44BA-83E1-FC48D193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095500"/>
            <a:ext cx="331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구현 담당</a:t>
            </a:r>
          </a:p>
        </p:txBody>
      </p:sp>
      <p:sp>
        <p:nvSpPr>
          <p:cNvPr id="18" name="field-구현 담당">
            <a:extLst xmlns:a="http://schemas.openxmlformats.org/drawingml/2006/main">
              <a:ext uri="{FF2B5EF4-FFF2-40B4-BE49-F238E27FC236}">
                <a16:creationId xmlns:a16="http://schemas.microsoft.com/office/drawing/2014/main" id="{43CBF238-8432-4B94-978C-C249A9EC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62200"/>
            <a:ext cx="33147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9" name="field-hint">
            <a:extLst xmlns:a="http://schemas.openxmlformats.org/drawingml/2006/main">
              <a:ext uri="{FF2B5EF4-FFF2-40B4-BE49-F238E27FC236}">
                <a16:creationId xmlns:a16="http://schemas.microsoft.com/office/drawing/2014/main" id="{4767EA39-AFA2-4CB2-A7F4-06CBA24F8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95550"/>
            <a:ext cx="3009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이름 / 구현 경험 / 사용할 도구</a:t>
            </a:r>
          </a:p>
        </p:txBody>
      </p:sp>
      <p:sp>
        <p:nvSpPr>
          <p:cNvPr id="20" name="field-label">
            <a:extLst xmlns:a="http://schemas.openxmlformats.org/drawingml/2006/main">
              <a:ext uri="{FF2B5EF4-FFF2-40B4-BE49-F238E27FC236}">
                <a16:creationId xmlns:a16="http://schemas.microsoft.com/office/drawing/2014/main" id="{D8C2A4E3-C2DD-4E66-8CB5-660D93864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331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검증·발표 담당</a:t>
            </a:r>
          </a:p>
        </p:txBody>
      </p:sp>
      <p:sp>
        <p:nvSpPr>
          <p:cNvPr id="21" name="field-검증·발표 담당">
            <a:extLst xmlns:a="http://schemas.openxmlformats.org/drawingml/2006/main">
              <a:ext uri="{FF2B5EF4-FFF2-40B4-BE49-F238E27FC236}">
                <a16:creationId xmlns:a16="http://schemas.microsoft.com/office/drawing/2014/main" id="{9898A4CE-0F6F-4F65-A094-EDDDFC93D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33147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2" name="field-hint">
            <a:extLst xmlns:a="http://schemas.openxmlformats.org/drawingml/2006/main">
              <a:ext uri="{FF2B5EF4-FFF2-40B4-BE49-F238E27FC236}">
                <a16:creationId xmlns:a16="http://schemas.microsoft.com/office/drawing/2014/main" id="{0A2D24F3-BBDC-49B2-B75E-1651A56B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3009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이름 / 검토 기준 / 발표 역할</a:t>
            </a:r>
          </a:p>
        </p:txBody>
      </p:sp>
      <p:sp>
        <p:nvSpPr>
          <p:cNvPr id="23" name="field-label">
            <a:extLst xmlns:a="http://schemas.openxmlformats.org/drawingml/2006/main">
              <a:ext uri="{FF2B5EF4-FFF2-40B4-BE49-F238E27FC236}">
                <a16:creationId xmlns:a16="http://schemas.microsoft.com/office/drawing/2014/main" id="{2AAA6AD7-91CE-49DF-90AB-798B8817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90950"/>
            <a:ext cx="7219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팀의 1순위 업무 문제</a:t>
            </a:r>
          </a:p>
        </p:txBody>
      </p:sp>
      <p:sp>
        <p:nvSpPr>
          <p:cNvPr id="24" name="field-팀의 1순위 업무 문제">
            <a:extLst xmlns:a="http://schemas.openxmlformats.org/drawingml/2006/main">
              <a:ext uri="{FF2B5EF4-FFF2-40B4-BE49-F238E27FC236}">
                <a16:creationId xmlns:a16="http://schemas.microsoft.com/office/drawing/2014/main" id="{2AB25707-B53F-47F4-8DA9-D56545D1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57650"/>
            <a:ext cx="72199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5" name="field-hint">
            <a:extLst xmlns:a="http://schemas.openxmlformats.org/drawingml/2006/main">
              <a:ext uri="{FF2B5EF4-FFF2-40B4-BE49-F238E27FC236}">
                <a16:creationId xmlns:a16="http://schemas.microsoft.com/office/drawing/2014/main" id="{A7B7725F-9A31-4FE0-AADD-8D35BB992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91000"/>
            <a:ext cx="6915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우리가 8월 21일에 구현해볼 문제를 한 문장으로 작성</a:t>
            </a:r>
          </a:p>
        </p:txBody>
      </p:sp>
    </p:spTree>
    <p:extLst>
      <p:ext uri="{BB962C8B-B14F-4D97-AF65-F5344CB8AC3E}">
        <p14:creationId xmlns:p14="http://schemas.microsoft.com/office/powerpoint/2010/main" val="119092808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2C280170-935F-4C26-BBC3-9702470C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D1DD1E3B-DD67-45B8-94E7-3B91868C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F445AFBE-8E71-446A-B089-3DB57104E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D29FF49A-DA31-4E84-B3D3-0F82A4A2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FB519540-8CBA-4D73-8898-C4D0645C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36FC7E2B-6C87-42C0-B902-4A9503FD7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Project Canvas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82FFB058-26CB-49FD-A738-6C960A6F1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팀별 Project Canvas는 8월 구현 수업의 입력값입니다.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E6608290-FF78-42F3-8B6F-A80755D80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토론 결과를 6개 칸으로 고정하면, 8월 21일에는 구현과 멘토링으로 바로 들어갈 수 있습니다.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4870c70f994a0e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239D0ABB-097F-48B3-AF9A-7803C6C5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11" name="card-CANVAS 1">
            <a:extLst xmlns:a="http://schemas.openxmlformats.org/drawingml/2006/main">
              <a:ext uri="{FF2B5EF4-FFF2-40B4-BE49-F238E27FC236}">
                <a16:creationId xmlns:a16="http://schemas.microsoft.com/office/drawing/2014/main" id="{7CB5F55B-22A3-4BC1-8B39-38DA2517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3429000" cy="1390650"/>
          </a:xfrm>
          <a:prstGeom xmlns:a="http://schemas.openxmlformats.org/drawingml/2006/main" prst="roundRect">
            <a:avLst>
              <a:gd name="adj" fmla="val 123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C1EC4DF6-E0AA-4E8F-9737-0B46772FB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76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4F944F72-45E0-4AC4-9131-E81C55142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CANVAS 1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F811B704-81C1-4F2B-A40E-B4627E53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051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업무 문제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B6E624D5-7589-48EE-990C-BFACE312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2971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무엇이 느리고 반복되는가?</a:t>
            </a:r>
          </a:p>
        </p:txBody>
      </p:sp>
      <p:sp>
        <p:nvSpPr>
          <p:cNvPr id="16" name="card-CANVAS 2">
            <a:extLst xmlns:a="http://schemas.openxmlformats.org/drawingml/2006/main">
              <a:ext uri="{FF2B5EF4-FFF2-40B4-BE49-F238E27FC236}">
                <a16:creationId xmlns:a16="http://schemas.microsoft.com/office/drawing/2014/main" id="{77D1A9B0-F1B4-4574-A31A-F00D97B5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66950"/>
            <a:ext cx="3429000" cy="1390650"/>
          </a:xfrm>
          <a:prstGeom xmlns:a="http://schemas.openxmlformats.org/drawingml/2006/main" prst="roundRect">
            <a:avLst>
              <a:gd name="adj" fmla="val 123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A015FE8B-3973-43F9-8AE4-0078C753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66950"/>
            <a:ext cx="76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47E7E164-B65B-4A86-8B0D-BB80240F0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574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rPr>
              <a:t>CANVAS 2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497F8F7A-FD82-4FD6-960A-C99D2E5D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051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현재 방식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56F12A04-2421-4EF4-AAC1-0E3247E0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86100"/>
            <a:ext cx="2971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누가 어떤 자료로 판단하는가?</a:t>
            </a:r>
          </a:p>
        </p:txBody>
      </p:sp>
      <p:sp>
        <p:nvSpPr>
          <p:cNvPr id="21" name="card-CANVAS 3">
            <a:extLst xmlns:a="http://schemas.openxmlformats.org/drawingml/2006/main">
              <a:ext uri="{FF2B5EF4-FFF2-40B4-BE49-F238E27FC236}">
                <a16:creationId xmlns:a16="http://schemas.microsoft.com/office/drawing/2014/main" id="{5115159B-4F91-43B5-B92E-3561CDCB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66950"/>
            <a:ext cx="3429000" cy="1390650"/>
          </a:xfrm>
          <a:prstGeom xmlns:a="http://schemas.openxmlformats.org/drawingml/2006/main" prst="roundRect">
            <a:avLst>
              <a:gd name="adj" fmla="val 123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7B85F683-E590-4044-AEF0-6A02C8BF9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66950"/>
            <a:ext cx="76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C219B574-1E9E-44FB-8838-1E701059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CANVAS 3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09148225-A125-4F9A-B43B-C9C68FFD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051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입력/출력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6C3FAE65-2FD6-4BDA-A912-1803D0C3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86100"/>
            <a:ext cx="2971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AI가 참고할 입력과 생성할 초안</a:t>
            </a:r>
          </a:p>
        </p:txBody>
      </p:sp>
      <p:sp>
        <p:nvSpPr>
          <p:cNvPr id="26" name="card-CANVAS 4">
            <a:extLst xmlns:a="http://schemas.openxmlformats.org/drawingml/2006/main">
              <a:ext uri="{FF2B5EF4-FFF2-40B4-BE49-F238E27FC236}">
                <a16:creationId xmlns:a16="http://schemas.microsoft.com/office/drawing/2014/main" id="{E4E44535-B7FB-4270-A180-1BF95025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3429000" cy="1390650"/>
          </a:xfrm>
          <a:prstGeom xmlns:a="http://schemas.openxmlformats.org/drawingml/2006/main" prst="roundRect">
            <a:avLst>
              <a:gd name="adj" fmla="val 123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B8FE59DB-9DC0-44B1-9DC8-93A20D208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76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ard-label">
            <a:extLst xmlns:a="http://schemas.openxmlformats.org/drawingml/2006/main">
              <a:ext uri="{FF2B5EF4-FFF2-40B4-BE49-F238E27FC236}">
                <a16:creationId xmlns:a16="http://schemas.microsoft.com/office/drawing/2014/main" id="{2F1A87EE-26F7-41E7-9D0B-7B3C3028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195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CANVAS 4</a:t>
            </a:r>
          </a:p>
        </p:txBody>
      </p:sp>
      <p:sp>
        <p:nvSpPr>
          <p:cNvPr id="29" name="card-title">
            <a:extLst xmlns:a="http://schemas.openxmlformats.org/drawingml/2006/main">
              <a:ext uri="{FF2B5EF4-FFF2-40B4-BE49-F238E27FC236}">
                <a16:creationId xmlns:a16="http://schemas.microsoft.com/office/drawing/2014/main" id="{7AAB2666-83E2-46FD-9109-A015C669C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672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 보조 역할</a:t>
            </a:r>
          </a:p>
        </p:txBody>
      </p:sp>
      <p:sp>
        <p:nvSpPr>
          <p:cNvPr id="30" name="card-body">
            <a:extLst xmlns:a="http://schemas.openxmlformats.org/drawingml/2006/main">
              <a:ext uri="{FF2B5EF4-FFF2-40B4-BE49-F238E27FC236}">
                <a16:creationId xmlns:a16="http://schemas.microsoft.com/office/drawing/2014/main" id="{16F0BDB8-1037-4CF3-A6F6-2168CC9C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48200"/>
            <a:ext cx="2971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검색, 분류, 요약, 초안, 검증</a:t>
            </a:r>
          </a:p>
        </p:txBody>
      </p:sp>
      <p:sp>
        <p:nvSpPr>
          <p:cNvPr id="31" name="card-CANVAS 5">
            <a:extLst xmlns:a="http://schemas.openxmlformats.org/drawingml/2006/main">
              <a:ext uri="{FF2B5EF4-FFF2-40B4-BE49-F238E27FC236}">
                <a16:creationId xmlns:a16="http://schemas.microsoft.com/office/drawing/2014/main" id="{404B5898-EA8C-4351-A281-3069D713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29050"/>
            <a:ext cx="3429000" cy="1390650"/>
          </a:xfrm>
          <a:prstGeom xmlns:a="http://schemas.openxmlformats.org/drawingml/2006/main" prst="roundRect">
            <a:avLst>
              <a:gd name="adj" fmla="val 123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D8275970-E2CB-4D04-9932-1B6994DAF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29050"/>
            <a:ext cx="76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card-label">
            <a:extLst xmlns:a="http://schemas.openxmlformats.org/drawingml/2006/main">
              <a:ext uri="{FF2B5EF4-FFF2-40B4-BE49-F238E27FC236}">
                <a16:creationId xmlns:a16="http://schemas.microsoft.com/office/drawing/2014/main" id="{4A1CECE4-FBDC-4310-8F72-BE873841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195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rPr>
              <a:t>CANVAS 5</a:t>
            </a:r>
          </a:p>
        </p:txBody>
      </p:sp>
      <p:sp>
        <p:nvSpPr>
          <p:cNvPr id="34" name="card-title">
            <a:extLst xmlns:a="http://schemas.openxmlformats.org/drawingml/2006/main">
              <a:ext uri="{FF2B5EF4-FFF2-40B4-BE49-F238E27FC236}">
                <a16:creationId xmlns:a16="http://schemas.microsoft.com/office/drawing/2014/main" id="{183DDE53-A7A1-474E-A703-F854C002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672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사람 검토</a:t>
            </a:r>
          </a:p>
        </p:txBody>
      </p:sp>
      <p:sp>
        <p:nvSpPr>
          <p:cNvPr id="35" name="card-body">
            <a:extLst xmlns:a="http://schemas.openxmlformats.org/drawingml/2006/main">
              <a:ext uri="{FF2B5EF4-FFF2-40B4-BE49-F238E27FC236}">
                <a16:creationId xmlns:a16="http://schemas.microsoft.com/office/drawing/2014/main" id="{D8549C3D-DC29-4ED2-9172-90C067334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648200"/>
            <a:ext cx="2971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품질, 보안, 승인, 예외 기준</a:t>
            </a:r>
          </a:p>
        </p:txBody>
      </p:sp>
      <p:sp>
        <p:nvSpPr>
          <p:cNvPr id="36" name="card-CANVAS 6">
            <a:extLst xmlns:a="http://schemas.openxmlformats.org/drawingml/2006/main">
              <a:ext uri="{FF2B5EF4-FFF2-40B4-BE49-F238E27FC236}">
                <a16:creationId xmlns:a16="http://schemas.microsoft.com/office/drawing/2014/main" id="{DDBFB1CB-7008-49F6-80F7-D632CAC21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829050"/>
            <a:ext cx="3429000" cy="1390650"/>
          </a:xfrm>
          <a:prstGeom xmlns:a="http://schemas.openxmlformats.org/drawingml/2006/main" prst="roundRect">
            <a:avLst>
              <a:gd name="adj" fmla="val 123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9ABF5A73-631D-4C76-AF43-4EF02CAA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829050"/>
            <a:ext cx="76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card-label">
            <a:extLst xmlns:a="http://schemas.openxmlformats.org/drawingml/2006/main">
              <a:ext uri="{FF2B5EF4-FFF2-40B4-BE49-F238E27FC236}">
                <a16:creationId xmlns:a16="http://schemas.microsoft.com/office/drawing/2014/main" id="{CB5E328B-D8A2-4344-B108-79FCA340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195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CANVAS 6</a:t>
            </a:r>
          </a:p>
        </p:txBody>
      </p:sp>
      <p:sp>
        <p:nvSpPr>
          <p:cNvPr id="39" name="card-title">
            <a:extLst xmlns:a="http://schemas.openxmlformats.org/drawingml/2006/main">
              <a:ext uri="{FF2B5EF4-FFF2-40B4-BE49-F238E27FC236}">
                <a16:creationId xmlns:a16="http://schemas.microsoft.com/office/drawing/2014/main" id="{97CB1337-EC7C-46A3-ADF6-54D0A050B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2672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8월 데모</a:t>
            </a:r>
          </a:p>
        </p:txBody>
      </p:sp>
      <p:sp>
        <p:nvSpPr>
          <p:cNvPr id="40" name="card-body">
            <a:extLst xmlns:a="http://schemas.openxmlformats.org/drawingml/2006/main">
              <a:ext uri="{FF2B5EF4-FFF2-40B4-BE49-F238E27FC236}">
                <a16:creationId xmlns:a16="http://schemas.microsoft.com/office/drawing/2014/main" id="{A31EB140-896E-4497-AB85-2797ED20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48200"/>
            <a:ext cx="2971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8시간 안에 시연할 범위</a:t>
            </a:r>
          </a:p>
        </p:txBody>
      </p:sp>
    </p:spTree>
    <p:extLst>
      <p:ext uri="{BB962C8B-B14F-4D97-AF65-F5344CB8AC3E}">
        <p14:creationId xmlns:p14="http://schemas.microsoft.com/office/powerpoint/2010/main" val="190562439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2C4EFC36-6F4D-4E8D-A956-2CAEE204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B6F6E14B-5E22-4DE3-B091-80AAB3B8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85D1CDE6-A03A-4811-B3B1-8D742EE3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7F8C2C34-2E7F-41A2-82AA-2F5D7B45D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C7B80D88-6E36-4403-A604-AC6C8BC73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8397586C-56D4-4011-A42C-A3E260E76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ACTIVITY 4 · 17:05-17:35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FE7A4006-2F63-4742-A20D-42AEC694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Project Canvas A: 문제와 현재 업무 방식을 씁니다.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DED7E7AA-D6EC-4464-AB7B-BD506748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 적용 전에 현재 업무의 입력, 판단, 산출물을 명확히 설명합니다.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c7840933b749dc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F884F7F-C60A-4745-9C2E-4111226D0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11" name="card-진행 방법">
            <a:extLst xmlns:a="http://schemas.openxmlformats.org/drawingml/2006/main">
              <a:ext uri="{FF2B5EF4-FFF2-40B4-BE49-F238E27FC236}">
                <a16:creationId xmlns:a16="http://schemas.microsoft.com/office/drawing/2014/main" id="{0F025827-A0FE-4471-AB12-BFA6DBFD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E70A2640-AB75-4150-9426-10E7B8B1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92BB9D75-D564-45C3-8907-13CDD4321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진행 방법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5245BFF4-024D-45ED-BF2F-2A9963D8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How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AB8912E6-5056-45C7-8EBD-B94CC66B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팀 토론 20분 → 업무 문제 한 문장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확정 → 현재 입력/출력/병목 정리</a:t>
            </a:r>
          </a:p>
        </p:txBody>
      </p:sp>
      <p:sp>
        <p:nvSpPr>
          <p:cNvPr id="16" name="card-결과물">
            <a:extLst xmlns:a="http://schemas.openxmlformats.org/drawingml/2006/main">
              <a:ext uri="{FF2B5EF4-FFF2-40B4-BE49-F238E27FC236}">
                <a16:creationId xmlns:a16="http://schemas.microsoft.com/office/drawing/2014/main" id="{0FAB2A6B-CCCD-4BD0-8892-73477494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8E27B1A9-A68B-4E0D-99A0-66FC0E24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6D8CCE48-3239-48FC-81E3-F4C64292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F7A0ECE0-9A1F-4A33-9E54-8B56801D0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Output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242DF5EB-DEE4-4406-898E-8005FBBE9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 문제, 현재 방식, 병목,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산출물 정의</a:t>
            </a:r>
          </a:p>
        </p:txBody>
      </p:sp>
      <p:sp>
        <p:nvSpPr>
          <p:cNvPr id="21" name="card-운영 팁">
            <a:extLst xmlns:a="http://schemas.openxmlformats.org/drawingml/2006/main">
              <a:ext uri="{FF2B5EF4-FFF2-40B4-BE49-F238E27FC236}">
                <a16:creationId xmlns:a16="http://schemas.microsoft.com/office/drawing/2014/main" id="{FED58E52-75D3-4BCF-ABFD-7F9C37FF4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31432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5E51AB25-46E1-44F1-9E39-F31F0C858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693F1856-022A-461B-AA5E-49F5C5C5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4765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 팁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19339773-3AF7-46F7-83F2-FE65F446B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7622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Facilitator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F92CC754-B556-4685-BD2E-96E826E53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276600"/>
            <a:ext cx="2686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타이머를 보이게 두고, 각 팀의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산출물은 다음 단계 장표에 바로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옮겨 적게 합니다.</a:t>
            </a:r>
          </a:p>
        </p:txBody>
      </p:sp>
    </p:spTree>
    <p:extLst>
      <p:ext uri="{BB962C8B-B14F-4D97-AF65-F5344CB8AC3E}">
        <p14:creationId xmlns:p14="http://schemas.microsoft.com/office/powerpoint/2010/main" val="140784096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9638DEE8-303E-4ADE-B09D-FF3998F9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A0BE7FA3-B96D-40D3-BF08-66A3C18BF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42494CB8-790E-4FF6-A8E5-ED4844CAA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F218620C-2B81-42ED-B254-9518DC03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50119650-AB5F-4FB9-B31B-3B47367D7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3331BA52-5452-48D4-A527-02F8C0AF3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워크시트 4A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AEB4E49F-C31F-4A9B-BBDA-C57872C14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Project Canvas A: 문제와 현재 방식을 명확히 씁니다.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75049CC5-DE1C-4ECC-925A-72019C5A8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 적용 전에 현재 업무가 어떤 입력, 판단, 산출물로 구성되는지 먼저 설명합니다.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e4a7ba763d49c1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6830CFE5-908B-4579-81B9-7A2029F9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11" name="field-label">
            <a:extLst xmlns:a="http://schemas.openxmlformats.org/drawingml/2006/main">
              <a:ext uri="{FF2B5EF4-FFF2-40B4-BE49-F238E27FC236}">
                <a16:creationId xmlns:a16="http://schemas.microsoft.com/office/drawing/2014/main" id="{9C61D8E5-5281-4A77-9E68-F305EF6B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업무 문제 한 문장</a:t>
            </a:r>
          </a:p>
        </p:txBody>
      </p:sp>
      <p:sp>
        <p:nvSpPr>
          <p:cNvPr id="12" name="field-업무 문제 한 문장">
            <a:extLst xmlns:a="http://schemas.openxmlformats.org/drawingml/2006/main">
              <a:ext uri="{FF2B5EF4-FFF2-40B4-BE49-F238E27FC236}">
                <a16:creationId xmlns:a16="http://schemas.microsoft.com/office/drawing/2014/main" id="{5CF7EB32-CAF1-4671-A292-69A1EC1B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51435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3" name="field-hint">
            <a:extLst xmlns:a="http://schemas.openxmlformats.org/drawingml/2006/main">
              <a:ext uri="{FF2B5EF4-FFF2-40B4-BE49-F238E27FC236}">
                <a16:creationId xmlns:a16="http://schemas.microsoft.com/office/drawing/2014/main" id="{0E1450D0-A114-4D4A-8C9C-3C4EF2FB4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95550"/>
            <a:ext cx="48387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예: 현업 요청을 유형별로 분류하고 답변 초안을 만드는 데 시간이 많이 든다.</a:t>
            </a:r>
          </a:p>
        </p:txBody>
      </p:sp>
      <p:sp>
        <p:nvSpPr>
          <p:cNvPr id="14" name="field-label">
            <a:extLst xmlns:a="http://schemas.openxmlformats.org/drawingml/2006/main">
              <a:ext uri="{FF2B5EF4-FFF2-40B4-BE49-F238E27FC236}">
                <a16:creationId xmlns:a16="http://schemas.microsoft.com/office/drawing/2014/main" id="{04462D67-CEA0-4E11-9417-EA9A2792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955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현재 산출물</a:t>
            </a:r>
          </a:p>
        </p:txBody>
      </p:sp>
      <p:sp>
        <p:nvSpPr>
          <p:cNvPr id="15" name="field-현재 산출물">
            <a:extLst xmlns:a="http://schemas.openxmlformats.org/drawingml/2006/main">
              <a:ext uri="{FF2B5EF4-FFF2-40B4-BE49-F238E27FC236}">
                <a16:creationId xmlns:a16="http://schemas.microsoft.com/office/drawing/2014/main" id="{FDDF7CAE-94BC-4314-BD03-6246BF8E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62200"/>
            <a:ext cx="51435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6" name="field-hint">
            <a:extLst xmlns:a="http://schemas.openxmlformats.org/drawingml/2006/main">
              <a:ext uri="{FF2B5EF4-FFF2-40B4-BE49-F238E27FC236}">
                <a16:creationId xmlns:a16="http://schemas.microsoft.com/office/drawing/2014/main" id="{96889069-BCFD-4DF9-B497-B7EDC954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95550"/>
            <a:ext cx="48387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예: 답변 메일, 검토 의견, 보고서, 처리 티켓, 개발 이슈</a:t>
            </a:r>
          </a:p>
        </p:txBody>
      </p:sp>
      <p:sp>
        <p:nvSpPr>
          <p:cNvPr id="17" name="field-label">
            <a:extLst xmlns:a="http://schemas.openxmlformats.org/drawingml/2006/main">
              <a:ext uri="{FF2B5EF4-FFF2-40B4-BE49-F238E27FC236}">
                <a16:creationId xmlns:a16="http://schemas.microsoft.com/office/drawing/2014/main" id="{C8F493BC-0090-4162-A136-93E9E6D8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현재 입력 자료</a:t>
            </a:r>
          </a:p>
        </p:txBody>
      </p:sp>
      <p:sp>
        <p:nvSpPr>
          <p:cNvPr id="18" name="field-현재 입력 자료">
            <a:extLst xmlns:a="http://schemas.openxmlformats.org/drawingml/2006/main">
              <a:ext uri="{FF2B5EF4-FFF2-40B4-BE49-F238E27FC236}">
                <a16:creationId xmlns:a16="http://schemas.microsoft.com/office/drawing/2014/main" id="{74691AC0-BA80-4222-9D82-73B57388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3429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9" name="field-hint">
            <a:extLst xmlns:a="http://schemas.openxmlformats.org/drawingml/2006/main">
              <a:ext uri="{FF2B5EF4-FFF2-40B4-BE49-F238E27FC236}">
                <a16:creationId xmlns:a16="http://schemas.microsoft.com/office/drawing/2014/main" id="{222FB8C0-F1EA-4752-8158-0505DC66D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3400"/>
            <a:ext cx="3124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문서 / 메일 / 표 / 로그 / 정책 / 회의록</a:t>
            </a:r>
          </a:p>
        </p:txBody>
      </p:sp>
      <p:sp>
        <p:nvSpPr>
          <p:cNvPr id="20" name="field-label">
            <a:extLst xmlns:a="http://schemas.openxmlformats.org/drawingml/2006/main">
              <a:ext uri="{FF2B5EF4-FFF2-40B4-BE49-F238E27FC236}">
                <a16:creationId xmlns:a16="http://schemas.microsoft.com/office/drawing/2014/main" id="{851F4EC0-B825-4E6F-A1DC-14CEBD40C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43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판단 기준</a:t>
            </a:r>
          </a:p>
        </p:txBody>
      </p:sp>
      <p:sp>
        <p:nvSpPr>
          <p:cNvPr id="21" name="field-판단 기준">
            <a:extLst xmlns:a="http://schemas.openxmlformats.org/drawingml/2006/main">
              <a:ext uri="{FF2B5EF4-FFF2-40B4-BE49-F238E27FC236}">
                <a16:creationId xmlns:a16="http://schemas.microsoft.com/office/drawing/2014/main" id="{2D194A85-439B-40C8-9F01-16428C7A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210050"/>
            <a:ext cx="3429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2" name="field-hint">
            <a:extLst xmlns:a="http://schemas.openxmlformats.org/drawingml/2006/main">
              <a:ext uri="{FF2B5EF4-FFF2-40B4-BE49-F238E27FC236}">
                <a16:creationId xmlns:a16="http://schemas.microsoft.com/office/drawing/2014/main" id="{39357822-313F-472B-81F2-39268E9F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43400"/>
            <a:ext cx="3124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어떤 규칙, 경험, 승인 기준으로 판단하는가?</a:t>
            </a:r>
          </a:p>
        </p:txBody>
      </p:sp>
      <p:sp>
        <p:nvSpPr>
          <p:cNvPr id="23" name="field-label">
            <a:extLst xmlns:a="http://schemas.openxmlformats.org/drawingml/2006/main">
              <a:ext uri="{FF2B5EF4-FFF2-40B4-BE49-F238E27FC236}">
                <a16:creationId xmlns:a16="http://schemas.microsoft.com/office/drawing/2014/main" id="{8C947F39-0E9E-40F6-B25B-6876FC5C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943350"/>
            <a:ext cx="331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현재 병목</a:t>
            </a:r>
          </a:p>
        </p:txBody>
      </p:sp>
      <p:sp>
        <p:nvSpPr>
          <p:cNvPr id="24" name="field-현재 병목">
            <a:extLst xmlns:a="http://schemas.openxmlformats.org/drawingml/2006/main">
              <a:ext uri="{FF2B5EF4-FFF2-40B4-BE49-F238E27FC236}">
                <a16:creationId xmlns:a16="http://schemas.microsoft.com/office/drawing/2014/main" id="{40E85425-0950-4A8E-ACEA-6F24A06B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10050"/>
            <a:ext cx="33147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5" name="field-hint">
            <a:extLst xmlns:a="http://schemas.openxmlformats.org/drawingml/2006/main">
              <a:ext uri="{FF2B5EF4-FFF2-40B4-BE49-F238E27FC236}">
                <a16:creationId xmlns:a16="http://schemas.microsoft.com/office/drawing/2014/main" id="{8493E1BC-66C6-4A4C-8F81-A4F2FD85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43400"/>
            <a:ext cx="3009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시간, 정확도, 누락, 반복, 검색, 승인 중</a:t>
            </a:r>
          </a:p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어디가 문제인가?</a:t>
            </a:r>
          </a:p>
        </p:txBody>
      </p:sp>
    </p:spTree>
    <p:extLst>
      <p:ext uri="{BB962C8B-B14F-4D97-AF65-F5344CB8AC3E}">
        <p14:creationId xmlns:p14="http://schemas.microsoft.com/office/powerpoint/2010/main" val="98501560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AA2B12A8-8FAD-414E-A459-6F5E64A28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59306B57-E298-4348-AB54-5EA5BA0B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61DB6880-4D0E-4687-82C9-4BD90C20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3CD87F62-E3D9-4945-9DE7-584AF31E5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EFF86F6A-BABC-4573-9397-4BF6DF30F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8C99BDCA-374C-4C5C-B080-EA07DA5C6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ACTIVITY 5 · 17:35-17:55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9840956F-2605-47B1-965B-829D78104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Project Canvas B: AI 보조 역할과 사람 검토 기준을 나눕니다.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867FB269-25B4-4A63-BC01-183648A8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AI가 보조할 단계와 사람이 검토·승인할 단계를 분리해 8월 구현 범위를 줄입니다.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a1eee98b694b31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C0FE81BD-5268-40AA-AA89-166D0992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11" name="card-진행 방법">
            <a:extLst xmlns:a="http://schemas.openxmlformats.org/drawingml/2006/main">
              <a:ext uri="{FF2B5EF4-FFF2-40B4-BE49-F238E27FC236}">
                <a16:creationId xmlns:a16="http://schemas.microsoft.com/office/drawing/2014/main" id="{322782BD-A97B-4F12-A576-41C144A2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11E585E8-873C-4072-A33C-BBCA439C4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A90394DE-2A7E-4AC8-B0E6-DB85BAF51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rPr>
              <a:t>진행 방법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B4305C7D-4AE3-4617-AE45-7A96AC0C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How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49CCEB41-0429-4401-9605-AD6796CF8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 역할 선택 → 사용 금지 자료 표시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→ 품질·보안·승인 기준 작성</a:t>
            </a:r>
          </a:p>
        </p:txBody>
      </p:sp>
      <p:sp>
        <p:nvSpPr>
          <p:cNvPr id="16" name="card-결과물">
            <a:extLst xmlns:a="http://schemas.openxmlformats.org/drawingml/2006/main">
              <a:ext uri="{FF2B5EF4-FFF2-40B4-BE49-F238E27FC236}">
                <a16:creationId xmlns:a16="http://schemas.microsoft.com/office/drawing/2014/main" id="{AE6889D8-4301-4E07-A0DB-E2E49FB4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997FE4B2-91C6-4BE6-89BB-972FC5B91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40A2B640-EDA1-4FCB-AF1E-AE61EC89F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776184EF-8879-490C-88EA-2AD437BC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Output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D189EFDD-FAB3-4F9F-9DA9-BD25E271A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 Agent 흐름 초안과 검증 기준</a:t>
            </a:r>
          </a:p>
        </p:txBody>
      </p:sp>
      <p:sp>
        <p:nvSpPr>
          <p:cNvPr id="21" name="card-운영 팁">
            <a:extLst xmlns:a="http://schemas.openxmlformats.org/drawingml/2006/main">
              <a:ext uri="{FF2B5EF4-FFF2-40B4-BE49-F238E27FC236}">
                <a16:creationId xmlns:a16="http://schemas.microsoft.com/office/drawing/2014/main" id="{21255FBB-8686-4DFC-B490-98BD3D2F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31432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CA232424-0DCF-471B-B637-E7956075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3F547C31-B91E-4568-81F6-8D4FC697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4765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 팁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A9C26B79-3DE4-4237-A2E9-A2F5E62A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7622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Facilitator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52CE43F1-555E-4159-AF9E-37C21E93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276600"/>
            <a:ext cx="2686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타이머를 보이게 두고, 각 팀의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산출물은 다음 단계 장표에 바로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옮겨 적게 합니다.</a:t>
            </a:r>
          </a:p>
        </p:txBody>
      </p:sp>
    </p:spTree>
    <p:extLst>
      <p:ext uri="{BB962C8B-B14F-4D97-AF65-F5344CB8AC3E}">
        <p14:creationId xmlns:p14="http://schemas.microsoft.com/office/powerpoint/2010/main" val="155467635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7E430447-6B8F-4434-B1F5-FF2534DED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8064C5D9-7871-4CED-8E51-1C7C861E4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B98F8356-1FCA-48F7-86DE-57AD9092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4839D0DD-7E4B-4F2B-B846-C4A1AC717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3A7166AE-C675-4CA6-8CC5-013CF6102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23F71D76-27D3-4B65-81C1-B8E8652E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워크시트 4B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72C386A5-E71A-4A48-9156-BB07914D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Project Canvas B: AI 보조와 사람 검토를 분리합니다.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90B9126A-12B4-4A9A-AB7F-72CB1CB7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 Agent는 업무 전체를 대신하지 않고 반복 가능한 일부 단계를 보조합니다.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f37eb3844c49ab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2B6ECD9-9981-4B90-A35F-EF4C48AB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11" name="field-label">
            <a:extLst xmlns:a="http://schemas.openxmlformats.org/drawingml/2006/main">
              <a:ext uri="{FF2B5EF4-FFF2-40B4-BE49-F238E27FC236}">
                <a16:creationId xmlns:a16="http://schemas.microsoft.com/office/drawing/2014/main" id="{19857763-7C95-43F3-9B2C-F852F582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AI가 보조할 일</a:t>
            </a:r>
          </a:p>
        </p:txBody>
      </p:sp>
      <p:sp>
        <p:nvSpPr>
          <p:cNvPr id="12" name="field-AI가 보조할 일">
            <a:extLst xmlns:a="http://schemas.openxmlformats.org/drawingml/2006/main">
              <a:ext uri="{FF2B5EF4-FFF2-40B4-BE49-F238E27FC236}">
                <a16:creationId xmlns:a16="http://schemas.microsoft.com/office/drawing/2014/main" id="{2E728967-3033-46F7-AA14-15030DE9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34290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3" name="field-hint">
            <a:extLst xmlns:a="http://schemas.openxmlformats.org/drawingml/2006/main">
              <a:ext uri="{FF2B5EF4-FFF2-40B4-BE49-F238E27FC236}">
                <a16:creationId xmlns:a16="http://schemas.microsoft.com/office/drawing/2014/main" id="{FA15F990-658B-43B8-8335-0EAD28705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57450"/>
            <a:ext cx="312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검색 / 분류 / 요약 / 초안 / 코드 /</a:t>
            </a:r>
          </a:p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체크리스트 검증</a:t>
            </a:r>
          </a:p>
        </p:txBody>
      </p:sp>
      <p:sp>
        <p:nvSpPr>
          <p:cNvPr id="14" name="field-label">
            <a:extLst xmlns:a="http://schemas.openxmlformats.org/drawingml/2006/main">
              <a:ext uri="{FF2B5EF4-FFF2-40B4-BE49-F238E27FC236}">
                <a16:creationId xmlns:a16="http://schemas.microsoft.com/office/drawing/2014/main" id="{27E9BEAE-0D7E-439D-BEF5-A730FBB7A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57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사람이 검토할 일</a:t>
            </a:r>
          </a:p>
        </p:txBody>
      </p:sp>
      <p:sp>
        <p:nvSpPr>
          <p:cNvPr id="15" name="field-사람이 검토할 일">
            <a:extLst xmlns:a="http://schemas.openxmlformats.org/drawingml/2006/main">
              <a:ext uri="{FF2B5EF4-FFF2-40B4-BE49-F238E27FC236}">
                <a16:creationId xmlns:a16="http://schemas.microsoft.com/office/drawing/2014/main" id="{2F295B4C-8079-40C0-8FB5-E704EC17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24100"/>
            <a:ext cx="34290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6" name="field-hint">
            <a:extLst xmlns:a="http://schemas.openxmlformats.org/drawingml/2006/main">
              <a:ext uri="{FF2B5EF4-FFF2-40B4-BE49-F238E27FC236}">
                <a16:creationId xmlns:a16="http://schemas.microsoft.com/office/drawing/2014/main" id="{8CC5648F-CAF1-4258-B73D-B8B3DDEB6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57450"/>
            <a:ext cx="312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정확도 / 보안 / 승인 / 대외 전달 / 예외 판단</a:t>
            </a:r>
          </a:p>
        </p:txBody>
      </p:sp>
      <p:sp>
        <p:nvSpPr>
          <p:cNvPr id="17" name="field-label">
            <a:extLst xmlns:a="http://schemas.openxmlformats.org/drawingml/2006/main">
              <a:ext uri="{FF2B5EF4-FFF2-40B4-BE49-F238E27FC236}">
                <a16:creationId xmlns:a16="http://schemas.microsoft.com/office/drawing/2014/main" id="{380E14FD-CD76-4CCB-869F-5A5D773A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057400"/>
            <a:ext cx="331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사용 금지 자료</a:t>
            </a:r>
          </a:p>
        </p:txBody>
      </p:sp>
      <p:sp>
        <p:nvSpPr>
          <p:cNvPr id="18" name="field-사용 금지 자료">
            <a:extLst xmlns:a="http://schemas.openxmlformats.org/drawingml/2006/main">
              <a:ext uri="{FF2B5EF4-FFF2-40B4-BE49-F238E27FC236}">
                <a16:creationId xmlns:a16="http://schemas.microsoft.com/office/drawing/2014/main" id="{B501B724-A33F-4C57-B588-B69B07D7E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24100"/>
            <a:ext cx="33147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9" name="field-hint">
            <a:extLst xmlns:a="http://schemas.openxmlformats.org/drawingml/2006/main">
              <a:ext uri="{FF2B5EF4-FFF2-40B4-BE49-F238E27FC236}">
                <a16:creationId xmlns:a16="http://schemas.microsoft.com/office/drawing/2014/main" id="{A8F933CE-54F5-46EB-8B20-C98286F98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57450"/>
            <a:ext cx="3009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개인정보 / 운영 로그 원본 / 접근키 / 민감</a:t>
            </a:r>
          </a:p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계약·재무 자료</a:t>
            </a:r>
          </a:p>
        </p:txBody>
      </p:sp>
      <p:sp>
        <p:nvSpPr>
          <p:cNvPr id="20" name="field-label">
            <a:extLst xmlns:a="http://schemas.openxmlformats.org/drawingml/2006/main">
              <a:ext uri="{FF2B5EF4-FFF2-40B4-BE49-F238E27FC236}">
                <a16:creationId xmlns:a16="http://schemas.microsoft.com/office/drawing/2014/main" id="{5417252F-4DEF-4ABA-AE95-E4E477C82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스파로스 데브엑스에서 만들 흐름</a:t>
            </a:r>
          </a:p>
        </p:txBody>
      </p:sp>
      <p:sp>
        <p:nvSpPr>
          <p:cNvPr id="21" name="field-스파로스 데브엑스에서 만들 흐름">
            <a:extLst xmlns:a="http://schemas.openxmlformats.org/drawingml/2006/main">
              <a:ext uri="{FF2B5EF4-FFF2-40B4-BE49-F238E27FC236}">
                <a16:creationId xmlns:a16="http://schemas.microsoft.com/office/drawing/2014/main" id="{889A2B1B-DAAE-4A44-A42E-28E19040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51435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2" name="field-hint">
            <a:extLst xmlns:a="http://schemas.openxmlformats.org/drawingml/2006/main">
              <a:ext uri="{FF2B5EF4-FFF2-40B4-BE49-F238E27FC236}">
                <a16:creationId xmlns:a16="http://schemas.microsoft.com/office/drawing/2014/main" id="{6D7DF058-49B0-422B-BA1B-58F26742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05300"/>
            <a:ext cx="48387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입력 → Context → Agent/도구 → 출력 → 사람 검토</a:t>
            </a:r>
          </a:p>
        </p:txBody>
      </p:sp>
      <p:sp>
        <p:nvSpPr>
          <p:cNvPr id="23" name="field-label">
            <a:extLst xmlns:a="http://schemas.openxmlformats.org/drawingml/2006/main">
              <a:ext uri="{FF2B5EF4-FFF2-40B4-BE49-F238E27FC236}">
                <a16:creationId xmlns:a16="http://schemas.microsoft.com/office/drawing/2014/main" id="{93DEBC02-E225-409F-B1D3-9976A8DA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052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품질 기준</a:t>
            </a:r>
          </a:p>
        </p:txBody>
      </p:sp>
      <p:sp>
        <p:nvSpPr>
          <p:cNvPr id="24" name="field-품질 기준">
            <a:extLst xmlns:a="http://schemas.openxmlformats.org/drawingml/2006/main">
              <a:ext uri="{FF2B5EF4-FFF2-40B4-BE49-F238E27FC236}">
                <a16:creationId xmlns:a16="http://schemas.microsoft.com/office/drawing/2014/main" id="{ADC48BDF-2505-42FA-B1B4-7586CFDD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71950"/>
            <a:ext cx="51435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5" name="field-hint">
            <a:extLst xmlns:a="http://schemas.openxmlformats.org/drawingml/2006/main">
              <a:ext uri="{FF2B5EF4-FFF2-40B4-BE49-F238E27FC236}">
                <a16:creationId xmlns:a16="http://schemas.microsoft.com/office/drawing/2014/main" id="{6A639DB1-180C-4A99-AB2A-4D395805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05300"/>
            <a:ext cx="48387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정답 기준, 허용 오차, 실패 시 처리, 검토자, 승인 조건</a:t>
            </a:r>
          </a:p>
        </p:txBody>
      </p:sp>
    </p:spTree>
    <p:extLst>
      <p:ext uri="{BB962C8B-B14F-4D97-AF65-F5344CB8AC3E}">
        <p14:creationId xmlns:p14="http://schemas.microsoft.com/office/powerpoint/2010/main" val="194825780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16CF6162-BD26-4CB5-BD19-88F2F8D1F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465C5E92-A7B8-4FF2-9383-18E6A945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B72673E2-5EFC-4651-8B05-BDEB2928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243D9D8C-8F20-43B6-B2E0-75479DBA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6FD0F17E-9FF5-457C-85F1-E09CEAD41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6C69830D-F638-4867-991E-4189C3D80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ACTIVITY 6 · 17:55-18:10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73507B48-A45C-49BC-8884-36965994F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데모 범위 고정: 시연 장면을 하나로 좁힙니다.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9A106554-3DC5-4A3F-A448-5101B737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휴식 전까지 8월 21일에 보여줄 핵심 장면을 정합니다.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05d2cb63e241c8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D0E35093-58EF-427B-8C03-A4A2E5F8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11" name="card-진행 방법">
            <a:extLst xmlns:a="http://schemas.openxmlformats.org/drawingml/2006/main">
              <a:ext uri="{FF2B5EF4-FFF2-40B4-BE49-F238E27FC236}">
                <a16:creationId xmlns:a16="http://schemas.microsoft.com/office/drawing/2014/main" id="{E732CD46-A5F0-4542-B666-90A664D69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2E3E8A45-387D-4C1A-90E5-A0F6E372D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D12A224E-A6C6-4AF2-BF59-3D99E072F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진행 방법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3385A783-4799-4497-AC5E-2D9C93943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How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4F1DBB33-2BE5-4652-A9C7-E502168FB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데모 장면, 샘플 데이터, 성공 기준,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제외 범위를 한 장에 작성</a:t>
            </a:r>
          </a:p>
        </p:txBody>
      </p:sp>
      <p:sp>
        <p:nvSpPr>
          <p:cNvPr id="16" name="card-결과물">
            <a:extLst xmlns:a="http://schemas.openxmlformats.org/drawingml/2006/main">
              <a:ext uri="{FF2B5EF4-FFF2-40B4-BE49-F238E27FC236}">
                <a16:creationId xmlns:a16="http://schemas.microsoft.com/office/drawing/2014/main" id="{A33A31E1-6965-4EAA-A46B-C9DB81C2B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67AD326B-BD19-4022-A871-86A35A84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C2813692-8014-40B6-9FD2-D55E7A34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15879FA0-7F62-4FD2-AFDF-0FC47BA88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Output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386CA511-C4D0-462C-A366-DA00653A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8월 21일 구현 범위와 준비물</a:t>
            </a:r>
          </a:p>
        </p:txBody>
      </p:sp>
      <p:sp>
        <p:nvSpPr>
          <p:cNvPr id="21" name="card-운영 팁">
            <a:extLst xmlns:a="http://schemas.openxmlformats.org/drawingml/2006/main">
              <a:ext uri="{FF2B5EF4-FFF2-40B4-BE49-F238E27FC236}">
                <a16:creationId xmlns:a16="http://schemas.microsoft.com/office/drawing/2014/main" id="{1A9C1062-824A-460D-B49C-E3FF0D05D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31432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E046CA13-209E-41A0-A064-209E4DE0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899E0FD4-216E-4153-BF6A-3A5F44912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4765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 팁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5135F31C-F4FE-4554-BF51-0F67F420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7622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Facilitator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6F9502B8-D7FC-4E07-95CE-5629B350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276600"/>
            <a:ext cx="2686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타이머를 보이게 두고, 각 팀의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산출물은 다음 단계 장표에 바로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옮겨 적게 합니다.</a:t>
            </a:r>
          </a:p>
        </p:txBody>
      </p:sp>
    </p:spTree>
    <p:extLst>
      <p:ext uri="{BB962C8B-B14F-4D97-AF65-F5344CB8AC3E}">
        <p14:creationId xmlns:p14="http://schemas.microsoft.com/office/powerpoint/2010/main" val="16463059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BE22B352-AA46-4A8A-AB1E-03E9DC44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9642B505-87EA-4716-B6B4-44907EBB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453E8517-3689-4D98-AF3A-E22991CB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EA1348E4-7469-4A23-98D8-82477B94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7C5E6584-8E99-4A55-A7EB-BCB63B56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87489B1C-032F-4DAC-BE32-D79A314EB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워크시트 5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DB332AB5-E634-414E-9D7E-CBEF867B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8월 21일 데모 범위: 시연할 장면을 정의합니다.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3C8DFEEB-94BA-4525-A3E5-A721F87D6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하루 8시간 구현 수업에서는 하나의 핵심 흐름이 작동하는지가 중요합니다.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af3879bd1247f4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711438E5-A866-4ADD-800C-A29BC3DE1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11" name="field-label">
            <a:extLst xmlns:a="http://schemas.openxmlformats.org/drawingml/2006/main">
              <a:ext uri="{FF2B5EF4-FFF2-40B4-BE49-F238E27FC236}">
                <a16:creationId xmlns:a16="http://schemas.microsoft.com/office/drawing/2014/main" id="{0D894821-F810-4FBB-8C0F-5C4ACE2AF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데모 장면</a:t>
            </a:r>
          </a:p>
        </p:txBody>
      </p:sp>
      <p:sp>
        <p:nvSpPr>
          <p:cNvPr id="12" name="field-데모 장면">
            <a:extLst xmlns:a="http://schemas.openxmlformats.org/drawingml/2006/main">
              <a:ext uri="{FF2B5EF4-FFF2-40B4-BE49-F238E27FC236}">
                <a16:creationId xmlns:a16="http://schemas.microsoft.com/office/drawing/2014/main" id="{7FDE7D8C-787B-4BB2-97A4-A3DA4CBAD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3429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3" name="field-hint">
            <a:extLst xmlns:a="http://schemas.openxmlformats.org/drawingml/2006/main">
              <a:ext uri="{FF2B5EF4-FFF2-40B4-BE49-F238E27FC236}">
                <a16:creationId xmlns:a16="http://schemas.microsoft.com/office/drawing/2014/main" id="{431AC2CE-B232-43C2-AEBC-31E4A5C6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3124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사용자가 무엇을 입력하고 어떤 결과를 보는가?</a:t>
            </a:r>
          </a:p>
        </p:txBody>
      </p:sp>
      <p:sp>
        <p:nvSpPr>
          <p:cNvPr id="14" name="field-label">
            <a:extLst xmlns:a="http://schemas.openxmlformats.org/drawingml/2006/main">
              <a:ext uri="{FF2B5EF4-FFF2-40B4-BE49-F238E27FC236}">
                <a16:creationId xmlns:a16="http://schemas.microsoft.com/office/drawing/2014/main" id="{24E611EB-F72C-45B5-9507-D3A2C067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90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샘플 데이터</a:t>
            </a:r>
          </a:p>
        </p:txBody>
      </p:sp>
      <p:sp>
        <p:nvSpPr>
          <p:cNvPr id="15" name="field-샘플 데이터">
            <a:extLst xmlns:a="http://schemas.openxmlformats.org/drawingml/2006/main">
              <a:ext uri="{FF2B5EF4-FFF2-40B4-BE49-F238E27FC236}">
                <a16:creationId xmlns:a16="http://schemas.microsoft.com/office/drawing/2014/main" id="{FC0105FC-7236-4BC6-8E74-FE207921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57450"/>
            <a:ext cx="3429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6" name="field-hint">
            <a:extLst xmlns:a="http://schemas.openxmlformats.org/drawingml/2006/main">
              <a:ext uri="{FF2B5EF4-FFF2-40B4-BE49-F238E27FC236}">
                <a16:creationId xmlns:a16="http://schemas.microsoft.com/office/drawing/2014/main" id="{FE415B13-A86C-49D8-84EE-06C941EBA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90800"/>
            <a:ext cx="3124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8월 21일 사용할 안전한 샘플 문서/표/텍스트</a:t>
            </a:r>
          </a:p>
        </p:txBody>
      </p:sp>
      <p:sp>
        <p:nvSpPr>
          <p:cNvPr id="17" name="field-label">
            <a:extLst xmlns:a="http://schemas.openxmlformats.org/drawingml/2006/main">
              <a:ext uri="{FF2B5EF4-FFF2-40B4-BE49-F238E27FC236}">
                <a16:creationId xmlns:a16="http://schemas.microsoft.com/office/drawing/2014/main" id="{F590C054-08C1-40AD-8643-258B8DEB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90750"/>
            <a:ext cx="331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성공 기준</a:t>
            </a:r>
          </a:p>
        </p:txBody>
      </p:sp>
      <p:sp>
        <p:nvSpPr>
          <p:cNvPr id="18" name="field-성공 기준">
            <a:extLst xmlns:a="http://schemas.openxmlformats.org/drawingml/2006/main">
              <a:ext uri="{FF2B5EF4-FFF2-40B4-BE49-F238E27FC236}">
                <a16:creationId xmlns:a16="http://schemas.microsoft.com/office/drawing/2014/main" id="{E8C225E0-D9AD-4EFE-96D1-1A97B5402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57450"/>
            <a:ext cx="33147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9" name="field-hint">
            <a:extLst xmlns:a="http://schemas.openxmlformats.org/drawingml/2006/main">
              <a:ext uri="{FF2B5EF4-FFF2-40B4-BE49-F238E27FC236}">
                <a16:creationId xmlns:a16="http://schemas.microsoft.com/office/drawing/2014/main" id="{DDE38F88-FAE4-4206-9CDB-9B7A8600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90800"/>
            <a:ext cx="3009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데모가 성공했다고 판단할 최소 기준</a:t>
            </a:r>
          </a:p>
        </p:txBody>
      </p:sp>
      <p:sp>
        <p:nvSpPr>
          <p:cNvPr id="20" name="field-label">
            <a:extLst xmlns:a="http://schemas.openxmlformats.org/drawingml/2006/main">
              <a:ext uri="{FF2B5EF4-FFF2-40B4-BE49-F238E27FC236}">
                <a16:creationId xmlns:a16="http://schemas.microsoft.com/office/drawing/2014/main" id="{732C46C7-CBE7-4888-9FCF-018A7CD70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구현에서 제외할 것</a:t>
            </a:r>
          </a:p>
        </p:txBody>
      </p:sp>
      <p:sp>
        <p:nvSpPr>
          <p:cNvPr id="21" name="field-구현에서 제외할 것">
            <a:extLst xmlns:a="http://schemas.openxmlformats.org/drawingml/2006/main">
              <a:ext uri="{FF2B5EF4-FFF2-40B4-BE49-F238E27FC236}">
                <a16:creationId xmlns:a16="http://schemas.microsoft.com/office/drawing/2014/main" id="{DF4F95D9-E25F-492F-869D-804774C44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51435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2" name="field-hint">
            <a:extLst xmlns:a="http://schemas.openxmlformats.org/drawingml/2006/main">
              <a:ext uri="{FF2B5EF4-FFF2-40B4-BE49-F238E27FC236}">
                <a16:creationId xmlns:a16="http://schemas.microsoft.com/office/drawing/2014/main" id="{34A6E549-C839-4E68-AC4D-114A4529C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91050"/>
            <a:ext cx="4838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로그인/권한/실데이터 연동/대외 배포 등 이번 데모에서 제외할 범위</a:t>
            </a:r>
          </a:p>
        </p:txBody>
      </p:sp>
      <p:sp>
        <p:nvSpPr>
          <p:cNvPr id="23" name="field-label">
            <a:extLst xmlns:a="http://schemas.openxmlformats.org/drawingml/2006/main">
              <a:ext uri="{FF2B5EF4-FFF2-40B4-BE49-F238E27FC236}">
                <a16:creationId xmlns:a16="http://schemas.microsoft.com/office/drawing/2014/main" id="{41E4D271-9155-4676-9AD5-C7F70B864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910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멘토에게 물어볼 것</a:t>
            </a:r>
          </a:p>
        </p:txBody>
      </p:sp>
      <p:sp>
        <p:nvSpPr>
          <p:cNvPr id="24" name="field-멘토에게 물어볼 것">
            <a:extLst xmlns:a="http://schemas.openxmlformats.org/drawingml/2006/main">
              <a:ext uri="{FF2B5EF4-FFF2-40B4-BE49-F238E27FC236}">
                <a16:creationId xmlns:a16="http://schemas.microsoft.com/office/drawing/2014/main" id="{3D86424E-4DD0-4CBB-9DD4-D025161FD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57700"/>
            <a:ext cx="51435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5" name="field-hint">
            <a:extLst xmlns:a="http://schemas.openxmlformats.org/drawingml/2006/main">
              <a:ext uri="{FF2B5EF4-FFF2-40B4-BE49-F238E27FC236}">
                <a16:creationId xmlns:a16="http://schemas.microsoft.com/office/drawing/2014/main" id="{9AE94825-7CA9-4962-95DA-D2C50DFBB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91050"/>
            <a:ext cx="4838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기술 구현, 품질 검증, 데이터 구성, 발표 구조 관련 질문</a:t>
            </a:r>
          </a:p>
        </p:txBody>
      </p:sp>
    </p:spTree>
    <p:extLst>
      <p:ext uri="{BB962C8B-B14F-4D97-AF65-F5344CB8AC3E}">
        <p14:creationId xmlns:p14="http://schemas.microsoft.com/office/powerpoint/2010/main" val="5428195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E93156E7-C549-48CF-B2C8-9C24A929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338600D3-17B4-41C4-AADA-AB7F2448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8E51BE70-75B8-47C2-9BC1-90CB1A9B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D7B41448-ADF8-4D88-B16E-D40D756FE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B8EB73AD-A9B8-44B6-AAC2-B66ADB26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1A29E77A-3170-4367-81DD-0D4DD1CE2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ACTIVITY 7 · 18:10-18:35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25332C6B-66CF-4E45-9285-44CCA812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팀별 1차 발표: 5분 안에 과제 방향을 공유합니다.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777C9A76-40C6-4C61-A9E2-6C6BC3F2C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다른 팀과 멘토 질문을 통해 구현 가능성과 리스크를 빠르게 검토합니다.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c936c567ff404a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327FAA40-3EAA-498F-A9DE-F2E7399C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11" name="card-진행 방법">
            <a:extLst xmlns:a="http://schemas.openxmlformats.org/drawingml/2006/main">
              <a:ext uri="{FF2B5EF4-FFF2-40B4-BE49-F238E27FC236}">
                <a16:creationId xmlns:a16="http://schemas.microsoft.com/office/drawing/2014/main" id="{A5D134A8-DE95-4D38-A46D-C4A8F362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2FA57E2F-8FFB-4B47-9F15-5694A5E20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E9C6A832-6745-484D-BA42-D8C5C5861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진행 방법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1B444278-3FEA-44E1-9566-82BDA4C4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How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3DC806CB-160E-4827-9F7F-613E556DB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5개 팀 x 5분 발표. 질문은 발표 후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피드백 기록지에 남김</a:t>
            </a:r>
          </a:p>
        </p:txBody>
      </p:sp>
      <p:sp>
        <p:nvSpPr>
          <p:cNvPr id="16" name="card-결과물">
            <a:extLst xmlns:a="http://schemas.openxmlformats.org/drawingml/2006/main">
              <a:ext uri="{FF2B5EF4-FFF2-40B4-BE49-F238E27FC236}">
                <a16:creationId xmlns:a16="http://schemas.microsoft.com/office/drawing/2014/main" id="{32D41B17-64B5-4107-A910-A9F4BA41F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9BB3D855-E302-45C1-A357-AE56D117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BA5C3936-B3F4-4707-B7F1-B9A051AA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7A41392F-4E27-4CC9-823D-8822343F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Output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A20D54D1-E679-47A3-8AB2-1D95B60C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팀별 발표 내용과 개선 질문</a:t>
            </a:r>
          </a:p>
        </p:txBody>
      </p:sp>
      <p:sp>
        <p:nvSpPr>
          <p:cNvPr id="21" name="card-운영 팁">
            <a:extLst xmlns:a="http://schemas.openxmlformats.org/drawingml/2006/main">
              <a:ext uri="{FF2B5EF4-FFF2-40B4-BE49-F238E27FC236}">
                <a16:creationId xmlns:a16="http://schemas.microsoft.com/office/drawing/2014/main" id="{D444BAD0-6C09-4DED-A979-C8818D545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31432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E16AD71B-AC0A-49CC-8F08-45F1C7A0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992E0B46-CEDC-4062-BB4A-6238827E3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4765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 팁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28B11ED1-14C7-448B-B9D3-1D85C833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7622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Facilitator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E955A174-AFD3-4B95-9216-FEB4295E4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276600"/>
            <a:ext cx="2686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타이머를 보이게 두고, 각 팀의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산출물은 다음 단계 장표에 바로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옮겨 적게 합니다.</a:t>
            </a:r>
          </a:p>
        </p:txBody>
      </p:sp>
    </p:spTree>
    <p:extLst>
      <p:ext uri="{BB962C8B-B14F-4D97-AF65-F5344CB8AC3E}">
        <p14:creationId xmlns:p14="http://schemas.microsoft.com/office/powerpoint/2010/main" val="150178249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517450A4-E319-48C3-BFE8-5E628520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1596F94F-AADC-4301-85B2-E6F9D7047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8E5880CC-C44B-4A5D-8A1B-7A0D2BAE7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58F43182-BE51-4BFA-B0BE-BFE31FC07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8154A27F-473C-477C-9D30-581E17A42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0F007E75-9128-4836-A35A-FCC8E87A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발표 템플릿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7602FCC4-E123-4EA2-99CB-1C81C3A6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팀별 1차 발표는 5분 안에 같은 순서로 진행합니다.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2A22C3ED-5414-442E-A581-855478F7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질문은 발표 후 받습니다. 발표자는 솔루션보다 업무 문제와 구현 가능성을 먼저 말합니다.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1d22272e644a04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FCC59533-28B7-4921-B394-80A2D5FBB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  <p:sp>
        <p:nvSpPr>
          <p:cNvPr id="11" name="card-1분">
            <a:extLst xmlns:a="http://schemas.openxmlformats.org/drawingml/2006/main">
              <a:ext uri="{FF2B5EF4-FFF2-40B4-BE49-F238E27FC236}">
                <a16:creationId xmlns:a16="http://schemas.microsoft.com/office/drawing/2014/main" id="{1CFA2775-8CDE-46A8-8831-30A98C878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2000250" cy="2714625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9E6D95FA-ABF4-431C-9E64-13611489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7620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7C0B66D8-6796-42C8-B671-B681FA8CC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2412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1분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35380BF2-861B-4C96-BB9B-5AD77A238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9875"/>
            <a:ext cx="1543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업무 문제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8DB3E34B-CCFE-43F5-824B-C236A7D8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24225"/>
            <a:ext cx="15430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반복되는 업무 문제는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무엇인가?</a:t>
            </a:r>
          </a:p>
        </p:txBody>
      </p:sp>
      <p:sp>
        <p:nvSpPr>
          <p:cNvPr id="16" name="card-1분">
            <a:extLst xmlns:a="http://schemas.openxmlformats.org/drawingml/2006/main">
              <a:ext uri="{FF2B5EF4-FFF2-40B4-BE49-F238E27FC236}">
                <a16:creationId xmlns:a16="http://schemas.microsoft.com/office/drawing/2014/main" id="{DE0F0135-DD29-440C-B997-0CBD89FA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333625"/>
            <a:ext cx="2000250" cy="2714625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11AC5B67-6128-4E79-8229-B8249276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333625"/>
            <a:ext cx="7620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32AA3F3A-7CF6-4396-B00B-51FB4C3E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2412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rPr>
              <a:t>1분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74611DE5-1D37-4A91-B5DA-FC5EC7B0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809875"/>
            <a:ext cx="1543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현재 방식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FC392C2E-4836-44C7-AAE8-E14B6827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324225"/>
            <a:ext cx="15430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입력 자료, 판단 기준,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산출물은 무엇인가?</a:t>
            </a:r>
          </a:p>
        </p:txBody>
      </p:sp>
      <p:sp>
        <p:nvSpPr>
          <p:cNvPr id="21" name="card-1분">
            <a:extLst xmlns:a="http://schemas.openxmlformats.org/drawingml/2006/main">
              <a:ext uri="{FF2B5EF4-FFF2-40B4-BE49-F238E27FC236}">
                <a16:creationId xmlns:a16="http://schemas.microsoft.com/office/drawing/2014/main" id="{94786153-5953-4A49-ACBF-314A21FCD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333625"/>
            <a:ext cx="2000250" cy="2714625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C0063B8A-0B0B-4660-B7F5-E3018E656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333625"/>
            <a:ext cx="7620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B876B4DD-803C-46DD-8983-D9C5FC816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2412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1분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B87E2B72-22E0-4FBB-A49F-DBB179F4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809875"/>
            <a:ext cx="1543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 보조 역할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F2CE2AE1-D6AF-4845-A4BA-2901D2C01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324225"/>
            <a:ext cx="15430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 역할과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검토 역할은?</a:t>
            </a:r>
          </a:p>
        </p:txBody>
      </p:sp>
      <p:sp>
        <p:nvSpPr>
          <p:cNvPr id="26" name="card-1분">
            <a:extLst xmlns:a="http://schemas.openxmlformats.org/drawingml/2006/main">
              <a:ext uri="{FF2B5EF4-FFF2-40B4-BE49-F238E27FC236}">
                <a16:creationId xmlns:a16="http://schemas.microsoft.com/office/drawing/2014/main" id="{A414C1ED-3B69-4A61-9438-AB42B3224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33625"/>
            <a:ext cx="2000250" cy="2714625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DCB44C85-F7D0-4018-A822-17D6F1A36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33625"/>
            <a:ext cx="7620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ard-label">
            <a:extLst xmlns:a="http://schemas.openxmlformats.org/drawingml/2006/main">
              <a:ext uri="{FF2B5EF4-FFF2-40B4-BE49-F238E27FC236}">
                <a16:creationId xmlns:a16="http://schemas.microsoft.com/office/drawing/2014/main" id="{E26DA738-6C9D-4D15-BE1A-C37E00363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52412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1분</a:t>
            </a:r>
          </a:p>
        </p:txBody>
      </p:sp>
      <p:sp>
        <p:nvSpPr>
          <p:cNvPr id="29" name="card-title">
            <a:extLst xmlns:a="http://schemas.openxmlformats.org/drawingml/2006/main">
              <a:ext uri="{FF2B5EF4-FFF2-40B4-BE49-F238E27FC236}">
                <a16:creationId xmlns:a16="http://schemas.microsoft.com/office/drawing/2014/main" id="{B0905140-F7FA-4DD0-8032-B77A16D10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09875"/>
            <a:ext cx="1543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8월 데모</a:t>
            </a:r>
          </a:p>
        </p:txBody>
      </p:sp>
      <p:sp>
        <p:nvSpPr>
          <p:cNvPr id="30" name="card-body">
            <a:extLst xmlns:a="http://schemas.openxmlformats.org/drawingml/2006/main">
              <a:ext uri="{FF2B5EF4-FFF2-40B4-BE49-F238E27FC236}">
                <a16:creationId xmlns:a16="http://schemas.microsoft.com/office/drawing/2014/main" id="{A198EF7A-8687-4422-9B8F-B6F6F3E9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24225"/>
            <a:ext cx="15430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시연 장면은?</a:t>
            </a:r>
          </a:p>
        </p:txBody>
      </p:sp>
      <p:sp>
        <p:nvSpPr>
          <p:cNvPr id="31" name="card-1분">
            <a:extLst xmlns:a="http://schemas.openxmlformats.org/drawingml/2006/main">
              <a:ext uri="{FF2B5EF4-FFF2-40B4-BE49-F238E27FC236}">
                <a16:creationId xmlns:a16="http://schemas.microsoft.com/office/drawing/2014/main" id="{E46DDCDC-39E4-429F-921F-5AC6E3424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33625"/>
            <a:ext cx="2000250" cy="2714625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CF77E9ED-15C4-4433-9DF4-5C0B5FCAD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33625"/>
            <a:ext cx="7620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card-label">
            <a:extLst xmlns:a="http://schemas.openxmlformats.org/drawingml/2006/main">
              <a:ext uri="{FF2B5EF4-FFF2-40B4-BE49-F238E27FC236}">
                <a16:creationId xmlns:a16="http://schemas.microsoft.com/office/drawing/2014/main" id="{F035F578-0032-46D7-B3D7-AC17374A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52412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rPr>
              <a:t>1분</a:t>
            </a:r>
          </a:p>
        </p:txBody>
      </p:sp>
      <p:sp>
        <p:nvSpPr>
          <p:cNvPr id="34" name="card-title">
            <a:extLst xmlns:a="http://schemas.openxmlformats.org/drawingml/2006/main">
              <a:ext uri="{FF2B5EF4-FFF2-40B4-BE49-F238E27FC236}">
                <a16:creationId xmlns:a16="http://schemas.microsoft.com/office/drawing/2014/main" id="{976632CD-FC72-42D1-AA7A-AE5C58E6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09875"/>
            <a:ext cx="1543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준비물</a:t>
            </a:r>
          </a:p>
        </p:txBody>
      </p:sp>
      <p:sp>
        <p:nvSpPr>
          <p:cNvPr id="35" name="card-body">
            <a:extLst xmlns:a="http://schemas.openxmlformats.org/drawingml/2006/main">
              <a:ext uri="{FF2B5EF4-FFF2-40B4-BE49-F238E27FC236}">
                <a16:creationId xmlns:a16="http://schemas.microsoft.com/office/drawing/2014/main" id="{BBC5DB70-FC50-48CF-822F-D7079F21E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24225"/>
            <a:ext cx="15430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준비할 자료와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담당자는 누구인가?</a:t>
            </a:r>
          </a:p>
        </p:txBody>
      </p:sp>
    </p:spTree>
    <p:extLst>
      <p:ext uri="{BB962C8B-B14F-4D97-AF65-F5344CB8AC3E}">
        <p14:creationId xmlns:p14="http://schemas.microsoft.com/office/powerpoint/2010/main" val="168211052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16324413-8A2A-4B1B-A537-9C013047A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F75C6A10-F7E4-463D-897F-D03C3A33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D988E8D9-05D2-47F4-AE67-1FD67F73F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3486A1A1-5C27-45F3-9B77-2CD5383A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99DC99AF-F8B2-4B9E-8E38-1E864F449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E3EF5646-5163-4F5E-8602-670523ABC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피드백 기준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66453C92-4B2E-43F8-854F-0103853B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피드백은 아이디어 평가가 아니라 구현 가능성 검토입니다.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5597ADB5-90B1-4069-A318-8778E16F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다른 팀은 아래 네 기준으로 질문하고, 발표 팀은 준비계획에 반영합니다.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6c1a3959194ed7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47867B44-9188-4E43-B12E-6519B52A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  <p:sp>
        <p:nvSpPr>
          <p:cNvPr id="11" name="card-CHECK 1">
            <a:extLst xmlns:a="http://schemas.openxmlformats.org/drawingml/2006/main">
              <a:ext uri="{FF2B5EF4-FFF2-40B4-BE49-F238E27FC236}">
                <a16:creationId xmlns:a16="http://schemas.microsoft.com/office/drawing/2014/main" id="{2AE83AB3-954E-484F-B578-B6CC0421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2552700" cy="2362200"/>
          </a:xfrm>
          <a:prstGeom xmlns:a="http://schemas.openxmlformats.org/drawingml/2006/main" prst="roundRect">
            <a:avLst>
              <a:gd name="adj" fmla="val 72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AD128495-50DD-46ED-AB98-EDDA4664B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762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9A2D042C-55B9-4DE3-9C21-58341854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193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CHECK 1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3BA1E8A7-ECB0-4088-A645-218D74430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05125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현업성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B3A27914-1D42-40F3-A513-6B4BA4207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19475"/>
            <a:ext cx="2095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 문제가 실제 업무 시간을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줄이거나 품질을 높이는가?</a:t>
            </a:r>
          </a:p>
        </p:txBody>
      </p:sp>
      <p:sp>
        <p:nvSpPr>
          <p:cNvPr id="16" name="card-CHECK 2">
            <a:extLst xmlns:a="http://schemas.openxmlformats.org/drawingml/2006/main">
              <a:ext uri="{FF2B5EF4-FFF2-40B4-BE49-F238E27FC236}">
                <a16:creationId xmlns:a16="http://schemas.microsoft.com/office/drawing/2014/main" id="{D8CE3A40-F9AF-4EA9-AFD1-097D76CF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28875"/>
            <a:ext cx="2552700" cy="2362200"/>
          </a:xfrm>
          <a:prstGeom xmlns:a="http://schemas.openxmlformats.org/drawingml/2006/main" prst="roundRect">
            <a:avLst>
              <a:gd name="adj" fmla="val 72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940B7241-F99F-4F22-8211-0F20A4B7A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28875"/>
            <a:ext cx="762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E2BC264C-E4DA-4576-8F58-6C90B4E79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193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CHECK 2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47A0C346-B558-41E4-9675-AF6012A41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05125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자료성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2067CEA8-A739-43CB-97E9-188CC9D14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19475"/>
            <a:ext cx="2095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8월 21일에 안전한 샘플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자료를 가져올 수 있는가?</a:t>
            </a:r>
          </a:p>
        </p:txBody>
      </p:sp>
      <p:sp>
        <p:nvSpPr>
          <p:cNvPr id="21" name="card-CHECK 3">
            <a:extLst xmlns:a="http://schemas.openxmlformats.org/drawingml/2006/main">
              <a:ext uri="{FF2B5EF4-FFF2-40B4-BE49-F238E27FC236}">
                <a16:creationId xmlns:a16="http://schemas.microsoft.com/office/drawing/2014/main" id="{571D90BC-C48F-42CC-BE93-9EBBEDD2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28875"/>
            <a:ext cx="2552700" cy="2362200"/>
          </a:xfrm>
          <a:prstGeom xmlns:a="http://schemas.openxmlformats.org/drawingml/2006/main" prst="roundRect">
            <a:avLst>
              <a:gd name="adj" fmla="val 72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07EFF5C0-CAD3-4937-AE3E-7F7DD17E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28875"/>
            <a:ext cx="762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E7BA9D45-F6F6-4E8D-8BCB-A49255766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193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CHECK 3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B93AEB1F-3AF0-497D-8EE0-E8D777AA2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05125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구현성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789F7E56-234A-4E53-AA34-5DAEF209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19475"/>
            <a:ext cx="2095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하루 안에 구현 가능한가?</a:t>
            </a:r>
          </a:p>
        </p:txBody>
      </p:sp>
      <p:sp>
        <p:nvSpPr>
          <p:cNvPr id="26" name="card-CHECK 4">
            <a:extLst xmlns:a="http://schemas.openxmlformats.org/drawingml/2006/main">
              <a:ext uri="{FF2B5EF4-FFF2-40B4-BE49-F238E27FC236}">
                <a16:creationId xmlns:a16="http://schemas.microsoft.com/office/drawing/2014/main" id="{A8B313B0-C29E-41CB-AD64-4F4FB9B6A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28875"/>
            <a:ext cx="2552700" cy="2362200"/>
          </a:xfrm>
          <a:prstGeom xmlns:a="http://schemas.openxmlformats.org/drawingml/2006/main" prst="roundRect">
            <a:avLst>
              <a:gd name="adj" fmla="val 72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AA46A96A-EC6D-4871-83F5-996C9DAE1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28875"/>
            <a:ext cx="762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ard-label">
            <a:extLst xmlns:a="http://schemas.openxmlformats.org/drawingml/2006/main">
              <a:ext uri="{FF2B5EF4-FFF2-40B4-BE49-F238E27FC236}">
                <a16:creationId xmlns:a16="http://schemas.microsoft.com/office/drawing/2014/main" id="{59A5A918-81D0-402D-BC48-A237BC1EB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6193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rPr>
              <a:t>CHECK 4</a:t>
            </a:r>
          </a:p>
        </p:txBody>
      </p:sp>
      <p:sp>
        <p:nvSpPr>
          <p:cNvPr id="29" name="card-title">
            <a:extLst xmlns:a="http://schemas.openxmlformats.org/drawingml/2006/main">
              <a:ext uri="{FF2B5EF4-FFF2-40B4-BE49-F238E27FC236}">
                <a16:creationId xmlns:a16="http://schemas.microsoft.com/office/drawing/2014/main" id="{3E987AAB-C5DA-4148-BB58-967C336F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905125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검증성</a:t>
            </a:r>
          </a:p>
        </p:txBody>
      </p:sp>
      <p:sp>
        <p:nvSpPr>
          <p:cNvPr id="30" name="card-body">
            <a:extLst xmlns:a="http://schemas.openxmlformats.org/drawingml/2006/main">
              <a:ext uri="{FF2B5EF4-FFF2-40B4-BE49-F238E27FC236}">
                <a16:creationId xmlns:a16="http://schemas.microsoft.com/office/drawing/2014/main" id="{CA711255-B851-416E-9AA8-69B5C5CF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19475"/>
            <a:ext cx="2095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 결과를 사람이 검토할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기준이 분명한가?</a:t>
            </a:r>
          </a:p>
        </p:txBody>
      </p:sp>
    </p:spTree>
    <p:extLst>
      <p:ext uri="{BB962C8B-B14F-4D97-AF65-F5344CB8AC3E}">
        <p14:creationId xmlns:p14="http://schemas.microsoft.com/office/powerpoint/2010/main" val="145857352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F26CF30C-FF72-4FB5-B468-8E3A9714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33A4D9C9-5427-430D-9528-1C437182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999662C4-497E-4493-974C-57ACE8BF8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47B60CC0-EE5E-4730-AD96-845D392F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951B280D-1554-4513-9E4A-4E5CB8F22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DEB2109F-F458-4C3E-91A4-CE7CF5E23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워크시트 6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61A7230F-B121-484F-8216-6B1E1CF41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동료 피드백 기록지: 각 팀 발표를 들으며 질문을 남깁니다.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0233FB48-24F5-4F67-8EC3-1786A0411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좋은 질문은 8월 구현 리스크를 줄이는 질문입니다.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49a646157e4d33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735CF2C-2B2D-4764-8F13-30566E6D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  <p:sp>
        <p:nvSpPr>
          <p:cNvPr id="11" name="fb-header">
            <a:extLst xmlns:a="http://schemas.openxmlformats.org/drawingml/2006/main">
              <a:ext uri="{FF2B5EF4-FFF2-40B4-BE49-F238E27FC236}">
                <a16:creationId xmlns:a16="http://schemas.microsoft.com/office/drawing/2014/main" id="{5B436859-FAD3-40CB-BE64-556E027B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95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2" name="fb-header-text">
            <a:extLst xmlns:a="http://schemas.openxmlformats.org/drawingml/2006/main">
              <a:ext uri="{FF2B5EF4-FFF2-40B4-BE49-F238E27FC236}">
                <a16:creationId xmlns:a16="http://schemas.microsoft.com/office/drawing/2014/main" id="{507E4EC7-4379-4014-8643-35E10968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</a:t>
            </a:r>
          </a:p>
        </p:txBody>
      </p:sp>
      <p:sp>
        <p:nvSpPr>
          <p:cNvPr id="13" name="fb-header">
            <a:extLst xmlns:a="http://schemas.openxmlformats.org/drawingml/2006/main">
              <a:ext uri="{FF2B5EF4-FFF2-40B4-BE49-F238E27FC236}">
                <a16:creationId xmlns:a16="http://schemas.microsoft.com/office/drawing/2014/main" id="{3A50DD6B-337A-4AEC-8DC7-FB60480A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1455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4" name="fb-header-text">
            <a:extLst xmlns:a="http://schemas.openxmlformats.org/drawingml/2006/main">
              <a:ext uri="{FF2B5EF4-FFF2-40B4-BE49-F238E27FC236}">
                <a16:creationId xmlns:a16="http://schemas.microsoft.com/office/drawing/2014/main" id="{44553B40-01C4-4ABD-8589-8D4F310C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238375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강점</a:t>
            </a:r>
          </a:p>
        </p:txBody>
      </p:sp>
      <p:sp>
        <p:nvSpPr>
          <p:cNvPr id="15" name="fb-header">
            <a:extLst xmlns:a="http://schemas.openxmlformats.org/drawingml/2006/main">
              <a:ext uri="{FF2B5EF4-FFF2-40B4-BE49-F238E27FC236}">
                <a16:creationId xmlns:a16="http://schemas.microsoft.com/office/drawing/2014/main" id="{A5008C3B-9653-426D-B4A9-82D778E8E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1455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6" name="fb-header-text">
            <a:extLst xmlns:a="http://schemas.openxmlformats.org/drawingml/2006/main">
              <a:ext uri="{FF2B5EF4-FFF2-40B4-BE49-F238E27FC236}">
                <a16:creationId xmlns:a16="http://schemas.microsoft.com/office/drawing/2014/main" id="{889C10C9-27F7-42B8-B6D9-99E77DCE4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38375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가장 큰 리스크</a:t>
            </a:r>
          </a:p>
        </p:txBody>
      </p:sp>
      <p:sp>
        <p:nvSpPr>
          <p:cNvPr id="17" name="fb-header">
            <a:extLst xmlns:a="http://schemas.openxmlformats.org/drawingml/2006/main">
              <a:ext uri="{FF2B5EF4-FFF2-40B4-BE49-F238E27FC236}">
                <a16:creationId xmlns:a16="http://schemas.microsoft.com/office/drawing/2014/main" id="{E6F5C09F-54E4-4244-B814-35557161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11455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8" name="fb-header-text">
            <a:extLst xmlns:a="http://schemas.openxmlformats.org/drawingml/2006/main">
              <a:ext uri="{FF2B5EF4-FFF2-40B4-BE49-F238E27FC236}">
                <a16:creationId xmlns:a16="http://schemas.microsoft.com/office/drawing/2014/main" id="{140A6064-6261-41F7-BBF2-78FE86B0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38375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필요 자료</a:t>
            </a:r>
          </a:p>
        </p:txBody>
      </p:sp>
      <p:sp>
        <p:nvSpPr>
          <p:cNvPr id="19" name="fb-header">
            <a:extLst xmlns:a="http://schemas.openxmlformats.org/drawingml/2006/main">
              <a:ext uri="{FF2B5EF4-FFF2-40B4-BE49-F238E27FC236}">
                <a16:creationId xmlns:a16="http://schemas.microsoft.com/office/drawing/2014/main" id="{B7A69061-C07B-467E-BB27-2D05D68FF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1455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0" name="fb-header-text">
            <a:extLst xmlns:a="http://schemas.openxmlformats.org/drawingml/2006/main">
              <a:ext uri="{FF2B5EF4-FFF2-40B4-BE49-F238E27FC236}">
                <a16:creationId xmlns:a16="http://schemas.microsoft.com/office/drawing/2014/main" id="{DDBF85C5-04AE-486D-9E19-7E3C813E5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38375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질문</a:t>
            </a:r>
          </a:p>
        </p:txBody>
      </p:sp>
      <p:sp>
        <p:nvSpPr>
          <p:cNvPr id="21" name="fb-cell">
            <a:extLst xmlns:a="http://schemas.openxmlformats.org/drawingml/2006/main">
              <a:ext uri="{FF2B5EF4-FFF2-40B4-BE49-F238E27FC236}">
                <a16:creationId xmlns:a16="http://schemas.microsoft.com/office/drawing/2014/main" id="{5D053436-3C90-42B5-9177-E4C367848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95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2" name="team-label">
            <a:extLst xmlns:a="http://schemas.openxmlformats.org/drawingml/2006/main">
              <a:ext uri="{FF2B5EF4-FFF2-40B4-BE49-F238E27FC236}">
                <a16:creationId xmlns:a16="http://schemas.microsoft.com/office/drawing/2014/main" id="{06599E9E-9BDD-46A3-8D45-43FFFB44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622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Team 1</a:t>
            </a:r>
          </a:p>
        </p:txBody>
      </p:sp>
      <p:sp>
        <p:nvSpPr>
          <p:cNvPr id="23" name="fb-cell">
            <a:extLst xmlns:a="http://schemas.openxmlformats.org/drawingml/2006/main">
              <a:ext uri="{FF2B5EF4-FFF2-40B4-BE49-F238E27FC236}">
                <a16:creationId xmlns:a16="http://schemas.microsoft.com/office/drawing/2014/main" id="{708C8DCD-AF59-4E5A-B33A-5F777589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5717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4" name="fb-cell">
            <a:extLst xmlns:a="http://schemas.openxmlformats.org/drawingml/2006/main">
              <a:ext uri="{FF2B5EF4-FFF2-40B4-BE49-F238E27FC236}">
                <a16:creationId xmlns:a16="http://schemas.microsoft.com/office/drawing/2014/main" id="{AC44713B-EB46-4174-9DB5-E5C593722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5" name="fb-cell">
            <a:extLst xmlns:a="http://schemas.openxmlformats.org/drawingml/2006/main">
              <a:ext uri="{FF2B5EF4-FFF2-40B4-BE49-F238E27FC236}">
                <a16:creationId xmlns:a16="http://schemas.microsoft.com/office/drawing/2014/main" id="{96F1F02A-D00D-4600-8DB4-79F883D9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717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6" name="fb-cell">
            <a:extLst xmlns:a="http://schemas.openxmlformats.org/drawingml/2006/main">
              <a:ext uri="{FF2B5EF4-FFF2-40B4-BE49-F238E27FC236}">
                <a16:creationId xmlns:a16="http://schemas.microsoft.com/office/drawing/2014/main" id="{F523C791-E75E-4CAB-80DF-214D6262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717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7" name="fb-cell">
            <a:extLst xmlns:a="http://schemas.openxmlformats.org/drawingml/2006/main">
              <a:ext uri="{FF2B5EF4-FFF2-40B4-BE49-F238E27FC236}">
                <a16:creationId xmlns:a16="http://schemas.microsoft.com/office/drawing/2014/main" id="{EF56D809-90CC-458A-BCA3-C1E4E69C3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24200"/>
            <a:ext cx="95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8" name="team-label">
            <a:extLst xmlns:a="http://schemas.openxmlformats.org/drawingml/2006/main">
              <a:ext uri="{FF2B5EF4-FFF2-40B4-BE49-F238E27FC236}">
                <a16:creationId xmlns:a16="http://schemas.microsoft.com/office/drawing/2014/main" id="{8594F828-3FB7-46F9-8248-89E66D8EB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1470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Team 2</a:t>
            </a:r>
          </a:p>
        </p:txBody>
      </p:sp>
      <p:sp>
        <p:nvSpPr>
          <p:cNvPr id="29" name="fb-cell">
            <a:extLst xmlns:a="http://schemas.openxmlformats.org/drawingml/2006/main">
              <a:ext uri="{FF2B5EF4-FFF2-40B4-BE49-F238E27FC236}">
                <a16:creationId xmlns:a16="http://schemas.microsoft.com/office/drawing/2014/main" id="{38061644-87A9-485A-8587-6BFBDD86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1242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0" name="fb-cell">
            <a:extLst xmlns:a="http://schemas.openxmlformats.org/drawingml/2006/main">
              <a:ext uri="{FF2B5EF4-FFF2-40B4-BE49-F238E27FC236}">
                <a16:creationId xmlns:a16="http://schemas.microsoft.com/office/drawing/2014/main" id="{06DE44E2-96A5-4631-9171-87A5E731D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242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1" name="fb-cell">
            <a:extLst xmlns:a="http://schemas.openxmlformats.org/drawingml/2006/main">
              <a:ext uri="{FF2B5EF4-FFF2-40B4-BE49-F238E27FC236}">
                <a16:creationId xmlns:a16="http://schemas.microsoft.com/office/drawing/2014/main" id="{710ACD80-F53D-4313-B169-90CBD8454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1242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2" name="fb-cell">
            <a:extLst xmlns:a="http://schemas.openxmlformats.org/drawingml/2006/main">
              <a:ext uri="{FF2B5EF4-FFF2-40B4-BE49-F238E27FC236}">
                <a16:creationId xmlns:a16="http://schemas.microsoft.com/office/drawing/2014/main" id="{D116591B-CBE6-49FF-9DDD-D836C643B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1242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3" name="fb-cell">
            <a:extLst xmlns:a="http://schemas.openxmlformats.org/drawingml/2006/main">
              <a:ext uri="{FF2B5EF4-FFF2-40B4-BE49-F238E27FC236}">
                <a16:creationId xmlns:a16="http://schemas.microsoft.com/office/drawing/2014/main" id="{665F8948-D9E1-4ED1-BB2E-A1238CF8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76650"/>
            <a:ext cx="95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4" name="team-label">
            <a:extLst xmlns:a="http://schemas.openxmlformats.org/drawingml/2006/main">
              <a:ext uri="{FF2B5EF4-FFF2-40B4-BE49-F238E27FC236}">
                <a16:creationId xmlns:a16="http://schemas.microsoft.com/office/drawing/2014/main" id="{0D9F095D-E1B4-4A6C-9E34-134B16E05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Team 3</a:t>
            </a:r>
          </a:p>
        </p:txBody>
      </p:sp>
      <p:sp>
        <p:nvSpPr>
          <p:cNvPr id="35" name="fb-cell">
            <a:extLst xmlns:a="http://schemas.openxmlformats.org/drawingml/2006/main">
              <a:ext uri="{FF2B5EF4-FFF2-40B4-BE49-F238E27FC236}">
                <a16:creationId xmlns:a16="http://schemas.microsoft.com/office/drawing/2014/main" id="{C0FD3DA7-AFDA-400A-A4A1-3DCF3739A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766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6" name="fb-cell">
            <a:extLst xmlns:a="http://schemas.openxmlformats.org/drawingml/2006/main">
              <a:ext uri="{FF2B5EF4-FFF2-40B4-BE49-F238E27FC236}">
                <a16:creationId xmlns:a16="http://schemas.microsoft.com/office/drawing/2014/main" id="{62484469-A70A-4753-BD5F-0F4C9B304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766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7" name="fb-cell">
            <a:extLst xmlns:a="http://schemas.openxmlformats.org/drawingml/2006/main">
              <a:ext uri="{FF2B5EF4-FFF2-40B4-BE49-F238E27FC236}">
                <a16:creationId xmlns:a16="http://schemas.microsoft.com/office/drawing/2014/main" id="{F3228794-675E-46DB-92E5-1B9C3E2A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6766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8" name="fb-cell">
            <a:extLst xmlns:a="http://schemas.openxmlformats.org/drawingml/2006/main">
              <a:ext uri="{FF2B5EF4-FFF2-40B4-BE49-F238E27FC236}">
                <a16:creationId xmlns:a16="http://schemas.microsoft.com/office/drawing/2014/main" id="{0395C966-01B8-457D-8048-D0E0782E6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6766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9" name="fb-cell">
            <a:extLst xmlns:a="http://schemas.openxmlformats.org/drawingml/2006/main">
              <a:ext uri="{FF2B5EF4-FFF2-40B4-BE49-F238E27FC236}">
                <a16:creationId xmlns:a16="http://schemas.microsoft.com/office/drawing/2014/main" id="{DA23A07D-520B-4B8C-9ABD-E5B2F7815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29100"/>
            <a:ext cx="95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0" name="team-label">
            <a:extLst xmlns:a="http://schemas.openxmlformats.org/drawingml/2006/main">
              <a:ext uri="{FF2B5EF4-FFF2-40B4-BE49-F238E27FC236}">
                <a16:creationId xmlns:a16="http://schemas.microsoft.com/office/drawing/2014/main" id="{91B65E15-3D11-4D73-82F5-2B04F447C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Team 4</a:t>
            </a:r>
          </a:p>
        </p:txBody>
      </p:sp>
      <p:sp>
        <p:nvSpPr>
          <p:cNvPr id="41" name="fb-cell">
            <a:extLst xmlns:a="http://schemas.openxmlformats.org/drawingml/2006/main">
              <a:ext uri="{FF2B5EF4-FFF2-40B4-BE49-F238E27FC236}">
                <a16:creationId xmlns:a16="http://schemas.microsoft.com/office/drawing/2014/main" id="{F13CB550-A85E-407F-AEE6-9115FDE3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2291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2" name="fb-cell">
            <a:extLst xmlns:a="http://schemas.openxmlformats.org/drawingml/2006/main">
              <a:ext uri="{FF2B5EF4-FFF2-40B4-BE49-F238E27FC236}">
                <a16:creationId xmlns:a16="http://schemas.microsoft.com/office/drawing/2014/main" id="{7575B334-A913-469E-B731-FFD9EB0D6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291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3" name="fb-cell">
            <a:extLst xmlns:a="http://schemas.openxmlformats.org/drawingml/2006/main">
              <a:ext uri="{FF2B5EF4-FFF2-40B4-BE49-F238E27FC236}">
                <a16:creationId xmlns:a16="http://schemas.microsoft.com/office/drawing/2014/main" id="{9D7A887B-CF5E-426C-BA13-86876808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2291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4" name="fb-cell">
            <a:extLst xmlns:a="http://schemas.openxmlformats.org/drawingml/2006/main">
              <a:ext uri="{FF2B5EF4-FFF2-40B4-BE49-F238E27FC236}">
                <a16:creationId xmlns:a16="http://schemas.microsoft.com/office/drawing/2014/main" id="{20B25C81-EEC6-44C1-B201-E03B53F8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2291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5" name="fb-cell">
            <a:extLst xmlns:a="http://schemas.openxmlformats.org/drawingml/2006/main">
              <a:ext uri="{FF2B5EF4-FFF2-40B4-BE49-F238E27FC236}">
                <a16:creationId xmlns:a16="http://schemas.microsoft.com/office/drawing/2014/main" id="{CEC2016A-ACBD-41AA-A7F5-1857C73B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81550"/>
            <a:ext cx="95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6" name="team-label">
            <a:extLst xmlns:a="http://schemas.openxmlformats.org/drawingml/2006/main">
              <a:ext uri="{FF2B5EF4-FFF2-40B4-BE49-F238E27FC236}">
                <a16:creationId xmlns:a16="http://schemas.microsoft.com/office/drawing/2014/main" id="{FC0AA4BD-1522-4922-B4C7-734DFCC81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720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Team 5</a:t>
            </a:r>
          </a:p>
        </p:txBody>
      </p:sp>
      <p:sp>
        <p:nvSpPr>
          <p:cNvPr id="47" name="fb-cell">
            <a:extLst xmlns:a="http://schemas.openxmlformats.org/drawingml/2006/main">
              <a:ext uri="{FF2B5EF4-FFF2-40B4-BE49-F238E27FC236}">
                <a16:creationId xmlns:a16="http://schemas.microsoft.com/office/drawing/2014/main" id="{BF2799DC-A105-41C2-9114-556B0C8C0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7815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8" name="fb-cell">
            <a:extLst xmlns:a="http://schemas.openxmlformats.org/drawingml/2006/main">
              <a:ext uri="{FF2B5EF4-FFF2-40B4-BE49-F238E27FC236}">
                <a16:creationId xmlns:a16="http://schemas.microsoft.com/office/drawing/2014/main" id="{B694BC66-B42F-4225-BDAB-2DBDAF62E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815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9" name="fb-cell">
            <a:extLst xmlns:a="http://schemas.openxmlformats.org/drawingml/2006/main">
              <a:ext uri="{FF2B5EF4-FFF2-40B4-BE49-F238E27FC236}">
                <a16:creationId xmlns:a16="http://schemas.microsoft.com/office/drawing/2014/main" id="{BE03D2E0-3642-40E5-BC78-DB345EAF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7815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50" name="fb-cell">
            <a:extLst xmlns:a="http://schemas.openxmlformats.org/drawingml/2006/main">
              <a:ext uri="{FF2B5EF4-FFF2-40B4-BE49-F238E27FC236}">
                <a16:creationId xmlns:a16="http://schemas.microsoft.com/office/drawing/2014/main" id="{C2297115-A85B-473C-BFE2-95E394730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7815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8046097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D2108982-F286-4472-9915-356AFD64C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FCD5BDE2-6BC4-42B7-9BF5-85122346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EC4F2817-868D-450C-B0D4-5965D82A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4C4DEA7C-FB9D-4864-80FA-E6877C1C1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EC2D98E1-5970-4B2A-9C1E-58339FCC4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4349D935-A78F-4269-95A7-DA764E50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ACTIVITY 8 · 18:35-18:50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63EBBD12-F92D-45D2-8B4F-911E827C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8월 준비계획 확정: 다음 수업 전까지 할 일을 배정합니다.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B8AED71E-2EC9-4E06-A3E2-23D010F9B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8월 21일이 아이디어 회의로 시작되지 않도록 준비물과 담당자를 확정합니다.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e8d841623a40b0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7C6418C5-D65B-4761-ABFE-8E9BD908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  <p:sp>
        <p:nvSpPr>
          <p:cNvPr id="11" name="card-진행 방법">
            <a:extLst xmlns:a="http://schemas.openxmlformats.org/drawingml/2006/main">
              <a:ext uri="{FF2B5EF4-FFF2-40B4-BE49-F238E27FC236}">
                <a16:creationId xmlns:a16="http://schemas.microsoft.com/office/drawing/2014/main" id="{25EA50D5-E157-4A30-8312-C8D63F28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85424722-DC4D-4FD5-A447-3B914281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B3F39282-3991-4981-ADC4-277E017A3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진행 방법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3321A910-CE8A-4DCC-9434-6A75F5947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How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26648FF2-1411-427E-BD51-71ACDAB66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팀별 피드백 반영 → 샘플 자료/금지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자료/담당자/마감 작성</a:t>
            </a:r>
          </a:p>
        </p:txBody>
      </p:sp>
      <p:sp>
        <p:nvSpPr>
          <p:cNvPr id="16" name="card-결과물">
            <a:extLst xmlns:a="http://schemas.openxmlformats.org/drawingml/2006/main">
              <a:ext uri="{FF2B5EF4-FFF2-40B4-BE49-F238E27FC236}">
                <a16:creationId xmlns:a16="http://schemas.microsoft.com/office/drawing/2014/main" id="{44326808-D74A-4CD9-9CF1-F5255914E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BAE1D8CE-98F7-41E5-9255-26FA5C0C5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F38E8E6B-BE79-4049-A797-FDA305DBE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E9C36EFC-A2C0-4200-A663-1D584A9F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Output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4A3CDCEF-BC88-4BF7-A42B-0B7EDB8E5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팀별 사전 준비 목록과 담당자</a:t>
            </a:r>
          </a:p>
        </p:txBody>
      </p:sp>
      <p:sp>
        <p:nvSpPr>
          <p:cNvPr id="21" name="card-운영 팁">
            <a:extLst xmlns:a="http://schemas.openxmlformats.org/drawingml/2006/main">
              <a:ext uri="{FF2B5EF4-FFF2-40B4-BE49-F238E27FC236}">
                <a16:creationId xmlns:a16="http://schemas.microsoft.com/office/drawing/2014/main" id="{F6D4F717-3648-45A6-B7F6-C9DC48047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31432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E26E2A33-FF45-4CB3-8B04-06DFDDE2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9A68D5ED-EBE5-448C-BCAB-CBE3873E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4765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 팁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684915BA-C01C-4BBC-9C30-9A33D4D2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7622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Facilitator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DE55F14B-57AC-4D39-8731-C9BAEA95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276600"/>
            <a:ext cx="2686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타이머를 보이게 두고, 각 팀의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산출물은 다음 단계 장표에 바로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옮겨 적게 합니다.</a:t>
            </a:r>
          </a:p>
        </p:txBody>
      </p:sp>
    </p:spTree>
    <p:extLst>
      <p:ext uri="{BB962C8B-B14F-4D97-AF65-F5344CB8AC3E}">
        <p14:creationId xmlns:p14="http://schemas.microsoft.com/office/powerpoint/2010/main" val="156223891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209F86D2-0ADF-40F5-90DD-4D5E271CA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07776001-FCAA-41A3-A203-AEB7D4F8C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21911E7B-6627-4C27-8118-1A2FEC0D4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D2313A63-4EAC-4273-885B-B61D8DF0E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2223F5EF-A0CD-4795-A774-63F4E058A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CE3FE0A9-C3F5-4CA1-916F-6A3DA4B1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워크시트 7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27318424-B0DC-4218-A4D4-6DDA8E694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8월 21일까지 준비할 것을 팀별로 확정합니다.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0D05E596-F0C1-4DDD-A169-9E252BFA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누가, 언제까지, 어떤 자료를 준비할지 명확해야 다음 수업이 구현으로 시작됩니다.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c543be72164fc1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9E5F9279-9C07-4532-A4EC-FC9E5CDF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  <p:sp>
        <p:nvSpPr>
          <p:cNvPr id="11" name="field-label">
            <a:extLst xmlns:a="http://schemas.openxmlformats.org/drawingml/2006/main">
              <a:ext uri="{FF2B5EF4-FFF2-40B4-BE49-F238E27FC236}">
                <a16:creationId xmlns:a16="http://schemas.microsoft.com/office/drawing/2014/main" id="{0C3A41D7-1204-430D-98B1-3786220B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준비할 샘플 자료</a:t>
            </a:r>
          </a:p>
        </p:txBody>
      </p:sp>
      <p:sp>
        <p:nvSpPr>
          <p:cNvPr id="12" name="field-준비할 샘플 자료">
            <a:extLst xmlns:a="http://schemas.openxmlformats.org/drawingml/2006/main">
              <a:ext uri="{FF2B5EF4-FFF2-40B4-BE49-F238E27FC236}">
                <a16:creationId xmlns:a16="http://schemas.microsoft.com/office/drawing/2014/main" id="{50C98AE0-052D-45A3-BAAD-B22CCAFBE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3429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3" name="field-hint">
            <a:extLst xmlns:a="http://schemas.openxmlformats.org/drawingml/2006/main">
              <a:ext uri="{FF2B5EF4-FFF2-40B4-BE49-F238E27FC236}">
                <a16:creationId xmlns:a16="http://schemas.microsoft.com/office/drawing/2014/main" id="{A512BC05-59BE-43E9-9AA7-D8A2878AE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3124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문서, 표, 예시 요청, 화면 캡처, 정책 문구 등</a:t>
            </a:r>
          </a:p>
        </p:txBody>
      </p:sp>
      <p:sp>
        <p:nvSpPr>
          <p:cNvPr id="14" name="field-label">
            <a:extLst xmlns:a="http://schemas.openxmlformats.org/drawingml/2006/main">
              <a:ext uri="{FF2B5EF4-FFF2-40B4-BE49-F238E27FC236}">
                <a16:creationId xmlns:a16="http://schemas.microsoft.com/office/drawing/2014/main" id="{0FD1127A-8C95-4DE4-BD61-36746CE5F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90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담당자 / 마감</a:t>
            </a:r>
          </a:p>
        </p:txBody>
      </p:sp>
      <p:sp>
        <p:nvSpPr>
          <p:cNvPr id="15" name="field-담당자 / 마감">
            <a:extLst xmlns:a="http://schemas.openxmlformats.org/drawingml/2006/main">
              <a:ext uri="{FF2B5EF4-FFF2-40B4-BE49-F238E27FC236}">
                <a16:creationId xmlns:a16="http://schemas.microsoft.com/office/drawing/2014/main" id="{266FF55A-5F48-4CDB-9260-195106198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57450"/>
            <a:ext cx="3429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6" name="field-hint">
            <a:extLst xmlns:a="http://schemas.openxmlformats.org/drawingml/2006/main">
              <a:ext uri="{FF2B5EF4-FFF2-40B4-BE49-F238E27FC236}">
                <a16:creationId xmlns:a16="http://schemas.microsoft.com/office/drawing/2014/main" id="{A77E0D04-B945-4D45-932B-C44A5B10A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90800"/>
            <a:ext cx="3124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누가 언제까지 준비할 것인가?</a:t>
            </a:r>
          </a:p>
        </p:txBody>
      </p:sp>
      <p:sp>
        <p:nvSpPr>
          <p:cNvPr id="17" name="field-label">
            <a:extLst xmlns:a="http://schemas.openxmlformats.org/drawingml/2006/main">
              <a:ext uri="{FF2B5EF4-FFF2-40B4-BE49-F238E27FC236}">
                <a16:creationId xmlns:a16="http://schemas.microsoft.com/office/drawing/2014/main" id="{5A6EB367-99B7-4E0B-B32F-5649E81E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90750"/>
            <a:ext cx="331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금지 자료</a:t>
            </a:r>
          </a:p>
        </p:txBody>
      </p:sp>
      <p:sp>
        <p:nvSpPr>
          <p:cNvPr id="18" name="field-금지 자료">
            <a:extLst xmlns:a="http://schemas.openxmlformats.org/drawingml/2006/main">
              <a:ext uri="{FF2B5EF4-FFF2-40B4-BE49-F238E27FC236}">
                <a16:creationId xmlns:a16="http://schemas.microsoft.com/office/drawing/2014/main" id="{6E10143C-59B2-441E-A664-8E6C52FD1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57450"/>
            <a:ext cx="33147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9" name="field-hint">
            <a:extLst xmlns:a="http://schemas.openxmlformats.org/drawingml/2006/main">
              <a:ext uri="{FF2B5EF4-FFF2-40B4-BE49-F238E27FC236}">
                <a16:creationId xmlns:a16="http://schemas.microsoft.com/office/drawing/2014/main" id="{CDD03CC0-12F7-444C-88E2-204D1CAB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90800"/>
            <a:ext cx="3009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사용하지 않을 민감 자료와 대체 샘플</a:t>
            </a:r>
          </a:p>
        </p:txBody>
      </p:sp>
      <p:sp>
        <p:nvSpPr>
          <p:cNvPr id="20" name="field-label">
            <a:extLst xmlns:a="http://schemas.openxmlformats.org/drawingml/2006/main">
              <a:ext uri="{FF2B5EF4-FFF2-40B4-BE49-F238E27FC236}">
                <a16:creationId xmlns:a16="http://schemas.microsoft.com/office/drawing/2014/main" id="{936278C8-974D-420E-874C-D8A105DA7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8월 21일 구현 시작점</a:t>
            </a:r>
          </a:p>
        </p:txBody>
      </p:sp>
      <p:sp>
        <p:nvSpPr>
          <p:cNvPr id="21" name="field-8월 21일 구현 시작점">
            <a:extLst xmlns:a="http://schemas.openxmlformats.org/drawingml/2006/main">
              <a:ext uri="{FF2B5EF4-FFF2-40B4-BE49-F238E27FC236}">
                <a16:creationId xmlns:a16="http://schemas.microsoft.com/office/drawing/2014/main" id="{5CA682F8-45BB-4109-AFEB-CD2AE8417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143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2" name="field-hint">
            <a:extLst xmlns:a="http://schemas.openxmlformats.org/drawingml/2006/main">
              <a:ext uri="{FF2B5EF4-FFF2-40B4-BE49-F238E27FC236}">
                <a16:creationId xmlns:a16="http://schemas.microsoft.com/office/drawing/2014/main" id="{CEA9C5E6-645E-4694-AA4E-81D70941D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48150"/>
            <a:ext cx="48387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첫 30분에 멘토와 확인할 구현 범위와 질문</a:t>
            </a:r>
          </a:p>
        </p:txBody>
      </p:sp>
      <p:sp>
        <p:nvSpPr>
          <p:cNvPr id="23" name="field-label">
            <a:extLst xmlns:a="http://schemas.openxmlformats.org/drawingml/2006/main">
              <a:ext uri="{FF2B5EF4-FFF2-40B4-BE49-F238E27FC236}">
                <a16:creationId xmlns:a16="http://schemas.microsoft.com/office/drawing/2014/main" id="{0531441E-323C-4163-9037-C0DE511E9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8481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8월 28일 발표 가설</a:t>
            </a:r>
          </a:p>
        </p:txBody>
      </p:sp>
      <p:sp>
        <p:nvSpPr>
          <p:cNvPr id="24" name="field-8월 28일 발표 가설">
            <a:extLst xmlns:a="http://schemas.openxmlformats.org/drawingml/2006/main">
              <a:ext uri="{FF2B5EF4-FFF2-40B4-BE49-F238E27FC236}">
                <a16:creationId xmlns:a16="http://schemas.microsoft.com/office/drawing/2014/main" id="{6DD2A3C6-4A7A-4160-B934-C36E41F37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14800"/>
            <a:ext cx="5143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5" name="field-hint">
            <a:extLst xmlns:a="http://schemas.openxmlformats.org/drawingml/2006/main">
              <a:ext uri="{FF2B5EF4-FFF2-40B4-BE49-F238E27FC236}">
                <a16:creationId xmlns:a16="http://schemas.microsoft.com/office/drawing/2014/main" id="{C9F322DB-FF40-4B53-873A-DBFF2A4F8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48150"/>
            <a:ext cx="48387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어떤 업무를 어떻게 바꿨다고 발표할 것인가?</a:t>
            </a:r>
          </a:p>
        </p:txBody>
      </p:sp>
    </p:spTree>
    <p:extLst>
      <p:ext uri="{BB962C8B-B14F-4D97-AF65-F5344CB8AC3E}">
        <p14:creationId xmlns:p14="http://schemas.microsoft.com/office/powerpoint/2010/main" val="127939685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BDC24222-8100-4695-9657-83BE2E62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84F75234-3DF6-47FD-B012-10041F8F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EDF12169-4B38-4B65-AF72-149AC5C6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10715590-AA59-40F4-969A-DBAFEBD61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2AADB742-9A0B-49C3-B73D-0B48B85F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3CCBB069-C666-4C77-BE54-746A19D3E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다음 수업 연결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44C61E77-3E4C-4ED7-8F82-0F7C53E06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오늘 만든 과제는 8월 두 번의 실행 수업으로 이어집니다.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0643CAD0-E1D5-4281-A55A-E0F9076A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6월 26일은 문제와 팀을 정하고, 8월에는 구현과 발표를 통해 현업 적용 인사이트를 남깁니다.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6a79fada39426f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A3D8BEC7-3A88-48F5-9FC7-BA4EFDA77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  <p:sp>
        <p:nvSpPr>
          <p:cNvPr id="11" name="card-08.21 · 8시간">
            <a:extLst xmlns:a="http://schemas.openxmlformats.org/drawingml/2006/main">
              <a:ext uri="{FF2B5EF4-FFF2-40B4-BE49-F238E27FC236}">
                <a16:creationId xmlns:a16="http://schemas.microsoft.com/office/drawing/2014/main" id="{B83BCF8D-C246-44AE-92C2-AD0F6022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333750" cy="2809875"/>
          </a:xfrm>
          <a:prstGeom xmlns:a="http://schemas.openxmlformats.org/drawingml/2006/main" prst="roundRect">
            <a:avLst>
              <a:gd name="adj" fmla="val 61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3C6E8D56-6F6F-4902-8DCA-C57300972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76200" cy="2809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10503C51-A9B7-4717-A3B6-85AD7D6E2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08.21 · 8시간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D4452CC9-8726-4AD4-A896-DA3680F9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프로젝트 구현 및 멘토링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055A8155-0781-419C-A863-0EE55BD63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28765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Project Canvas를 기준으로 스파로스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데브엑스에서 AI Agent 또는 업무 보조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도구를 구현합니다.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산출물: 작동 데모, 검증 체크리스트,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개선 요청 목록</a:t>
            </a:r>
          </a:p>
        </p:txBody>
      </p:sp>
      <p:sp>
        <p:nvSpPr>
          <p:cNvPr id="16" name="card-08.28 · 8시간">
            <a:extLst xmlns:a="http://schemas.openxmlformats.org/drawingml/2006/main">
              <a:ext uri="{FF2B5EF4-FFF2-40B4-BE49-F238E27FC236}">
                <a16:creationId xmlns:a16="http://schemas.microsoft.com/office/drawing/2014/main" id="{8A245A9E-13BB-4127-9A29-F38168B0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3333750" cy="2809875"/>
          </a:xfrm>
          <a:prstGeom xmlns:a="http://schemas.openxmlformats.org/drawingml/2006/main" prst="roundRect">
            <a:avLst>
              <a:gd name="adj" fmla="val 61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457E9AED-21EA-4EC2-AF7D-3FB69E0A9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76200" cy="2809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1430E8A0-939C-4E08-A39F-D6A23E2E6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08.28 · 8시간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5695D7FE-3A08-4B64-9FF8-E0739B99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프로젝트 발표 및 회고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F5EB5482-945D-4D08-BB62-89C4D956D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76600"/>
            <a:ext cx="28765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데모를 발표 가능한 형태로 정리하고,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현업 적용 가능성과 조직 지원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조건을 회고합니다.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산출물: 5분 발표안, 데모 시나리오,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후속 AX 과제 후보</a:t>
            </a:r>
          </a:p>
        </p:txBody>
      </p:sp>
      <p:sp>
        <p:nvSpPr>
          <p:cNvPr id="21" name="card-사전 준비">
            <a:extLst xmlns:a="http://schemas.openxmlformats.org/drawingml/2006/main">
              <a:ext uri="{FF2B5EF4-FFF2-40B4-BE49-F238E27FC236}">
                <a16:creationId xmlns:a16="http://schemas.microsoft.com/office/drawing/2014/main" id="{1330BD5F-9A04-42D9-BA8E-066B1809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3143250" cy="2809875"/>
          </a:xfrm>
          <a:prstGeom xmlns:a="http://schemas.openxmlformats.org/drawingml/2006/main" prst="roundRect">
            <a:avLst>
              <a:gd name="adj" fmla="val 61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B4F53BC5-33AD-4949-8818-E53A96FCF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76200" cy="2809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F6D4D806-E8B6-4CBA-B5AA-7684A10EA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4765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사전 준비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A9210533-E715-4778-A2A5-6433DBFB1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7622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팀별 준비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8ABD6C51-4C97-425D-BEA2-AED0F7BB8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276600"/>
            <a:ext cx="26860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샘플 자료 준비, 금지 자료 정리, 현재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 프로세스 설명, 멘토 질문 목록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작성이 필요합니다.</a:t>
            </a:r>
          </a:p>
        </p:txBody>
      </p:sp>
    </p:spTree>
    <p:extLst>
      <p:ext uri="{BB962C8B-B14F-4D97-AF65-F5344CB8AC3E}">
        <p14:creationId xmlns:p14="http://schemas.microsoft.com/office/powerpoint/2010/main" val="87705223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E41E0D28-0B1A-46AE-A264-BE01AE1C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78824F63-3858-4456-BB71-57F74BF39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8A164BAD-642C-4E57-A850-AD3F890C7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788DD614-BC2A-4642-9DDC-5F2012205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2A72FCB7-9F02-4F14-AC88-40CE1AB2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lose-title">
            <a:extLst xmlns:a="http://schemas.openxmlformats.org/drawingml/2006/main">
              <a:ext uri="{FF2B5EF4-FFF2-40B4-BE49-F238E27FC236}">
                <a16:creationId xmlns:a16="http://schemas.microsoft.com/office/drawing/2014/main" id="{A91AFE8C-2DD6-4513-8356-29469122A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33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수업 종료 전 확인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610339e1874350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8" name="check-square">
            <a:extLst xmlns:a="http://schemas.openxmlformats.org/drawingml/2006/main">
              <a:ext uri="{FF2B5EF4-FFF2-40B4-BE49-F238E27FC236}">
                <a16:creationId xmlns:a16="http://schemas.microsoft.com/office/drawing/2014/main" id="{3C861EB3-C78B-4611-ACE3-ABCFD0929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9" name="check-text">
            <a:extLst xmlns:a="http://schemas.openxmlformats.org/drawingml/2006/main">
              <a:ext uri="{FF2B5EF4-FFF2-40B4-BE49-F238E27FC236}">
                <a16:creationId xmlns:a16="http://schemas.microsoft.com/office/drawing/2014/main" id="{03E81856-D8FB-4004-9FC0-02927695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668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팀명과 3인 역할이 정해졌는가?</a:t>
            </a:r>
          </a:p>
        </p:txBody>
      </p:sp>
      <p:sp>
        <p:nvSpPr>
          <p:cNvPr id="10" name="check-square">
            <a:extLst xmlns:a="http://schemas.openxmlformats.org/drawingml/2006/main">
              <a:ext uri="{FF2B5EF4-FFF2-40B4-BE49-F238E27FC236}">
                <a16:creationId xmlns:a16="http://schemas.microsoft.com/office/drawing/2014/main" id="{7D0A0F63-A037-48EF-9C4D-8A33AA44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1" name="check-text">
            <a:extLst xmlns:a="http://schemas.openxmlformats.org/drawingml/2006/main">
              <a:ext uri="{FF2B5EF4-FFF2-40B4-BE49-F238E27FC236}">
                <a16:creationId xmlns:a16="http://schemas.microsoft.com/office/drawing/2014/main" id="{01EDACD5-8762-40BA-AB09-F028AB4DD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해결할 업무 문제를 한 문장으로 썼는가?</a:t>
            </a:r>
          </a:p>
        </p:txBody>
      </p:sp>
      <p:sp>
        <p:nvSpPr>
          <p:cNvPr id="12" name="check-square">
            <a:extLst xmlns:a="http://schemas.openxmlformats.org/drawingml/2006/main">
              <a:ext uri="{FF2B5EF4-FFF2-40B4-BE49-F238E27FC236}">
                <a16:creationId xmlns:a16="http://schemas.microsoft.com/office/drawing/2014/main" id="{A15B63F4-D04C-480F-947A-B0197D932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3" name="check-text">
            <a:extLst xmlns:a="http://schemas.openxmlformats.org/drawingml/2006/main">
              <a:ext uri="{FF2B5EF4-FFF2-40B4-BE49-F238E27FC236}">
                <a16:creationId xmlns:a16="http://schemas.microsoft.com/office/drawing/2014/main" id="{DBBD74BE-B4EC-4525-9121-5B14E599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384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AI가 보조할 일과 사람이 검토할 일이 분리됐는가?</a:t>
            </a:r>
          </a:p>
        </p:txBody>
      </p:sp>
      <p:sp>
        <p:nvSpPr>
          <p:cNvPr id="14" name="check-square">
            <a:extLst xmlns:a="http://schemas.openxmlformats.org/drawingml/2006/main">
              <a:ext uri="{FF2B5EF4-FFF2-40B4-BE49-F238E27FC236}">
                <a16:creationId xmlns:a16="http://schemas.microsoft.com/office/drawing/2014/main" id="{8B9AE88F-B264-4CC9-8FA7-3EAF91902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5" name="check-text">
            <a:extLst xmlns:a="http://schemas.openxmlformats.org/drawingml/2006/main">
              <a:ext uri="{FF2B5EF4-FFF2-40B4-BE49-F238E27FC236}">
                <a16:creationId xmlns:a16="http://schemas.microsoft.com/office/drawing/2014/main" id="{80D0D5E4-3346-4D7F-97F0-4A7D1A679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242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8월 21일 데모 장면과 샘플 자료가 정해졌는가?</a:t>
            </a:r>
          </a:p>
        </p:txBody>
      </p:sp>
      <p:sp>
        <p:nvSpPr>
          <p:cNvPr id="16" name="check-square">
            <a:extLst xmlns:a="http://schemas.openxmlformats.org/drawingml/2006/main">
              <a:ext uri="{FF2B5EF4-FFF2-40B4-BE49-F238E27FC236}">
                <a16:creationId xmlns:a16="http://schemas.microsoft.com/office/drawing/2014/main" id="{33520769-CB41-428A-A020-659D96A9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6720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17" name="check-text">
            <a:extLst xmlns:a="http://schemas.openxmlformats.org/drawingml/2006/main">
              <a:ext uri="{FF2B5EF4-FFF2-40B4-BE49-F238E27FC236}">
                <a16:creationId xmlns:a16="http://schemas.microsoft.com/office/drawing/2014/main" id="{F4FC6853-205F-4F9C-80F6-91BFC06C7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100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1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팀별 준비 담당자와 마감이 정해졌는가?</a:t>
            </a:r>
          </a:p>
        </p:txBody>
      </p:sp>
      <p:sp>
        <p:nvSpPr>
          <p:cNvPr id="18" name="closing-panel">
            <a:extLst xmlns:a="http://schemas.openxmlformats.org/drawingml/2006/main">
              <a:ext uri="{FF2B5EF4-FFF2-40B4-BE49-F238E27FC236}">
                <a16:creationId xmlns:a16="http://schemas.microsoft.com/office/drawing/2014/main" id="{996389A0-FBBC-4805-9D20-AAA15305F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67200"/>
            <a:ext cx="4857750" cy="1695450"/>
          </a:xfrm>
          <a:prstGeom xmlns:a="http://schemas.openxmlformats.org/drawingml/2006/main" prst="roundRect">
            <a:avLst>
              <a:gd name="adj" fmla="val 101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closing-message">
            <a:extLst xmlns:a="http://schemas.openxmlformats.org/drawingml/2006/main">
              <a:ext uri="{FF2B5EF4-FFF2-40B4-BE49-F238E27FC236}">
                <a16:creationId xmlns:a16="http://schemas.microsoft.com/office/drawing/2014/main" id="{F8EF4DFF-E326-48A2-93D2-E158B64AA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29150"/>
            <a:ext cx="42481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오늘 남길 것은 도구 사용 경험이 아니라,</a:t>
            </a:r>
          </a:p>
          <a:p xmlns:a="http://schemas.openxmlformats.org/drawingml/2006/main">
            <a:pPr algn="l">
              <a:defRPr sz="16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현업 업무를 AI와 함께 처리하는</a:t>
            </a:r>
          </a:p>
          <a:p xmlns:a="http://schemas.openxmlformats.org/drawingml/2006/main">
            <a:pPr algn="l">
              <a:defRPr sz="16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실행 기준입니다.</a:t>
            </a:r>
          </a:p>
        </p:txBody>
      </p:sp>
      <p:sp>
        <p:nvSpPr>
          <p:cNvPr id="2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D6BFB589-0D6A-4D5B-A1C1-BC7CDBB1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6498543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2026-06-26T01:05:37.6220000Z</dcterms:created>
  <dcterms:modified xsi:type="dcterms:W3CDTF">2026-06-26T01:05:37.6220000Z</dcterms:modified>
</coreProperties>
</file>