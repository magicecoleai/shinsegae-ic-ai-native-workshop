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d58274ed5745b9" /><Relationship Type="http://schemas.openxmlformats.org/officeDocument/2006/relationships/extended-properties" Target="/docProps/app.xml" Id="R5f24dadd8839445b" /><Relationship Type="http://schemas.openxmlformats.org/officeDocument/2006/relationships/officeDocument" Target="/ppt/presentation.xml" Id="Rbda7cab388a24d9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2aaa3be6d5433a"/>
  </p:sldMasterIdLst>
  <p:notesMasterIdLst>
    <p:notesMasterId xmlns:r="http://schemas.openxmlformats.org/officeDocument/2006/relationships" r:id="R6852aa6cd6e841e2"/>
  </p:notesMasterIdLst>
  <p:sldIdLst>
    <p:sldId xmlns:r="http://schemas.openxmlformats.org/officeDocument/2006/relationships" id="256" r:id="Rad75caa98ca24827"/>
    <p:sldId xmlns:r="http://schemas.openxmlformats.org/officeDocument/2006/relationships" id="257" r:id="Raa16350c98a04143"/>
    <p:sldId xmlns:r="http://schemas.openxmlformats.org/officeDocument/2006/relationships" id="258" r:id="Ra4fd256d74a94d81"/>
    <p:sldId xmlns:r="http://schemas.openxmlformats.org/officeDocument/2006/relationships" id="259" r:id="Re59d5f533b06429e"/>
    <p:sldId xmlns:r="http://schemas.openxmlformats.org/officeDocument/2006/relationships" id="260" r:id="R287b6689351b43c5"/>
    <p:sldId xmlns:r="http://schemas.openxmlformats.org/officeDocument/2006/relationships" id="261" r:id="Rf01ddfa4672f423b"/>
    <p:sldId xmlns:r="http://schemas.openxmlformats.org/officeDocument/2006/relationships" id="262" r:id="R38924ea86e624b6f"/>
    <p:sldId xmlns:r="http://schemas.openxmlformats.org/officeDocument/2006/relationships" id="263" r:id="R2f90357455214090"/>
    <p:sldId xmlns:r="http://schemas.openxmlformats.org/officeDocument/2006/relationships" id="264" r:id="R6d28b23e86b743e5"/>
    <p:sldId xmlns:r="http://schemas.openxmlformats.org/officeDocument/2006/relationships" id="265" r:id="Re743ba5b1e8a49bf"/>
    <p:sldId xmlns:r="http://schemas.openxmlformats.org/officeDocument/2006/relationships" id="266" r:id="R877344bd19154a2b"/>
    <p:sldId xmlns:r="http://schemas.openxmlformats.org/officeDocument/2006/relationships" id="267" r:id="Re6e3134f0c304b56"/>
    <p:sldId xmlns:r="http://schemas.openxmlformats.org/officeDocument/2006/relationships" id="268" r:id="Re8caa517b2114e9c"/>
    <p:sldId xmlns:r="http://schemas.openxmlformats.org/officeDocument/2006/relationships" id="269" r:id="Rb506ee9bcf69400c"/>
    <p:sldId xmlns:r="http://schemas.openxmlformats.org/officeDocument/2006/relationships" id="270" r:id="Rf0c63d9198f244f0"/>
    <p:sldId xmlns:r="http://schemas.openxmlformats.org/officeDocument/2006/relationships" id="271" r:id="Rccda66cda4c74b13"/>
    <p:sldId xmlns:r="http://schemas.openxmlformats.org/officeDocument/2006/relationships" id="272" r:id="Rf05890038a4c4f2e"/>
    <p:sldId xmlns:r="http://schemas.openxmlformats.org/officeDocument/2006/relationships" id="273" r:id="R57e07f766c0d4225"/>
    <p:sldId xmlns:r="http://schemas.openxmlformats.org/officeDocument/2006/relationships" id="274" r:id="R78f84f99d27d4bc1"/>
    <p:sldId xmlns:r="http://schemas.openxmlformats.org/officeDocument/2006/relationships" id="275" r:id="Rdc3b35d1d9e94369"/>
    <p:sldId xmlns:r="http://schemas.openxmlformats.org/officeDocument/2006/relationships" id="276" r:id="R030fdc5bd0054aed"/>
    <p:sldId xmlns:r="http://schemas.openxmlformats.org/officeDocument/2006/relationships" id="277" r:id="R2e832c41471e4422"/>
    <p:sldId xmlns:r="http://schemas.openxmlformats.org/officeDocument/2006/relationships" id="278" r:id="R54e5e03366b245bb"/>
    <p:sldId xmlns:r="http://schemas.openxmlformats.org/officeDocument/2006/relationships" id="279" r:id="R9687ba800fe34433"/>
    <p:sldId xmlns:r="http://schemas.openxmlformats.org/officeDocument/2006/relationships" id="280" r:id="R3c5839d070274762"/>
    <p:sldId xmlns:r="http://schemas.openxmlformats.org/officeDocument/2006/relationships" id="281" r:id="Rff2dd41805234100"/>
    <p:sldId xmlns:r="http://schemas.openxmlformats.org/officeDocument/2006/relationships" id="282" r:id="R596b61f0e23e4c0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9a1fd69d5b493d" /><Relationship Type="http://schemas.openxmlformats.org/officeDocument/2006/relationships/slideMaster" Target="/ppt/slideMasters/slideMaster1.xml" Id="R0d2aaa3be6d5433a" /><Relationship Type="http://schemas.openxmlformats.org/officeDocument/2006/relationships/notesMaster" Target="/ppt/notesMasters/notesMaster1.xml" Id="R6852aa6cd6e841e2" /><Relationship Type="http://schemas.openxmlformats.org/officeDocument/2006/relationships/presProps" Target="/ppt/presProps.xml" Id="Ree1240c5745b4529" /><Relationship Type="http://schemas.openxmlformats.org/officeDocument/2006/relationships/tableStyles" Target="/ppt/tableStyles.xml" Id="Ra326235a2c8a4916" /><Relationship Type="http://schemas.openxmlformats.org/officeDocument/2006/relationships/slide" Target="/ppt/slides/slide1.xml" Id="Rad75caa98ca24827" /><Relationship Type="http://schemas.openxmlformats.org/officeDocument/2006/relationships/slide" Target="/ppt/slides/slide2.xml" Id="Raa16350c98a04143" /><Relationship Type="http://schemas.openxmlformats.org/officeDocument/2006/relationships/slide" Target="/ppt/slides/slide3.xml" Id="Ra4fd256d74a94d81" /><Relationship Type="http://schemas.openxmlformats.org/officeDocument/2006/relationships/slide" Target="/ppt/slides/slide4.xml" Id="Re59d5f533b06429e" /><Relationship Type="http://schemas.openxmlformats.org/officeDocument/2006/relationships/slide" Target="/ppt/slides/slide5.xml" Id="R287b6689351b43c5" /><Relationship Type="http://schemas.openxmlformats.org/officeDocument/2006/relationships/slide" Target="/ppt/slides/slide6.xml" Id="Rf01ddfa4672f423b" /><Relationship Type="http://schemas.openxmlformats.org/officeDocument/2006/relationships/slide" Target="/ppt/slides/slide7.xml" Id="R38924ea86e624b6f" /><Relationship Type="http://schemas.openxmlformats.org/officeDocument/2006/relationships/slide" Target="/ppt/slides/slide8.xml" Id="R2f90357455214090" /><Relationship Type="http://schemas.openxmlformats.org/officeDocument/2006/relationships/slide" Target="/ppt/slides/slide9.xml" Id="R6d28b23e86b743e5" /><Relationship Type="http://schemas.openxmlformats.org/officeDocument/2006/relationships/slide" Target="/ppt/slides/slide10.xml" Id="Re743ba5b1e8a49bf" /><Relationship Type="http://schemas.openxmlformats.org/officeDocument/2006/relationships/slide" Target="/ppt/slides/slide11.xml" Id="R877344bd19154a2b" /><Relationship Type="http://schemas.openxmlformats.org/officeDocument/2006/relationships/slide" Target="/ppt/slides/slide12.xml" Id="Re6e3134f0c304b56" /><Relationship Type="http://schemas.openxmlformats.org/officeDocument/2006/relationships/slide" Target="/ppt/slides/slide13.xml" Id="Re8caa517b2114e9c" /><Relationship Type="http://schemas.openxmlformats.org/officeDocument/2006/relationships/slide" Target="/ppt/slides/slide14.xml" Id="Rb506ee9bcf69400c" /><Relationship Type="http://schemas.openxmlformats.org/officeDocument/2006/relationships/slide" Target="/ppt/slides/slide15.xml" Id="Rf0c63d9198f244f0" /><Relationship Type="http://schemas.openxmlformats.org/officeDocument/2006/relationships/slide" Target="/ppt/slides/slide16.xml" Id="Rccda66cda4c74b13" /><Relationship Type="http://schemas.openxmlformats.org/officeDocument/2006/relationships/slide" Target="/ppt/slides/slide17.xml" Id="Rf05890038a4c4f2e" /><Relationship Type="http://schemas.openxmlformats.org/officeDocument/2006/relationships/slide" Target="/ppt/slides/slide18.xml" Id="R57e07f766c0d4225" /><Relationship Type="http://schemas.openxmlformats.org/officeDocument/2006/relationships/slide" Target="/ppt/slides/slide19.xml" Id="R78f84f99d27d4bc1" /><Relationship Type="http://schemas.openxmlformats.org/officeDocument/2006/relationships/slide" Target="/ppt/slides/slide20.xml" Id="Rdc3b35d1d9e94369" /><Relationship Type="http://schemas.openxmlformats.org/officeDocument/2006/relationships/slide" Target="/ppt/slides/slide21.xml" Id="R030fdc5bd0054aed" /><Relationship Type="http://schemas.openxmlformats.org/officeDocument/2006/relationships/slide" Target="/ppt/slides/slide22.xml" Id="R2e832c41471e4422" /><Relationship Type="http://schemas.openxmlformats.org/officeDocument/2006/relationships/slide" Target="/ppt/slides/slide23.xml" Id="R54e5e03366b245bb" /><Relationship Type="http://schemas.openxmlformats.org/officeDocument/2006/relationships/slide" Target="/ppt/slides/slide24.xml" Id="R9687ba800fe34433" /><Relationship Type="http://schemas.openxmlformats.org/officeDocument/2006/relationships/slide" Target="/ppt/slides/slide25.xml" Id="R3c5839d070274762" /><Relationship Type="http://schemas.openxmlformats.org/officeDocument/2006/relationships/slide" Target="/ppt/slides/slide26.xml" Id="Rff2dd41805234100" /><Relationship Type="http://schemas.openxmlformats.org/officeDocument/2006/relationships/slide" Target="/ppt/slides/slide27.xml" Id="R596b61f0e23e4c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01194e489e47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25e85dc0414ff3" /><Relationship Type="http://schemas.openxmlformats.org/officeDocument/2006/relationships/notesMaster" Target="/ppt/notesMasters/notesMaster1.xml" Id="R2f4452c0f92247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63dee8f7174378" /><Relationship Type="http://schemas.openxmlformats.org/officeDocument/2006/relationships/notesMaster" Target="/ppt/notesMasters/notesMaster1.xml" Id="Rea4f4994940a4e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c4d49e431840a9" /><Relationship Type="http://schemas.openxmlformats.org/officeDocument/2006/relationships/notesMaster" Target="/ppt/notesMasters/notesMaster1.xml" Id="Rb9ba2057690240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0de36f8b024a00" /><Relationship Type="http://schemas.openxmlformats.org/officeDocument/2006/relationships/notesMaster" Target="/ppt/notesMasters/notesMaster1.xml" Id="R051c1ce1f2b94a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03e956679b4567" /><Relationship Type="http://schemas.openxmlformats.org/officeDocument/2006/relationships/notesMaster" Target="/ppt/notesMasters/notesMaster1.xml" Id="R82edf71ecab845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f2d3ab76f046fa" /><Relationship Type="http://schemas.openxmlformats.org/officeDocument/2006/relationships/notesMaster" Target="/ppt/notesMasters/notesMaster1.xml" Id="Ra74e6ae469c24f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a10dfe2b464354" /><Relationship Type="http://schemas.openxmlformats.org/officeDocument/2006/relationships/notesMaster" Target="/ppt/notesMasters/notesMaster1.xml" Id="Ra13f5e5846f547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4e00a5b6c7491b" /><Relationship Type="http://schemas.openxmlformats.org/officeDocument/2006/relationships/notesMaster" Target="/ppt/notesMasters/notesMaster1.xml" Id="R31dfbacbe7c44b1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7d94f515054930" /><Relationship Type="http://schemas.openxmlformats.org/officeDocument/2006/relationships/notesMaster" Target="/ppt/notesMasters/notesMaster1.xml" Id="Rfc16164b3c6245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b0223cd1224c11" /><Relationship Type="http://schemas.openxmlformats.org/officeDocument/2006/relationships/notesMaster" Target="/ppt/notesMasters/notesMaster1.xml" Id="R5d48e2406e3248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ae100c8f054961" /><Relationship Type="http://schemas.openxmlformats.org/officeDocument/2006/relationships/notesMaster" Target="/ppt/notesMasters/notesMaster1.xml" Id="R5eba145d297c4e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60553e779f45a5" /><Relationship Type="http://schemas.openxmlformats.org/officeDocument/2006/relationships/notesMaster" Target="/ppt/notesMasters/notesMaster1.xml" Id="R3d592502822a4b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769ecdf80f469a" /><Relationship Type="http://schemas.openxmlformats.org/officeDocument/2006/relationships/notesMaster" Target="/ppt/notesMasters/notesMaster1.xml" Id="Rdc4c3543949b43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3f9fd2f5fb4881" /><Relationship Type="http://schemas.openxmlformats.org/officeDocument/2006/relationships/notesMaster" Target="/ppt/notesMasters/notesMaster1.xml" Id="R61f319cb4c494e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50a70d2c0f84239" /><Relationship Type="http://schemas.openxmlformats.org/officeDocument/2006/relationships/notesMaster" Target="/ppt/notesMasters/notesMaster1.xml" Id="Rc75533b8ea97417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9e6a42167a4ad6" /><Relationship Type="http://schemas.openxmlformats.org/officeDocument/2006/relationships/notesMaster" Target="/ppt/notesMasters/notesMaster1.xml" Id="Rb6fa13a9241648c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21a65e2606e44f2" /><Relationship Type="http://schemas.openxmlformats.org/officeDocument/2006/relationships/notesMaster" Target="/ppt/notesMasters/notesMaster1.xml" Id="R73b391564d504d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6280b6d23b4565" /><Relationship Type="http://schemas.openxmlformats.org/officeDocument/2006/relationships/notesMaster" Target="/ppt/notesMasters/notesMaster1.xml" Id="R92d4e83f8f65424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185bffae4d94206" /><Relationship Type="http://schemas.openxmlformats.org/officeDocument/2006/relationships/notesMaster" Target="/ppt/notesMasters/notesMaster1.xml" Id="R249740cf318d4f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bac946f3b3d4307" /><Relationship Type="http://schemas.openxmlformats.org/officeDocument/2006/relationships/notesMaster" Target="/ppt/notesMasters/notesMaster1.xml" Id="Re6b4f1dbd88b416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230d35541e44d1e" /><Relationship Type="http://schemas.openxmlformats.org/officeDocument/2006/relationships/notesMaster" Target="/ppt/notesMasters/notesMaster1.xml" Id="R6f6b7e1438e344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de9d688e067402b" /><Relationship Type="http://schemas.openxmlformats.org/officeDocument/2006/relationships/notesMaster" Target="/ppt/notesMasters/notesMaster1.xml" Id="R031a46494f03454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03fa73b5384034" /><Relationship Type="http://schemas.openxmlformats.org/officeDocument/2006/relationships/notesMaster" Target="/ppt/notesMasters/notesMaster1.xml" Id="Rde1988dfdc6b441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72bde0efe3f4d3b" /><Relationship Type="http://schemas.openxmlformats.org/officeDocument/2006/relationships/notesMaster" Target="/ppt/notesMasters/notesMaster1.xml" Id="R239b11a0a9aa43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5da9027f07044af" /><Relationship Type="http://schemas.openxmlformats.org/officeDocument/2006/relationships/notesMaster" Target="/ppt/notesMasters/notesMaster1.xml" Id="R2062e9883030441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c6f3c5d3b534c0d" /><Relationship Type="http://schemas.openxmlformats.org/officeDocument/2006/relationships/notesMaster" Target="/ppt/notesMasters/notesMaster1.xml" Id="R6e5a8e8f38c948b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6304ae938c34902" /><Relationship Type="http://schemas.openxmlformats.org/officeDocument/2006/relationships/notesMaster" Target="/ppt/notesMasters/notesMaster1.xml" Id="R974f5cb8c76f4a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장표는 3시간 워크샵 시작 전에 보여준다.</a:t>
            </a:r>
          </a:p>
          <a:p xmlns:a="http://schemas.openxmlformats.org/drawingml/2006/main">
            <a:r>
              <a:t>핵심 메시지: 오늘 산출물은 팀별 AX 프로젝트 후보 1장이다.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전반의 산출물을 명확히 한다.</a:t>
            </a:r>
          </a:p>
          <a:p xmlns:a="http://schemas.openxmlformats.org/drawingml/2006/main">
            <a:r>
              <a:t>아이디어 개수를 늘리는 시간이 아니라 실행 가능한 하나의 팀 과제를 고르는 시간이라고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시간표는 실제 운영용이다.</a:t>
            </a:r>
          </a:p>
          <a:p xmlns:a="http://schemas.openxmlformats.org/drawingml/2006/main">
            <a:r>
              <a:t>팀별 발표 시간이 밀리지 않도록 18:10 이후에는 타이머를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선택 기준을 먼저 합의한다.</a:t>
            </a:r>
          </a:p>
          <a:p xmlns:a="http://schemas.openxmlformats.org/drawingml/2006/main">
            <a:r>
              <a:t>보안과 자료 준비 가능성은 후속 구현의 병목이 되므로 초기에 제외 기준으로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팀빌딩 시 역할을 먼저 배정하면 토론이 빨라진다.</a:t>
            </a:r>
          </a:p>
          <a:p xmlns:a="http://schemas.openxmlformats.org/drawingml/2006/main">
            <a:r>
              <a:t>한 명이 두 역할을 겸해도 되지만 최종 책임자는 분리한다.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과제 발굴: 본인 업무에서 후보를 3개 찾습니다.</a:t>
            </a:r>
          </a:p>
          <a:p xmlns:a="http://schemas.openxmlformats.org/drawingml/2006/main">
            <a:r>
              <a:t>개인 작성 10분 → 옆 사람 공유 5분 → 가장 강한 후보 1개 표시 5분</a:t>
            </a:r>
          </a:p>
          <a:p xmlns:a="http://schemas.openxmlformats.org/drawingml/2006/main">
            <a:r>
              <a:t>개인별 후보 3개와 우선 후보 1개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개인 작성 10분, 옆 사람 공유 10분.</a:t>
            </a:r>
          </a:p>
          <a:p xmlns:a="http://schemas.openxmlformats.org/drawingml/2006/main">
            <a:r>
              <a:t>후보는 크고 멋진 프로젝트보다 반복 업무 중심으로 유도한다.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예시는 특정 부서에 제한하지 않는다.</a:t>
            </a:r>
          </a:p>
          <a:p xmlns:a="http://schemas.openxmlformats.org/drawingml/2006/main">
            <a:r>
              <a:t>참여자들이 본인 업무명을 바로 떠올리도록 입력물과 출력물을 묻는다.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후보 점수화: 실행 가능한 후보를 고릅니다.</a:t>
            </a:r>
          </a:p>
          <a:p xmlns:a="http://schemas.openxmlformats.org/drawingml/2006/main">
            <a:r>
              <a:t>후보별 5개 기준 점수화 → 제외 조건 확인 → 팀 토론용 후보 1-2개 선정</a:t>
            </a:r>
          </a:p>
          <a:p xmlns:a="http://schemas.openxmlformats.org/drawingml/2006/main">
            <a:r>
              <a:t>팀 토론으로 가져갈 후보 목록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점수보다 제외 조건을 우선한다.</a:t>
            </a:r>
          </a:p>
          <a:p xmlns:a="http://schemas.openxmlformats.org/drawingml/2006/main">
            <a:r>
              <a:t>안전한 샘플 자료 준비가 불가능한 후보는 8월 구현 과제로 넘기지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팀빌딩: 3인 1조, 총 5개 프로젝트팀을 확정합니다.</a:t>
            </a:r>
          </a:p>
          <a:p xmlns:a="http://schemas.openxmlformats.org/drawingml/2006/main">
            <a:r>
              <a:t>업무 오너, 구현 담당, 검증·발표 담당을 먼저 정하고 주제 축을 선택</a:t>
            </a:r>
          </a:p>
          <a:p xmlns:a="http://schemas.openxmlformats.org/drawingml/2006/main">
            <a:r>
              <a:t>5개 팀 구성표와 팀별 1순위 업무 문제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 구성 후 반드시 역할을 적게 한다.</a:t>
            </a:r>
          </a:p>
          <a:p xmlns:a="http://schemas.openxmlformats.org/drawingml/2006/main">
            <a:r>
              <a:t>같은 부서끼리만 묶이지 않도록 퍼실리테이터가 조정한다.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Canvas의 목적은 회의록이 아니라 구현 입력값이다.</a:t>
            </a:r>
          </a:p>
          <a:p xmlns:a="http://schemas.openxmlformats.org/drawingml/2006/main">
            <a:r>
              <a:t>모든 팀이 같은 양식으로 작성해야 8월 멘토링이 가능하다.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Canvas A: 문제와 현재 업무 방식을 씁니다.</a:t>
            </a:r>
          </a:p>
          <a:p xmlns:a="http://schemas.openxmlformats.org/drawingml/2006/main">
            <a:r>
              <a:t>팀 토론 20분 → 업무 문제 한 문장 확정 → 현재 입력/출력/병목 정리</a:t>
            </a:r>
          </a:p>
          <a:p xmlns:a="http://schemas.openxmlformats.org/drawingml/2006/main">
            <a:r>
              <a:t>업무 문제, 현재 방식, 병목, 산출물 정의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업무를 충분히 설명하지 못하면 AI 역할도 모호해진다.</a:t>
            </a:r>
          </a:p>
          <a:p xmlns:a="http://schemas.openxmlformats.org/drawingml/2006/main">
            <a:r>
              <a:t>문제를 기능명으로 쓰지 말고 업무 병목 문장으로 쓰게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Canvas B: AI 보조 역할과 사람 검토 기준을 나눕니다.</a:t>
            </a:r>
          </a:p>
          <a:p xmlns:a="http://schemas.openxmlformats.org/drawingml/2006/main">
            <a:r>
              <a:t>AI 역할 선택 → 사용 금지 자료 표시 → 품질·보안·승인 기준 작성</a:t>
            </a:r>
          </a:p>
          <a:p xmlns:a="http://schemas.openxmlformats.org/drawingml/2006/main">
            <a:r>
              <a:t>AI Agent 흐름 초안과 검증 기준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AI가 보조하는 일과 사람이 검토·승인하는 일을 분리하게 한다.</a:t>
            </a:r>
          </a:p>
          <a:p xmlns:a="http://schemas.openxmlformats.org/drawingml/2006/main">
            <a:r>
              <a:t>스파로스 데브엑스 활용 전제를 명시한다.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데모 범위 고정: 시연 장면을 하나로 좁힙니다.</a:t>
            </a:r>
          </a:p>
          <a:p xmlns:a="http://schemas.openxmlformats.org/drawingml/2006/main">
            <a:r>
              <a:t>데모 장면, 샘플 데이터, 성공 기준, 제외 범위를 한 장에 작성</a:t>
            </a:r>
          </a:p>
          <a:p xmlns:a="http://schemas.openxmlformats.org/drawingml/2006/main">
            <a:r>
              <a:t>8월 21일 구현 범위와 준비물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범위가 커지는 것을 막는 장표다.</a:t>
            </a:r>
          </a:p>
          <a:p xmlns:a="http://schemas.openxmlformats.org/drawingml/2006/main">
            <a:r>
              <a:t>8월 21일 이전 준비물까지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팀별 1차 발표: 5분 안에 과제 방향을 공유합니다.</a:t>
            </a:r>
          </a:p>
          <a:p xmlns:a="http://schemas.openxmlformats.org/drawingml/2006/main">
            <a:r>
              <a:t>5개 팀 x 5분 발표. 질문은 발표 후 피드백 기록지에 남김</a:t>
            </a:r>
          </a:p>
          <a:p xmlns:a="http://schemas.openxmlformats.org/drawingml/2006/main">
            <a:r>
              <a:t>팀별 발표 내용과 개선 질문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팀별 발표는 5분을 넘기지 않는다.</a:t>
            </a:r>
          </a:p>
          <a:p xmlns:a="http://schemas.openxmlformats.org/drawingml/2006/main">
            <a:r>
              <a:t>발표가 솔루션 판매처럼 흐르면 현재 업무와 자료 준비로 되돌린다.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피드백은 비판이 아니라 구현 가능성을 높이는 질문이다.</a:t>
            </a:r>
          </a:p>
          <a:p xmlns:a="http://schemas.openxmlformats.org/drawingml/2006/main">
            <a:r>
              <a:t>각 팀은 받은 질문 중 1개 이상을 준비계획에 반영하게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참여자에게 각 팀당 한 줄씩 쓰게 한다.</a:t>
            </a:r>
          </a:p>
          <a:p xmlns:a="http://schemas.openxmlformats.org/drawingml/2006/main">
            <a:r>
              <a:t>마지막 보완 시간에 발표 팀이 피드백을 보고 준비 계획을 수정한다.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8월 준비계획 확정: 다음 수업 전까지 할 일을 배정합니다.</a:t>
            </a:r>
          </a:p>
          <a:p xmlns:a="http://schemas.openxmlformats.org/drawingml/2006/main">
            <a:r>
              <a:t>팀별 피드백 반영 → 샘플 자료/금지 자료/담당자/마감 작성</a:t>
            </a:r>
          </a:p>
          <a:p xmlns:a="http://schemas.openxmlformats.org/drawingml/2006/main">
            <a:r>
              <a:t>팀별 사전 준비 목록과 담당자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팀이 이 장표를 완성하지 못하면 8월 구현 수업이 지연된다.</a:t>
            </a:r>
          </a:p>
          <a:p xmlns:a="http://schemas.openxmlformats.org/drawingml/2006/main">
            <a:r>
              <a:t>실데이터를 쓰기 어렵다면 익명 샘플을 준비하게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후속 수업의 목적을 다시 연결한다.</a:t>
            </a:r>
          </a:p>
          <a:p xmlns:a="http://schemas.openxmlformats.org/drawingml/2006/main">
            <a:r>
              <a:t>오늘 확정한 과제는 8월에 실제 구현해야 하므로 준비물을 반드시 남기게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마지막 5분에 이 체크리스트를 보며 팀별 제출 상태를 확인한다.</a:t>
            </a:r>
          </a:p>
          <a:p xmlns:a="http://schemas.openxmlformats.org/drawingml/2006/main">
            <a:r>
              <a:t>모든 팀은 최소 Project Canvas 1장을 완성해야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41cda3f32b4f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3ae83e13d74ef2" /><Relationship Type="http://schemas.openxmlformats.org/officeDocument/2006/relationships/slideLayout" Target="/ppt/slideLayouts/slideLayout1.xml" Id="Rbdd277c021e14f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d277c021e14f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7207fe8554a4b" /><Relationship Type="http://schemas.openxmlformats.org/officeDocument/2006/relationships/notesSlide" Target="/ppt/notesSlides/notesSlide1.xml" Id="R4565682653f74e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e2efca4a343e7" /><Relationship Type="http://schemas.openxmlformats.org/officeDocument/2006/relationships/notesSlide" Target="/ppt/notesSlides/notesSlide2.xml" Id="R579457ce400347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703ac06c54ffb" /><Relationship Type="http://schemas.openxmlformats.org/officeDocument/2006/relationships/notesSlide" Target="/ppt/notesSlides/notesSlide3.xml" Id="R4b9eef3434f941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7f2f31575469a" /><Relationship Type="http://schemas.openxmlformats.org/officeDocument/2006/relationships/notesSlide" Target="/ppt/notesSlides/notesSlide4.xml" Id="Rb126925349144f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3254809104513" /><Relationship Type="http://schemas.openxmlformats.org/officeDocument/2006/relationships/notesSlide" Target="/ppt/notesSlides/notesSlide5.xml" Id="R127a4e63fc2d4d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5fe9b10fd4621" /><Relationship Type="http://schemas.openxmlformats.org/officeDocument/2006/relationships/notesSlide" Target="/ppt/notesSlides/notesSlide6.xml" Id="Rfe336f87791a4a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2f6fa27234fff" /><Relationship Type="http://schemas.openxmlformats.org/officeDocument/2006/relationships/notesSlide" Target="/ppt/notesSlides/notesSlide7.xml" Id="R31afe95038f049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2ce1487cd4e06" /><Relationship Type="http://schemas.openxmlformats.org/officeDocument/2006/relationships/notesSlide" Target="/ppt/notesSlides/notesSlide8.xml" Id="R50da845fefbc41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3119bc0f4aa4" /><Relationship Type="http://schemas.openxmlformats.org/officeDocument/2006/relationships/notesSlide" Target="/ppt/notesSlides/notesSlide9.xml" Id="Rc3628084624e42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30afd5ad5426f" /><Relationship Type="http://schemas.openxmlformats.org/officeDocument/2006/relationships/notesSlide" Target="/ppt/notesSlides/notesSlide10.xml" Id="R5637f42faa004c6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d56c499254b6c" /><Relationship Type="http://schemas.openxmlformats.org/officeDocument/2006/relationships/notesSlide" Target="/ppt/notesSlides/notesSlide11.xml" Id="Rf8049c75eebe44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247444e31b4856" /><Relationship Type="http://schemas.openxmlformats.org/officeDocument/2006/relationships/notesSlide" Target="/ppt/notesSlides/notesSlide12.xml" Id="Reb880ba3894e47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34f062b1a4c04" /><Relationship Type="http://schemas.openxmlformats.org/officeDocument/2006/relationships/notesSlide" Target="/ppt/notesSlides/notesSlide13.xml" Id="R4a7f8861e3fe4ff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a4876d8754eaf" /><Relationship Type="http://schemas.openxmlformats.org/officeDocument/2006/relationships/notesSlide" Target="/ppt/notesSlides/notesSlide14.xml" Id="Rc013730fbf1a48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15fb3812644a0" /><Relationship Type="http://schemas.openxmlformats.org/officeDocument/2006/relationships/notesSlide" Target="/ppt/notesSlides/notesSlide15.xml" Id="R310299fa5a924f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87532a0c68487d" /><Relationship Type="http://schemas.openxmlformats.org/officeDocument/2006/relationships/notesSlide" Target="/ppt/notesSlides/notesSlide16.xml" Id="R732a342218e448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f8315fdb74e24" /><Relationship Type="http://schemas.openxmlformats.org/officeDocument/2006/relationships/notesSlide" Target="/ppt/notesSlides/notesSlide17.xml" Id="Ra970171a976c44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4271bdbd64c75" /><Relationship Type="http://schemas.openxmlformats.org/officeDocument/2006/relationships/notesSlide" Target="/ppt/notesSlides/notesSlide18.xml" Id="Re310fb458c4e4f2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2f7d097fe4af2" /><Relationship Type="http://schemas.openxmlformats.org/officeDocument/2006/relationships/notesSlide" Target="/ppt/notesSlides/notesSlide19.xml" Id="R8f992507d3cd46e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48d21ef4646bc" /><Relationship Type="http://schemas.openxmlformats.org/officeDocument/2006/relationships/notesSlide" Target="/ppt/notesSlides/notesSlide20.xml" Id="R4ba92e0963db499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864857c7c4a78" /><Relationship Type="http://schemas.openxmlformats.org/officeDocument/2006/relationships/notesSlide" Target="/ppt/notesSlides/notesSlide21.xml" Id="Rc94f0b9d2b2641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dad1a7d2b4b84" /><Relationship Type="http://schemas.openxmlformats.org/officeDocument/2006/relationships/notesSlide" Target="/ppt/notesSlides/notesSlide22.xml" Id="Ra2daac52f21a44e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d14017e5e4b20" /><Relationship Type="http://schemas.openxmlformats.org/officeDocument/2006/relationships/notesSlide" Target="/ppt/notesSlides/notesSlide23.xml" Id="R93387efdc66e40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249c61372427c" /><Relationship Type="http://schemas.openxmlformats.org/officeDocument/2006/relationships/notesSlide" Target="/ppt/notesSlides/notesSlide24.xml" Id="R6e86815ee7944e6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f0e7de586f4820" /><Relationship Type="http://schemas.openxmlformats.org/officeDocument/2006/relationships/notesSlide" Target="/ppt/notesSlides/notesSlide25.xml" Id="Rbdf8059f90244c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96384b1414d62" /><Relationship Type="http://schemas.openxmlformats.org/officeDocument/2006/relationships/notesSlide" Target="/ppt/notesSlides/notesSlide26.xml" Id="R38939cd4dca14f7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6ba15120f49dc" /><Relationship Type="http://schemas.openxmlformats.org/officeDocument/2006/relationships/notesSlide" Target="/ppt/notesSlides/notesSlide27.xml" Id="R7fb3d6fe68a54945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3B8AF2"/>
            </a:gs>
            <a:gs pos="100000">
              <a:srgbClr val="1455A6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8D496CF5-386C-42E7-8C88-CCED7C38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952500"/>
            <a:ext cx="3619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C452BFBD-4D77-4C14-B09B-A49E49B4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90500" y="-1028700"/>
            <a:ext cx="2857500" cy="2476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" name="cover-orb-1">
            <a:extLst xmlns:a="http://schemas.openxmlformats.org/drawingml/2006/main">
              <a:ext uri="{FF2B5EF4-FFF2-40B4-BE49-F238E27FC236}">
                <a16:creationId xmlns:a16="http://schemas.microsoft.com/office/drawing/2014/main" id="{6AC1F342-DF89-4A1C-9FEC-C814C3AE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371475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B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orb-2">
            <a:extLst xmlns:a="http://schemas.openxmlformats.org/drawingml/2006/main">
              <a:ext uri="{FF2B5EF4-FFF2-40B4-BE49-F238E27FC236}">
                <a16:creationId xmlns:a16="http://schemas.microsoft.com/office/drawing/2014/main" id="{77771A61-D210-4BE2-9964-E9E75701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0100"/>
            <a:ext cx="3238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E8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-dot-1">
            <a:extLst xmlns:a="http://schemas.openxmlformats.org/drawingml/2006/main">
              <a:ext uri="{FF2B5EF4-FFF2-40B4-BE49-F238E27FC236}">
                <a16:creationId xmlns:a16="http://schemas.microsoft.com/office/drawing/2014/main" id="{B0FE50C5-55F2-40BC-A606-647707C7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go-dot-2">
            <a:extLst xmlns:a="http://schemas.openxmlformats.org/drawingml/2006/main">
              <a:ext uri="{FF2B5EF4-FFF2-40B4-BE49-F238E27FC236}">
                <a16:creationId xmlns:a16="http://schemas.microsoft.com/office/drawing/2014/main" id="{00175EB7-B506-4247-84D0-3F973E40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wordmark">
            <a:extLst xmlns:a="http://schemas.openxmlformats.org/drawingml/2006/main">
              <a:ext uri="{FF2B5EF4-FFF2-40B4-BE49-F238E27FC236}">
                <a16:creationId xmlns:a16="http://schemas.microsoft.com/office/drawing/2014/main" id="{E95345FA-FCAA-406A-9C3D-8BC05E75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A1293C5-FD7B-4DE7-975C-FACEC725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 Native EPM (AI4PM)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6B9A52D-FA8B-40AB-A82D-BA27F361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5905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6월 26일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3시간 워크샵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4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진행자료</a:t>
            </a:r>
          </a:p>
        </p:txBody>
      </p:sp>
      <p:sp>
        <p:nvSpPr>
          <p:cNvPr id="10" name="cover-line">
            <a:extLst xmlns:a="http://schemas.openxmlformats.org/drawingml/2006/main">
              <a:ext uri="{FF2B5EF4-FFF2-40B4-BE49-F238E27FC236}">
                <a16:creationId xmlns:a16="http://schemas.microsoft.com/office/drawing/2014/main" id="{C0C54C14-B370-42AF-8454-5B31D6B99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891BE98-A410-4F3E-9E85-D11BB95F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이론 수업 이후 16:00-19:00</a:t>
            </a:r>
          </a:p>
          <a:p xmlns:a="http://schemas.openxmlformats.org/drawingml/2006/main">
            <a:pPr algn="l">
              <a:defRPr sz="1800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팀빌딩 · 과제 발굴 · 8월 실행 준비</a:t>
            </a:r>
          </a:p>
        </p:txBody>
      </p:sp>
      <p:sp>
        <p:nvSpPr>
          <p:cNvPr id="12" name="cover-panel">
            <a:extLst xmlns:a="http://schemas.openxmlformats.org/drawingml/2006/main">
              <a:ext uri="{FF2B5EF4-FFF2-40B4-BE49-F238E27FC236}">
                <a16:creationId xmlns:a16="http://schemas.microsoft.com/office/drawing/2014/main" id="{0CE8C556-5661-40F2-BC96-5B1E0382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85900"/>
            <a:ext cx="3048000" cy="2971800"/>
          </a:xfrm>
          <a:prstGeom xmlns:a="http://schemas.openxmlformats.org/drawingml/2006/main" prst="roundRect">
            <a:avLst>
              <a:gd name="adj" fmla="val 8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over-metric">
            <a:extLst xmlns:a="http://schemas.openxmlformats.org/drawingml/2006/main">
              <a:ext uri="{FF2B5EF4-FFF2-40B4-BE49-F238E27FC236}">
                <a16:creationId xmlns:a16="http://schemas.microsoft.com/office/drawing/2014/main" id="{6A31BE38-A177-4618-B284-800D10A4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238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15명</a:t>
            </a:r>
          </a:p>
          <a:p xmlns:a="http://schemas.openxmlformats.org/drawingml/2006/main">
            <a:pPr algn="l">
              <a:defRPr sz="28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3인 1조</a:t>
            </a:r>
          </a:p>
          <a:p xmlns:a="http://schemas.openxmlformats.org/drawingml/2006/main">
            <a:pPr algn="l">
              <a:defRPr sz="2850" b="1">
                <a:solidFill>
                  <a:srgbClr val="0D4D9F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0D4D9F"/>
                </a:solidFill>
                <a:latin typeface="Pretendard"/>
                <a:ea typeface="Pretendard"/>
                <a:cs typeface="Pretendard"/>
              </a:rPr>
              <a:t>5개 팀</a:t>
            </a:r>
          </a:p>
        </p:txBody>
      </p:sp>
      <p:sp>
        <p:nvSpPr>
          <p:cNvPr id="14" name="cover-note">
            <a:extLst xmlns:a="http://schemas.openxmlformats.org/drawingml/2006/main">
              <a:ext uri="{FF2B5EF4-FFF2-40B4-BE49-F238E27FC236}">
                <a16:creationId xmlns:a16="http://schemas.microsoft.com/office/drawing/2014/main" id="{944508B9-84CE-47BD-80F1-D0E1BF85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09950"/>
            <a:ext cx="23622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오늘의 목적은 아이디어 확장이 아니라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8월 21일에 구현할 업무 과제 확정입니다.</a:t>
            </a:r>
          </a:p>
        </p:txBody>
      </p:sp>
      <p:sp>
        <p:nvSpPr>
          <p:cNvPr id="15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3D2935C-B975-4A93-8305-0974F04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17874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3C6A3A9A-B039-4875-98F4-E739600D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92219F06-C541-4CE2-8291-E0238C72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0CED7460-66F1-4634-B096-082E8787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75CE8535-E89B-40D9-82B1-51212D1C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97AC6332-A699-495E-A472-ED93A2F2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3129BACA-C78E-4938-A760-101D3AEF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WORKSHOP OUTCOME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54CA4AD-032C-4F16-A325-6B21B548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강의 내용을 현업 AX 실행 과제로 바꾸는 시간입니다.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C5134D07-351C-45C9-B631-09896381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3시간 뒤 각 팀은 8월 21일 구현 수업으로 가져갈 문제, 자료, 역할, 데모 목표를 확정합니다.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72756C58-2050-4EE5-A47B-4D169428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AFF26AD4-2E9C-4E62-B458-6DE9AB43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95A653D0-2C77-45D3-89B0-B3734CAE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7145791-03D0-42F7-A0A3-7924CCDE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3" name="card-01">
            <a:extLst xmlns:a="http://schemas.openxmlformats.org/drawingml/2006/main">
              <a:ext uri="{FF2B5EF4-FFF2-40B4-BE49-F238E27FC236}">
                <a16:creationId xmlns:a16="http://schemas.microsoft.com/office/drawing/2014/main" id="{64B261C8-720B-4F79-BFBE-D11E2E62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5527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883E4EA-2702-4F03-A3C5-31364D3B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E858F5A7-725F-4D65-A158-EF97BEB9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2C7A4070-7D7C-4774-B428-64294774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해결할 업무 문제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BD250DAA-FEBC-4F10-885C-75F5947E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반복, 병목, 검토, 보고, 현업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요청 중 하나를 한 문장으로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고정합니다.</a:t>
            </a:r>
          </a:p>
        </p:txBody>
      </p:sp>
      <p:sp>
        <p:nvSpPr>
          <p:cNvPr id="18" name="card-02">
            <a:extLst xmlns:a="http://schemas.openxmlformats.org/drawingml/2006/main">
              <a:ext uri="{FF2B5EF4-FFF2-40B4-BE49-F238E27FC236}">
                <a16:creationId xmlns:a16="http://schemas.microsoft.com/office/drawing/2014/main" id="{9DABD813-07A5-4CCA-A262-00ACC183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25527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18869F0-6640-4A1B-8640-8F414616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19A4381E-BB3C-4DDD-BE68-D24436C6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6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F97146B9-E20A-47A8-82B7-01D438BD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52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AI가 보조할 일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50A1B40E-4084-4C1E-902F-CC0211B7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6710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검색, 분류, 요약, 초안 작성,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코드 생성, 체크리스트 검증 중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역할을 정합니다.</a:t>
            </a:r>
          </a:p>
        </p:txBody>
      </p:sp>
      <p:sp>
        <p:nvSpPr>
          <p:cNvPr id="23" name="card-03">
            <a:extLst xmlns:a="http://schemas.openxmlformats.org/drawingml/2006/main">
              <a:ext uri="{FF2B5EF4-FFF2-40B4-BE49-F238E27FC236}">
                <a16:creationId xmlns:a16="http://schemas.microsoft.com/office/drawing/2014/main" id="{740D7276-F8D7-4E2C-BDEE-E7AB3EA8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5527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C81B1F4-1F3D-4B26-B90C-3F6454DB2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9600E6B7-F4D3-48BA-9B08-CAF2843A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68F8C6B2-2127-4620-B4E9-2B1E2835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사람의 검토 기준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0381183A-78F3-4D95-A859-E5095856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정확도, 보안, 승인, 대외 전달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여부 등 확인 지점을 먼저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정합니다.</a:t>
            </a:r>
          </a:p>
        </p:txBody>
      </p:sp>
      <p:sp>
        <p:nvSpPr>
          <p:cNvPr id="28" name="card-04">
            <a:extLst xmlns:a="http://schemas.openxmlformats.org/drawingml/2006/main">
              <a:ext uri="{FF2B5EF4-FFF2-40B4-BE49-F238E27FC236}">
                <a16:creationId xmlns:a16="http://schemas.microsoft.com/office/drawing/2014/main" id="{E3196952-B15F-4285-81A9-F8DEEBA6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25527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4E1874C-0E29-4E63-B959-09938835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label">
            <a:extLst xmlns:a="http://schemas.openxmlformats.org/drawingml/2006/main">
              <a:ext uri="{FF2B5EF4-FFF2-40B4-BE49-F238E27FC236}">
                <a16:creationId xmlns:a16="http://schemas.microsoft.com/office/drawing/2014/main" id="{7E9F0294-9FF5-49FD-A85C-B0333C7C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67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AC91CA5A-491D-4588-835C-E948532C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527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구현 목표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81564A89-8A7F-47E3-8DD2-C3AE7D57F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67100"/>
            <a:ext cx="209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완성품이 아니라 8시간 안에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시연할 핵심 흐름을 정의합니다.</a:t>
            </a:r>
          </a:p>
        </p:txBody>
      </p:sp>
      <p:sp>
        <p:nvSpPr>
          <p:cNvPr id="33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01B5F14C-B462-465F-B1AE-5BC0E118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765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4" name="timeline-time">
            <a:extLst xmlns:a="http://schemas.openxmlformats.org/drawingml/2006/main">
              <a:ext uri="{FF2B5EF4-FFF2-40B4-BE49-F238E27FC236}">
                <a16:creationId xmlns:a16="http://schemas.microsoft.com/office/drawing/2014/main" id="{E21E27B9-2D2C-4AC5-A231-663FABB2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53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16:00</a:t>
            </a:r>
          </a:p>
        </p:txBody>
      </p:sp>
      <p:sp>
        <p:nvSpPr>
          <p:cNvPr id="35" name="timeline-text">
            <a:extLst xmlns:a="http://schemas.openxmlformats.org/drawingml/2006/main">
              <a:ext uri="{FF2B5EF4-FFF2-40B4-BE49-F238E27FC236}">
                <a16:creationId xmlns:a16="http://schemas.microsoft.com/office/drawing/2014/main" id="{6A12A94C-01E2-45B4-855C-3D07F5DF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53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목표 전환</a:t>
            </a:r>
          </a:p>
        </p:txBody>
      </p:sp>
      <p:sp>
        <p:nvSpPr>
          <p:cNvPr id="36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47925E7B-DBA0-4831-B5EF-77FB1DEB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5657850"/>
            <a:ext cx="1765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7" name="timeline-time">
            <a:extLst xmlns:a="http://schemas.openxmlformats.org/drawingml/2006/main">
              <a:ext uri="{FF2B5EF4-FFF2-40B4-BE49-F238E27FC236}">
                <a16:creationId xmlns:a16="http://schemas.microsoft.com/office/drawing/2014/main" id="{E6F59CB0-6D4F-4258-B233-B6355CFA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5753100"/>
            <a:ext cx="153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16:10</a:t>
            </a:r>
          </a:p>
        </p:txBody>
      </p:sp>
      <p:sp>
        <p:nvSpPr>
          <p:cNvPr id="38" name="timeline-text">
            <a:extLst xmlns:a="http://schemas.openxmlformats.org/drawingml/2006/main">
              <a:ext uri="{FF2B5EF4-FFF2-40B4-BE49-F238E27FC236}">
                <a16:creationId xmlns:a16="http://schemas.microsoft.com/office/drawing/2014/main" id="{8C6681B6-A11F-45A6-9823-751F8599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5943600"/>
            <a:ext cx="153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개인 발굴</a:t>
            </a:r>
          </a:p>
        </p:txBody>
      </p:sp>
      <p:sp>
        <p:nvSpPr>
          <p:cNvPr id="39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96B941FB-9D1F-4307-A44A-B6BFF569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5657850"/>
            <a:ext cx="1765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0" name="timeline-time">
            <a:extLst xmlns:a="http://schemas.openxmlformats.org/drawingml/2006/main">
              <a:ext uri="{FF2B5EF4-FFF2-40B4-BE49-F238E27FC236}">
                <a16:creationId xmlns:a16="http://schemas.microsoft.com/office/drawing/2014/main" id="{FBC24D52-E1C6-41E2-9379-A54EC85B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753100"/>
            <a:ext cx="153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16:45</a:t>
            </a:r>
          </a:p>
        </p:txBody>
      </p:sp>
      <p:sp>
        <p:nvSpPr>
          <p:cNvPr id="41" name="timeline-text">
            <a:extLst xmlns:a="http://schemas.openxmlformats.org/drawingml/2006/main">
              <a:ext uri="{FF2B5EF4-FFF2-40B4-BE49-F238E27FC236}">
                <a16:creationId xmlns:a16="http://schemas.microsoft.com/office/drawing/2014/main" id="{FBF7D0B6-AB26-460A-BB35-9E0B6B491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943600"/>
            <a:ext cx="153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 구성</a:t>
            </a:r>
          </a:p>
        </p:txBody>
      </p:sp>
      <p:sp>
        <p:nvSpPr>
          <p:cNvPr id="42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8B1FA70F-A1BF-491F-946A-F3E52176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57850"/>
            <a:ext cx="1765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3" name="timeline-time">
            <a:extLst xmlns:a="http://schemas.openxmlformats.org/drawingml/2006/main">
              <a:ext uri="{FF2B5EF4-FFF2-40B4-BE49-F238E27FC236}">
                <a16:creationId xmlns:a16="http://schemas.microsoft.com/office/drawing/2014/main" id="{FF2C061E-3DD1-485D-846E-28425BFD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53100"/>
            <a:ext cx="153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17:05</a:t>
            </a:r>
          </a:p>
        </p:txBody>
      </p:sp>
      <p:sp>
        <p:nvSpPr>
          <p:cNvPr id="44" name="timeline-text">
            <a:extLst xmlns:a="http://schemas.openxmlformats.org/drawingml/2006/main">
              <a:ext uri="{FF2B5EF4-FFF2-40B4-BE49-F238E27FC236}">
                <a16:creationId xmlns:a16="http://schemas.microsoft.com/office/drawing/2014/main" id="{CC42AF08-8FAD-48F8-98B3-141E95E6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943600"/>
            <a:ext cx="153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캔버스</a:t>
            </a:r>
          </a:p>
        </p:txBody>
      </p:sp>
      <p:sp>
        <p:nvSpPr>
          <p:cNvPr id="45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B6D22866-3B9D-492E-B141-D087E606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5600" y="5657850"/>
            <a:ext cx="1765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6" name="timeline-time">
            <a:extLst xmlns:a="http://schemas.openxmlformats.org/drawingml/2006/main">
              <a:ext uri="{FF2B5EF4-FFF2-40B4-BE49-F238E27FC236}">
                <a16:creationId xmlns:a16="http://schemas.microsoft.com/office/drawing/2014/main" id="{19DBE661-2F3F-4601-A03A-F9E4A748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5753100"/>
            <a:ext cx="153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18:10</a:t>
            </a:r>
          </a:p>
        </p:txBody>
      </p:sp>
      <p:sp>
        <p:nvSpPr>
          <p:cNvPr id="47" name="timeline-text">
            <a:extLst xmlns:a="http://schemas.openxmlformats.org/drawingml/2006/main">
              <a:ext uri="{FF2B5EF4-FFF2-40B4-BE49-F238E27FC236}">
                <a16:creationId xmlns:a16="http://schemas.microsoft.com/office/drawing/2014/main" id="{8552569A-262B-484C-974D-69B24AB3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5943600"/>
            <a:ext cx="153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발표</a:t>
            </a:r>
          </a:p>
        </p:txBody>
      </p:sp>
      <p:sp>
        <p:nvSpPr>
          <p:cNvPr id="48" name="timeline-cell">
            <a:extLst xmlns:a="http://schemas.openxmlformats.org/drawingml/2006/main">
              <a:ext uri="{FF2B5EF4-FFF2-40B4-BE49-F238E27FC236}">
                <a16:creationId xmlns:a16="http://schemas.microsoft.com/office/drawing/2014/main" id="{AD360F5A-8463-48FD-981D-CFA4422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7100" y="5657850"/>
            <a:ext cx="17653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9" name="timeline-time">
            <a:extLst xmlns:a="http://schemas.openxmlformats.org/drawingml/2006/main">
              <a:ext uri="{FF2B5EF4-FFF2-40B4-BE49-F238E27FC236}">
                <a16:creationId xmlns:a16="http://schemas.microsoft.com/office/drawing/2014/main" id="{4C733E6C-8C21-473D-BC46-B587CE30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5753100"/>
            <a:ext cx="153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18:50</a:t>
            </a:r>
          </a:p>
        </p:txBody>
      </p:sp>
      <p:sp>
        <p:nvSpPr>
          <p:cNvPr id="50" name="timeline-text">
            <a:extLst xmlns:a="http://schemas.openxmlformats.org/drawingml/2006/main">
              <a:ext uri="{FF2B5EF4-FFF2-40B4-BE49-F238E27FC236}">
                <a16:creationId xmlns:a16="http://schemas.microsoft.com/office/drawing/2014/main" id="{E6E6392B-917B-4149-94A4-B961F30F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1400" y="5943600"/>
            <a:ext cx="153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다음 액션</a:t>
            </a:r>
          </a:p>
        </p:txBody>
      </p:sp>
    </p:spTree>
    <p:extLst>
      <p:ext uri="{BB962C8B-B14F-4D97-AF65-F5344CB8AC3E}">
        <p14:creationId xmlns:p14="http://schemas.microsoft.com/office/powerpoint/2010/main" val="2119591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E0EA95E0-25A6-49BC-9859-9AF9718C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14652185-C529-431E-BECF-8FF56A52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5452B94A-E874-4EE3-B44A-1D15D14B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8C5A3C33-83E2-4340-8950-55261285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76527DCB-3C3B-4A6A-A790-32B4DF2B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EF04CBE9-462E-4C2C-AC04-4D700061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180-MINUTE RUN SHEET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88E5D81-9A7B-4123-89BE-185D7968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16:00-19:00 워크샵 세부 시간표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76C9A370-579B-4AF9-BD71-090D09C4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진행자는 시간 박스를 끊어 운영하고, 각 팀은 단계별 산출물을 하나씩 남깁니다.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4A74953F-55E4-4711-B4E0-AA5833B7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D39DD505-DE71-4612-B970-1DF18C28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21211B2D-FE4B-400C-8093-8D2ED4D8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264DEEA-7FDA-443A-A9D5-0BE57855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3" name="schedule-row">
            <a:extLst xmlns:a="http://schemas.openxmlformats.org/drawingml/2006/main">
              <a:ext uri="{FF2B5EF4-FFF2-40B4-BE49-F238E27FC236}">
                <a16:creationId xmlns:a16="http://schemas.microsoft.com/office/drawing/2014/main" id="{C01BBC2F-AAE6-4920-92D8-8A9E6C83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6FD505E3-C2B1-442F-BA09-F6F5C517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16:00-16:10</a:t>
            </a:r>
          </a:p>
        </p:txBody>
      </p:sp>
      <p:sp>
        <p:nvSpPr>
          <p:cNvPr id="15" name="activity">
            <a:extLst xmlns:a="http://schemas.openxmlformats.org/drawingml/2006/main">
              <a:ext uri="{FF2B5EF4-FFF2-40B4-BE49-F238E27FC236}">
                <a16:creationId xmlns:a16="http://schemas.microsoft.com/office/drawing/2014/main" id="{55478AD9-5E81-46A4-988B-9704A523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133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전환 브리핑</a:t>
            </a:r>
          </a:p>
        </p:txBody>
      </p:sp>
      <p:sp>
        <p:nvSpPr>
          <p:cNvPr id="16" name="output">
            <a:extLst xmlns:a="http://schemas.openxmlformats.org/drawingml/2006/main">
              <a:ext uri="{FF2B5EF4-FFF2-40B4-BE49-F238E27FC236}">
                <a16:creationId xmlns:a16="http://schemas.microsoft.com/office/drawing/2014/main" id="{9586B010-7C0E-4E9F-97EB-57FDF6B1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336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오늘 산출물과 8월 과정 연결 설명</a:t>
            </a:r>
          </a:p>
        </p:txBody>
      </p:sp>
      <p:sp>
        <p:nvSpPr>
          <p:cNvPr id="17" name="schedule-row">
            <a:extLst xmlns:a="http://schemas.openxmlformats.org/drawingml/2006/main">
              <a:ext uri="{FF2B5EF4-FFF2-40B4-BE49-F238E27FC236}">
                <a16:creationId xmlns:a16="http://schemas.microsoft.com/office/drawing/2014/main" id="{D6950C58-4433-41E9-9101-69EE7DC5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8" name="time">
            <a:extLst xmlns:a="http://schemas.openxmlformats.org/drawingml/2006/main">
              <a:ext uri="{FF2B5EF4-FFF2-40B4-BE49-F238E27FC236}">
                <a16:creationId xmlns:a16="http://schemas.microsoft.com/office/drawing/2014/main" id="{18257A33-6BC8-4D13-A8B2-6436F8C7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16:10-16:30</a:t>
            </a:r>
          </a:p>
        </p:txBody>
      </p:sp>
      <p:sp>
        <p:nvSpPr>
          <p:cNvPr id="19" name="activity">
            <a:extLst xmlns:a="http://schemas.openxmlformats.org/drawingml/2006/main">
              <a:ext uri="{FF2B5EF4-FFF2-40B4-BE49-F238E27FC236}">
                <a16:creationId xmlns:a16="http://schemas.microsoft.com/office/drawing/2014/main" id="{153FEF98-3D24-4305-A527-1F1AEBA0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552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개인 과제 발굴</a:t>
            </a:r>
          </a:p>
        </p:txBody>
      </p:sp>
      <p:sp>
        <p:nvSpPr>
          <p:cNvPr id="20" name="output">
            <a:extLst xmlns:a="http://schemas.openxmlformats.org/drawingml/2006/main">
              <a:ext uri="{FF2B5EF4-FFF2-40B4-BE49-F238E27FC236}">
                <a16:creationId xmlns:a16="http://schemas.microsoft.com/office/drawing/2014/main" id="{6BF1906E-D5B1-4764-B7CE-37E10B5C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527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반복/병목/검토/보고 업무 후보 작성</a:t>
            </a:r>
          </a:p>
        </p:txBody>
      </p:sp>
      <p:sp>
        <p:nvSpPr>
          <p:cNvPr id="21" name="schedule-row">
            <a:extLst xmlns:a="http://schemas.openxmlformats.org/drawingml/2006/main">
              <a:ext uri="{FF2B5EF4-FFF2-40B4-BE49-F238E27FC236}">
                <a16:creationId xmlns:a16="http://schemas.microsoft.com/office/drawing/2014/main" id="{AB2582C5-63E1-47C6-B1D7-EA93A259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2" name="time">
            <a:extLst xmlns:a="http://schemas.openxmlformats.org/drawingml/2006/main">
              <a:ext uri="{FF2B5EF4-FFF2-40B4-BE49-F238E27FC236}">
                <a16:creationId xmlns:a16="http://schemas.microsoft.com/office/drawing/2014/main" id="{D53CB777-8A9E-4B05-96B2-51690F37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16:30-16:45</a:t>
            </a:r>
          </a:p>
        </p:txBody>
      </p:sp>
      <p:sp>
        <p:nvSpPr>
          <p:cNvPr id="23" name="activity">
            <a:extLst xmlns:a="http://schemas.openxmlformats.org/drawingml/2006/main">
              <a:ext uri="{FF2B5EF4-FFF2-40B4-BE49-F238E27FC236}">
                <a16:creationId xmlns:a16="http://schemas.microsoft.com/office/drawing/2014/main" id="{B69E6C96-70A0-413E-88A2-14BDB0F1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71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후보 점수화</a:t>
            </a:r>
          </a:p>
        </p:txBody>
      </p:sp>
      <p:sp>
        <p:nvSpPr>
          <p:cNvPr id="24" name="output">
            <a:extLst xmlns:a="http://schemas.openxmlformats.org/drawingml/2006/main">
              <a:ext uri="{FF2B5EF4-FFF2-40B4-BE49-F238E27FC236}">
                <a16:creationId xmlns:a16="http://schemas.microsoft.com/office/drawing/2014/main" id="{DA2B7A9D-CEDF-4DD4-B5F8-BDC5286E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718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현업성, 구현성, 자료 준비도 기준으로 1차 선택</a:t>
            </a:r>
          </a:p>
        </p:txBody>
      </p:sp>
      <p:sp>
        <p:nvSpPr>
          <p:cNvPr id="25" name="schedule-row">
            <a:extLst xmlns:a="http://schemas.openxmlformats.org/drawingml/2006/main">
              <a:ext uri="{FF2B5EF4-FFF2-40B4-BE49-F238E27FC236}">
                <a16:creationId xmlns:a16="http://schemas.microsoft.com/office/drawing/2014/main" id="{80013C42-21E5-4937-9B25-2D5764C2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6" name="time">
            <a:extLst xmlns:a="http://schemas.openxmlformats.org/drawingml/2006/main">
              <a:ext uri="{FF2B5EF4-FFF2-40B4-BE49-F238E27FC236}">
                <a16:creationId xmlns:a16="http://schemas.microsoft.com/office/drawing/2014/main" id="{4C0BBD69-DD65-4DCF-9C41-61A9F7AB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16:45-17:05</a:t>
            </a:r>
          </a:p>
        </p:txBody>
      </p:sp>
      <p:sp>
        <p:nvSpPr>
          <p:cNvPr id="27" name="activity">
            <a:extLst xmlns:a="http://schemas.openxmlformats.org/drawingml/2006/main">
              <a:ext uri="{FF2B5EF4-FFF2-40B4-BE49-F238E27FC236}">
                <a16:creationId xmlns:a16="http://schemas.microsoft.com/office/drawing/2014/main" id="{3744A588-7D3C-4DEF-A582-9A4965DB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90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팀빌딩</a:t>
            </a:r>
          </a:p>
        </p:txBody>
      </p:sp>
      <p:sp>
        <p:nvSpPr>
          <p:cNvPr id="28" name="output">
            <a:extLst xmlns:a="http://schemas.openxmlformats.org/drawingml/2006/main">
              <a:ext uri="{FF2B5EF4-FFF2-40B4-BE49-F238E27FC236}">
                <a16:creationId xmlns:a16="http://schemas.microsoft.com/office/drawing/2014/main" id="{3CE77610-7EA8-408A-BD91-070CA457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3인 1조, 5개 팀, 역할 배정</a:t>
            </a:r>
          </a:p>
        </p:txBody>
      </p:sp>
      <p:sp>
        <p:nvSpPr>
          <p:cNvPr id="29" name="schedule-row">
            <a:extLst xmlns:a="http://schemas.openxmlformats.org/drawingml/2006/main">
              <a:ext uri="{FF2B5EF4-FFF2-40B4-BE49-F238E27FC236}">
                <a16:creationId xmlns:a16="http://schemas.microsoft.com/office/drawing/2014/main" id="{AB659E7B-5BE9-4C4B-A1F0-1C84CD62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242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0" name="time">
            <a:extLst xmlns:a="http://schemas.openxmlformats.org/drawingml/2006/main">
              <a:ext uri="{FF2B5EF4-FFF2-40B4-BE49-F238E27FC236}">
                <a16:creationId xmlns:a16="http://schemas.microsoft.com/office/drawing/2014/main" id="{BCDA14C3-DA6D-49E3-9430-78C2F0C9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17:05-17:55</a:t>
            </a:r>
          </a:p>
        </p:txBody>
      </p:sp>
      <p:sp>
        <p:nvSpPr>
          <p:cNvPr id="31" name="activity">
            <a:extLst xmlns:a="http://schemas.openxmlformats.org/drawingml/2006/main">
              <a:ext uri="{FF2B5EF4-FFF2-40B4-BE49-F238E27FC236}">
                <a16:creationId xmlns:a16="http://schemas.microsoft.com/office/drawing/2014/main" id="{6AE3B225-4270-4F1F-84A8-BEA1D635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10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Project Canvas</a:t>
            </a:r>
          </a:p>
        </p:txBody>
      </p:sp>
      <p:sp>
        <p:nvSpPr>
          <p:cNvPr id="32" name="output">
            <a:extLst xmlns:a="http://schemas.openxmlformats.org/drawingml/2006/main">
              <a:ext uri="{FF2B5EF4-FFF2-40B4-BE49-F238E27FC236}">
                <a16:creationId xmlns:a16="http://schemas.microsoft.com/office/drawing/2014/main" id="{F0604983-A443-4E6C-8E16-0513AF39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00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문제, 현재 방식, AI 보조 역할, 검토 기준 작성</a:t>
            </a:r>
          </a:p>
        </p:txBody>
      </p:sp>
      <p:sp>
        <p:nvSpPr>
          <p:cNvPr id="33" name="schedule-row">
            <a:extLst xmlns:a="http://schemas.openxmlformats.org/drawingml/2006/main">
              <a:ext uri="{FF2B5EF4-FFF2-40B4-BE49-F238E27FC236}">
                <a16:creationId xmlns:a16="http://schemas.microsoft.com/office/drawing/2014/main" id="{4FDADDA1-CF1C-4A93-A0E9-2825B7B9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4" name="time">
            <a:extLst xmlns:a="http://schemas.openxmlformats.org/drawingml/2006/main">
              <a:ext uri="{FF2B5EF4-FFF2-40B4-BE49-F238E27FC236}">
                <a16:creationId xmlns:a16="http://schemas.microsoft.com/office/drawing/2014/main" id="{80BC16F7-2E34-4224-A0E4-CC13AF80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17:55-18:10</a:t>
            </a:r>
          </a:p>
        </p:txBody>
      </p:sp>
      <p:sp>
        <p:nvSpPr>
          <p:cNvPr id="35" name="activity">
            <a:extLst xmlns:a="http://schemas.openxmlformats.org/drawingml/2006/main">
              <a:ext uri="{FF2B5EF4-FFF2-40B4-BE49-F238E27FC236}">
                <a16:creationId xmlns:a16="http://schemas.microsoft.com/office/drawing/2014/main" id="{F8810F4F-582F-4293-A166-36DA857F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29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휴식 및 보완</a:t>
            </a:r>
          </a:p>
        </p:txBody>
      </p:sp>
      <p:sp>
        <p:nvSpPr>
          <p:cNvPr id="36" name="output">
            <a:extLst xmlns:a="http://schemas.openxmlformats.org/drawingml/2006/main">
              <a:ext uri="{FF2B5EF4-FFF2-40B4-BE49-F238E27FC236}">
                <a16:creationId xmlns:a16="http://schemas.microsoft.com/office/drawing/2014/main" id="{1A6DDACA-D74C-40FA-B456-84E7490D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291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발표 전 누락 항목 확인</a:t>
            </a:r>
          </a:p>
        </p:txBody>
      </p:sp>
      <p:sp>
        <p:nvSpPr>
          <p:cNvPr id="37" name="schedule-row">
            <a:extLst xmlns:a="http://schemas.openxmlformats.org/drawingml/2006/main">
              <a:ext uri="{FF2B5EF4-FFF2-40B4-BE49-F238E27FC236}">
                <a16:creationId xmlns:a16="http://schemas.microsoft.com/office/drawing/2014/main" id="{52433AC5-FBA4-4F14-B7D5-330A7ED3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624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8" name="time">
            <a:extLst xmlns:a="http://schemas.openxmlformats.org/drawingml/2006/main">
              <a:ext uri="{FF2B5EF4-FFF2-40B4-BE49-F238E27FC236}">
                <a16:creationId xmlns:a16="http://schemas.microsoft.com/office/drawing/2014/main" id="{24DFC31A-88ED-4DF5-8385-498ACA2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18:10-18:35</a:t>
            </a:r>
          </a:p>
        </p:txBody>
      </p:sp>
      <p:sp>
        <p:nvSpPr>
          <p:cNvPr id="39" name="activity">
            <a:extLst xmlns:a="http://schemas.openxmlformats.org/drawingml/2006/main">
              <a:ext uri="{FF2B5EF4-FFF2-40B4-BE49-F238E27FC236}">
                <a16:creationId xmlns:a16="http://schemas.microsoft.com/office/drawing/2014/main" id="{11BE3D81-F368-4BDA-BAF4-F0A3A0E1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48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팀별 1차 발표</a:t>
            </a:r>
          </a:p>
        </p:txBody>
      </p:sp>
      <p:sp>
        <p:nvSpPr>
          <p:cNvPr id="40" name="output">
            <a:extLst xmlns:a="http://schemas.openxmlformats.org/drawingml/2006/main">
              <a:ext uri="{FF2B5EF4-FFF2-40B4-BE49-F238E27FC236}">
                <a16:creationId xmlns:a16="http://schemas.microsoft.com/office/drawing/2014/main" id="{3313937F-EC21-46A2-8871-F1065ABB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482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5개 팀 발표와 질문</a:t>
            </a:r>
          </a:p>
        </p:txBody>
      </p:sp>
      <p:sp>
        <p:nvSpPr>
          <p:cNvPr id="41" name="schedule-row">
            <a:extLst xmlns:a="http://schemas.openxmlformats.org/drawingml/2006/main">
              <a:ext uri="{FF2B5EF4-FFF2-40B4-BE49-F238E27FC236}">
                <a16:creationId xmlns:a16="http://schemas.microsoft.com/office/drawing/2014/main" id="{07EEFD10-A304-4B7E-9188-39A5A32F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2" name="time">
            <a:extLst xmlns:a="http://schemas.openxmlformats.org/drawingml/2006/main">
              <a:ext uri="{FF2B5EF4-FFF2-40B4-BE49-F238E27FC236}">
                <a16:creationId xmlns:a16="http://schemas.microsoft.com/office/drawing/2014/main" id="{3E74D24A-2D74-459F-BA7D-9BA05506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18:35-18:50</a:t>
            </a:r>
          </a:p>
        </p:txBody>
      </p:sp>
      <p:sp>
        <p:nvSpPr>
          <p:cNvPr id="43" name="activity">
            <a:extLst xmlns:a="http://schemas.openxmlformats.org/drawingml/2006/main">
              <a:ext uri="{FF2B5EF4-FFF2-40B4-BE49-F238E27FC236}">
                <a16:creationId xmlns:a16="http://schemas.microsoft.com/office/drawing/2014/main" id="{70B0C992-CFCF-4D46-BF69-C706FE53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673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준비계획</a:t>
            </a:r>
          </a:p>
        </p:txBody>
      </p:sp>
      <p:sp>
        <p:nvSpPr>
          <p:cNvPr id="44" name="output">
            <a:extLst xmlns:a="http://schemas.openxmlformats.org/drawingml/2006/main">
              <a:ext uri="{FF2B5EF4-FFF2-40B4-BE49-F238E27FC236}">
                <a16:creationId xmlns:a16="http://schemas.microsoft.com/office/drawing/2014/main" id="{AED63877-E2DD-4FF4-AC5B-81A91F3C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673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자료, 담당자, 데모 목표 확정</a:t>
            </a:r>
          </a:p>
        </p:txBody>
      </p:sp>
      <p:sp>
        <p:nvSpPr>
          <p:cNvPr id="45" name="schedule-row">
            <a:extLst xmlns:a="http://schemas.openxmlformats.org/drawingml/2006/main">
              <a:ext uri="{FF2B5EF4-FFF2-40B4-BE49-F238E27FC236}">
                <a16:creationId xmlns:a16="http://schemas.microsoft.com/office/drawing/2014/main" id="{568173E3-8162-4FE0-ACFC-9A2FCF2A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6" name="time">
            <a:extLst xmlns:a="http://schemas.openxmlformats.org/drawingml/2006/main">
              <a:ext uri="{FF2B5EF4-FFF2-40B4-BE49-F238E27FC236}">
                <a16:creationId xmlns:a16="http://schemas.microsoft.com/office/drawing/2014/main" id="{C07E7842-0251-458B-94AE-126DC9D8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18:50-19:00</a:t>
            </a:r>
          </a:p>
        </p:txBody>
      </p:sp>
      <p:sp>
        <p:nvSpPr>
          <p:cNvPr id="47" name="activity">
            <a:extLst xmlns:a="http://schemas.openxmlformats.org/drawingml/2006/main">
              <a:ext uri="{FF2B5EF4-FFF2-40B4-BE49-F238E27FC236}">
                <a16:creationId xmlns:a16="http://schemas.microsoft.com/office/drawing/2014/main" id="{F5B4E2E6-CBD3-42EE-8037-6EF743A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864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클로징</a:t>
            </a:r>
          </a:p>
        </p:txBody>
      </p:sp>
      <p:sp>
        <p:nvSpPr>
          <p:cNvPr id="48" name="output">
            <a:extLst xmlns:a="http://schemas.openxmlformats.org/drawingml/2006/main">
              <a:ext uri="{FF2B5EF4-FFF2-40B4-BE49-F238E27FC236}">
                <a16:creationId xmlns:a16="http://schemas.microsoft.com/office/drawing/2014/main" id="{175D8AA6-8BB9-4665-A926-5DE56F00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86400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제출물 확인과 다음 수업 안내</a:t>
            </a:r>
          </a:p>
        </p:txBody>
      </p:sp>
    </p:spTree>
    <p:extLst>
      <p:ext uri="{BB962C8B-B14F-4D97-AF65-F5344CB8AC3E}">
        <p14:creationId xmlns:p14="http://schemas.microsoft.com/office/powerpoint/2010/main" val="1709150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8C08B249-9A83-497F-A11B-52B74633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041E422F-CE48-4AD8-85AF-8807AF1A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74374D45-7A65-42B5-88F2-035B63EE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E36836DA-477F-4494-9CE1-CCF91261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91A3FDA0-3ECD-4F68-AA10-77A9E1AA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830A9F4B-C7CD-4171-AE44-E7C4AED0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운영 기준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5CD7F06-18FC-4DE2-9463-3D1FCED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작게 잡고, 실제로 만들 수 있게 좁힙니다.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26BE1F8D-0B57-4CA1-8447-E61DCA68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8월 21일은 다시 아이디어를 내는 날이 아니라 구현과 멘토링을 시작하는 날입니다.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FA65A185-4750-4713-AEEE-268998EF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42CE46EE-F6E8-48AC-B43F-CA12D61F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A6FDF28E-FEC9-4028-A706-CB085875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343A51A-7951-4FDD-BA59-DA649306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3" name="card-RULE 1">
            <a:extLst xmlns:a="http://schemas.openxmlformats.org/drawingml/2006/main">
              <a:ext uri="{FF2B5EF4-FFF2-40B4-BE49-F238E27FC236}">
                <a16:creationId xmlns:a16="http://schemas.microsoft.com/office/drawing/2014/main" id="{A35FD6F3-402A-44A3-8571-CE445EDC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74D4F58-ACF6-465D-961C-A5A46D2A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4F9D5395-7FEF-4C6C-88F7-CB8C6292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RULE 1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0A938D3D-9028-459C-B4C0-9F8FC35A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업무성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3BA45CD3-6DAA-45A9-A2F8-129F3343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현업에서 반복되거나 병목을 만드는 업무여야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합니다.</a:t>
            </a:r>
          </a:p>
        </p:txBody>
      </p:sp>
      <p:sp>
        <p:nvSpPr>
          <p:cNvPr id="18" name="card-RULE 2">
            <a:extLst xmlns:a="http://schemas.openxmlformats.org/drawingml/2006/main">
              <a:ext uri="{FF2B5EF4-FFF2-40B4-BE49-F238E27FC236}">
                <a16:creationId xmlns:a16="http://schemas.microsoft.com/office/drawing/2014/main" id="{A3D19E13-380D-419A-81C2-C781DF36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9B26C06-E312-4B3E-88A1-7218CA2F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842EB563-E7F9-426D-A2A8-967C9E51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RULE 2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2CE556A9-AAA5-4576-8B18-6915548E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자료성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51C44DF5-7731-44DD-94D7-5F4C47D3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샘플 문서, 입력값, 예시 출력물 중 하나는 준비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가능해야 합니다.</a:t>
            </a:r>
          </a:p>
        </p:txBody>
      </p:sp>
      <p:sp>
        <p:nvSpPr>
          <p:cNvPr id="23" name="card-RULE 3">
            <a:extLst xmlns:a="http://schemas.openxmlformats.org/drawingml/2006/main">
              <a:ext uri="{FF2B5EF4-FFF2-40B4-BE49-F238E27FC236}">
                <a16:creationId xmlns:a16="http://schemas.microsoft.com/office/drawing/2014/main" id="{8B779F6B-71DB-479B-8424-8F9B76F3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C6C6586-C37B-4F73-8721-DA949187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343ED285-30A3-426C-A3A5-BD2C7C7A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RULE 3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664D8280-E139-4C22-BC8B-980EE7C7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검증성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938043B1-2EFE-4D08-9567-CA513645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결과를 사람이 검토할 기준을 말할 수 있어야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합니다.</a:t>
            </a:r>
          </a:p>
        </p:txBody>
      </p:sp>
      <p:sp>
        <p:nvSpPr>
          <p:cNvPr id="28" name="card-RULE 4">
            <a:extLst xmlns:a="http://schemas.openxmlformats.org/drawingml/2006/main">
              <a:ext uri="{FF2B5EF4-FFF2-40B4-BE49-F238E27FC236}">
                <a16:creationId xmlns:a16="http://schemas.microsoft.com/office/drawing/2014/main" id="{BAAA6547-FF0A-4798-849B-8196DC32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AA7FDF5-C04A-4342-8C80-DB2873954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label">
            <a:extLst xmlns:a="http://schemas.openxmlformats.org/drawingml/2006/main">
              <a:ext uri="{FF2B5EF4-FFF2-40B4-BE49-F238E27FC236}">
                <a16:creationId xmlns:a16="http://schemas.microsoft.com/office/drawing/2014/main" id="{4C4A7232-9CDD-4298-844F-DAFF402B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RULE 4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329F3D50-D3CB-4BCF-8AE1-32F128B9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데모성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C1640EE2-0B18-4B51-BB3F-F13C43B6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화면, Agent 흐름, 자동화 초안 중 하나를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시연합니다.</a:t>
            </a:r>
          </a:p>
        </p:txBody>
      </p:sp>
      <p:sp>
        <p:nvSpPr>
          <p:cNvPr id="33" name="card-RULE 5">
            <a:extLst xmlns:a="http://schemas.openxmlformats.org/drawingml/2006/main">
              <a:ext uri="{FF2B5EF4-FFF2-40B4-BE49-F238E27FC236}">
                <a16:creationId xmlns:a16="http://schemas.microsoft.com/office/drawing/2014/main" id="{B87E7FC8-C6E7-460F-B484-B49514B0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28037B5-1772-44E5-A6B4-67E3CD9F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rd-label">
            <a:extLst xmlns:a="http://schemas.openxmlformats.org/drawingml/2006/main">
              <a:ext uri="{FF2B5EF4-FFF2-40B4-BE49-F238E27FC236}">
                <a16:creationId xmlns:a16="http://schemas.microsoft.com/office/drawing/2014/main" id="{DFC2CEF8-00E3-48A5-B08A-25F7243A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RULE 5</a:t>
            </a:r>
          </a:p>
        </p:txBody>
      </p:sp>
      <p:sp>
        <p:nvSpPr>
          <p:cNvPr id="36" name="card-title">
            <a:extLst xmlns:a="http://schemas.openxmlformats.org/drawingml/2006/main">
              <a:ext uri="{FF2B5EF4-FFF2-40B4-BE49-F238E27FC236}">
                <a16:creationId xmlns:a16="http://schemas.microsoft.com/office/drawing/2014/main" id="{3F7D39F1-44AB-46C6-AE7D-74FA9227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보안성</a:t>
            </a:r>
          </a:p>
        </p:txBody>
      </p:sp>
      <p:sp>
        <p:nvSpPr>
          <p:cNvPr id="37" name="card-body">
            <a:extLst xmlns:a="http://schemas.openxmlformats.org/drawingml/2006/main">
              <a:ext uri="{FF2B5EF4-FFF2-40B4-BE49-F238E27FC236}">
                <a16:creationId xmlns:a16="http://schemas.microsoft.com/office/drawing/2014/main" id="{F0C0DF67-CF13-4C75-A05E-C12D96E3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434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민감정보, 운영 로그, 접근키, 고객 개인정보는 쓰지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않습니다.</a:t>
            </a:r>
          </a:p>
        </p:txBody>
      </p:sp>
      <p:sp>
        <p:nvSpPr>
          <p:cNvPr id="38" name="card-RULE 6">
            <a:extLst xmlns:a="http://schemas.openxmlformats.org/drawingml/2006/main">
              <a:ext uri="{FF2B5EF4-FFF2-40B4-BE49-F238E27FC236}">
                <a16:creationId xmlns:a16="http://schemas.microsoft.com/office/drawing/2014/main" id="{0650DBBB-BF00-4AF5-93D2-4C871014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24300"/>
            <a:ext cx="3429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99F004D-4846-43BA-816E-48C636E0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2430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ard-label">
            <a:extLst xmlns:a="http://schemas.openxmlformats.org/drawingml/2006/main">
              <a:ext uri="{FF2B5EF4-FFF2-40B4-BE49-F238E27FC236}">
                <a16:creationId xmlns:a16="http://schemas.microsoft.com/office/drawing/2014/main" id="{8040F1C0-106B-465C-93CA-07293FAC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RULE 6</a:t>
            </a:r>
          </a:p>
        </p:txBody>
      </p:sp>
      <p:sp>
        <p:nvSpPr>
          <p:cNvPr id="41" name="card-title">
            <a:extLst xmlns:a="http://schemas.openxmlformats.org/drawingml/2006/main">
              <a:ext uri="{FF2B5EF4-FFF2-40B4-BE49-F238E27FC236}">
                <a16:creationId xmlns:a16="http://schemas.microsoft.com/office/drawing/2014/main" id="{15FEED19-4FA4-4A63-B2A8-2A864D2F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624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환경성</a:t>
            </a:r>
          </a:p>
        </p:txBody>
      </p:sp>
      <p:sp>
        <p:nvSpPr>
          <p:cNvPr id="42" name="card-body">
            <a:extLst xmlns:a="http://schemas.openxmlformats.org/drawingml/2006/main">
              <a:ext uri="{FF2B5EF4-FFF2-40B4-BE49-F238E27FC236}">
                <a16:creationId xmlns:a16="http://schemas.microsoft.com/office/drawing/2014/main" id="{CFAAC06A-9F7C-4330-AB39-35ECF869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43450"/>
            <a:ext cx="2971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실습은 사내 AI 플랫폼 스파로스 데브엑스를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기본으로 전제합니다.</a:t>
            </a:r>
          </a:p>
        </p:txBody>
      </p:sp>
    </p:spTree>
    <p:extLst>
      <p:ext uri="{BB962C8B-B14F-4D97-AF65-F5344CB8AC3E}">
        <p14:creationId xmlns:p14="http://schemas.microsoft.com/office/powerpoint/2010/main" val="5652749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7C1FD8E6-CE1F-4D07-A45E-B7A292D6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E343345A-20A3-41F3-A356-23CB1721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9D1B4E73-1E27-4AA0-97C2-CCB193BE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1BBCD47E-308B-4FE7-9751-AA05609F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A37EEA38-48BA-4F55-9D48-69B57839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5041E0A1-7A1C-4648-8A85-B1E351A7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팀빌딩 모델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F6AD323-2B0D-49CF-A73B-BF4B74F7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3인 1조는 역할이 분명해야 작동합니다.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D2287E64-F0F1-4FF2-8353-31021443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각 팀은 업무 오너, 구현 담당, 검증·발표 담당을 반드시 정합니다.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8F93FAE8-BD7E-4BE4-A943-C99DD1E7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48E85B1F-49AD-4AC2-BD29-99908978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50F26FC9-64E0-46B9-AF98-F861ADA3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338D1A6-A237-403F-995D-24CF1EC5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3" name="role-card">
            <a:extLst xmlns:a="http://schemas.openxmlformats.org/drawingml/2006/main">
              <a:ext uri="{FF2B5EF4-FFF2-40B4-BE49-F238E27FC236}">
                <a16:creationId xmlns:a16="http://schemas.microsoft.com/office/drawing/2014/main" id="{763AC597-146B-4869-8175-DD59C579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4" name="role-accent">
            <a:extLst xmlns:a="http://schemas.openxmlformats.org/drawingml/2006/main">
              <a:ext uri="{FF2B5EF4-FFF2-40B4-BE49-F238E27FC236}">
                <a16:creationId xmlns:a16="http://schemas.microsoft.com/office/drawing/2014/main" id="{9527E259-A052-48EF-A7B1-CB4EECBD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le-title">
            <a:extLst xmlns:a="http://schemas.openxmlformats.org/drawingml/2006/main">
              <a:ext uri="{FF2B5EF4-FFF2-40B4-BE49-F238E27FC236}">
                <a16:creationId xmlns:a16="http://schemas.microsoft.com/office/drawing/2014/main" id="{2D7ADD2E-090E-4197-9F70-5409CDC0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업무 오너</a:t>
            </a:r>
          </a:p>
        </p:txBody>
      </p:sp>
      <p:sp>
        <p:nvSpPr>
          <p:cNvPr id="16" name="role-body">
            <a:extLst xmlns:a="http://schemas.openxmlformats.org/drawingml/2006/main">
              <a:ext uri="{FF2B5EF4-FFF2-40B4-BE49-F238E27FC236}">
                <a16:creationId xmlns:a16="http://schemas.microsoft.com/office/drawing/2014/main" id="{970E2731-5C23-4B23-B7A7-AAB1348D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현재 업무 흐름, 병목, 성공 기준, 실제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사용자를 설명합니다.</a:t>
            </a:r>
          </a:p>
        </p:txBody>
      </p:sp>
      <p:sp>
        <p:nvSpPr>
          <p:cNvPr id="17" name="role-question">
            <a:extLst xmlns:a="http://schemas.openxmlformats.org/drawingml/2006/main">
              <a:ext uri="{FF2B5EF4-FFF2-40B4-BE49-F238E27FC236}">
                <a16:creationId xmlns:a16="http://schemas.microsoft.com/office/drawing/2014/main" id="{0FD74007-885C-405A-9EC3-1AF5ADEF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질문: 이 업무가 지금 왜 어려운가?</a:t>
            </a:r>
          </a:p>
        </p:txBody>
      </p:sp>
      <p:sp>
        <p:nvSpPr>
          <p:cNvPr id="18" name="role-card">
            <a:extLst xmlns:a="http://schemas.openxmlformats.org/drawingml/2006/main">
              <a:ext uri="{FF2B5EF4-FFF2-40B4-BE49-F238E27FC236}">
                <a16:creationId xmlns:a16="http://schemas.microsoft.com/office/drawing/2014/main" id="{0FA35D98-C2EC-461F-97A3-C13AF44D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9" name="role-accent">
            <a:extLst xmlns:a="http://schemas.openxmlformats.org/drawingml/2006/main">
              <a:ext uri="{FF2B5EF4-FFF2-40B4-BE49-F238E27FC236}">
                <a16:creationId xmlns:a16="http://schemas.microsoft.com/office/drawing/2014/main" id="{7B17B950-B768-437E-8F37-8E6A5B77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role-title">
            <a:extLst xmlns:a="http://schemas.openxmlformats.org/drawingml/2006/main">
              <a:ext uri="{FF2B5EF4-FFF2-40B4-BE49-F238E27FC236}">
                <a16:creationId xmlns:a16="http://schemas.microsoft.com/office/drawing/2014/main" id="{D999F059-3137-4630-828F-1576156D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67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구현 담당</a:t>
            </a:r>
          </a:p>
        </p:txBody>
      </p:sp>
      <p:sp>
        <p:nvSpPr>
          <p:cNvPr id="21" name="role-body">
            <a:extLst xmlns:a="http://schemas.openxmlformats.org/drawingml/2006/main">
              <a:ext uri="{FF2B5EF4-FFF2-40B4-BE49-F238E27FC236}">
                <a16:creationId xmlns:a16="http://schemas.microsoft.com/office/drawing/2014/main" id="{31EC5323-0AE4-4ACE-B6B3-4341442D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스파로스 데브엑스에서 Prompt, Context,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Agent 흐름, 화면 초안을 만듭니다.</a:t>
            </a:r>
          </a:p>
        </p:txBody>
      </p:sp>
      <p:sp>
        <p:nvSpPr>
          <p:cNvPr id="22" name="role-question">
            <a:extLst xmlns:a="http://schemas.openxmlformats.org/drawingml/2006/main">
              <a:ext uri="{FF2B5EF4-FFF2-40B4-BE49-F238E27FC236}">
                <a16:creationId xmlns:a16="http://schemas.microsoft.com/office/drawing/2014/main" id="{045FA8FD-C3CB-4F93-AE78-1E0F96DE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43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질문: 8시간 안에 무엇을 시연할 수 있는가?</a:t>
            </a:r>
          </a:p>
        </p:txBody>
      </p:sp>
      <p:sp>
        <p:nvSpPr>
          <p:cNvPr id="23" name="role-card">
            <a:extLst xmlns:a="http://schemas.openxmlformats.org/drawingml/2006/main">
              <a:ext uri="{FF2B5EF4-FFF2-40B4-BE49-F238E27FC236}">
                <a16:creationId xmlns:a16="http://schemas.microsoft.com/office/drawing/2014/main" id="{8FCAD4C5-FDE0-43C0-B866-25E08BDF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42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4" name="role-accent">
            <a:extLst xmlns:a="http://schemas.openxmlformats.org/drawingml/2006/main">
              <a:ext uri="{FF2B5EF4-FFF2-40B4-BE49-F238E27FC236}">
                <a16:creationId xmlns:a16="http://schemas.microsoft.com/office/drawing/2014/main" id="{BCC881DB-CFFA-41E8-A778-19C6FC86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429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ole-title">
            <a:extLst xmlns:a="http://schemas.openxmlformats.org/drawingml/2006/main">
              <a:ext uri="{FF2B5EF4-FFF2-40B4-BE49-F238E27FC236}">
                <a16:creationId xmlns:a16="http://schemas.microsoft.com/office/drawing/2014/main" id="{2AD7DF20-9C5F-4DEF-954B-6EFDA204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1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검증·발표 담당</a:t>
            </a:r>
          </a:p>
        </p:txBody>
      </p:sp>
      <p:sp>
        <p:nvSpPr>
          <p:cNvPr id="26" name="role-body">
            <a:extLst xmlns:a="http://schemas.openxmlformats.org/drawingml/2006/main">
              <a:ext uri="{FF2B5EF4-FFF2-40B4-BE49-F238E27FC236}">
                <a16:creationId xmlns:a16="http://schemas.microsoft.com/office/drawing/2014/main" id="{42EB459B-7160-42B5-B162-9CDE9DA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7660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샘플 자료, 금지사항, 품질 기준, 발표</a:t>
            </a:r>
          </a:p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흐름을 정리합니다.</a:t>
            </a:r>
          </a:p>
        </p:txBody>
      </p:sp>
      <p:sp>
        <p:nvSpPr>
          <p:cNvPr id="27" name="role-question">
            <a:extLst xmlns:a="http://schemas.openxmlformats.org/drawingml/2006/main">
              <a:ext uri="{FF2B5EF4-FFF2-40B4-BE49-F238E27FC236}">
                <a16:creationId xmlns:a16="http://schemas.microsoft.com/office/drawing/2014/main" id="{5247BE08-3C9A-4E3A-A5BE-4189F852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434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질문: 사람이 어디서 최종 판단해야 하는가?</a:t>
            </a:r>
          </a:p>
        </p:txBody>
      </p:sp>
    </p:spTree>
    <p:extLst>
      <p:ext uri="{BB962C8B-B14F-4D97-AF65-F5344CB8AC3E}">
        <p14:creationId xmlns:p14="http://schemas.microsoft.com/office/powerpoint/2010/main" val="2761860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1F7F50FC-9AF9-45AD-ABCB-9F382F12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8B1BC8A5-E2A0-429E-84B5-D4590E09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00EDE7B6-AF81-4749-9E3B-E98B6926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06D01F2A-C850-4646-86D1-568B8206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E23780D9-1D0D-4A88-AE9B-3F78F9BA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7A2FCAA1-2A91-4851-9E88-48D3882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ACTIVITY 1 · 16:10-16:30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5F751EA-6B1E-4C23-B351-164CD5F1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개인 과제 발굴: 본인 업무에서 후보를 3개 찾습니다.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413B3B75-B84D-4B8D-8E13-FA252F8D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반복 업무, 병목 업무, 검토 업무, 보고 업무, 현업 요청 업무를 중심으로 적습니다.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B6AFDFF2-24EE-432C-8408-FD867053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622F7FB9-2222-43D4-99DB-B9A49E0A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D988B437-0E87-4F9D-A0AF-34EDB67F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15D710C-A816-498C-BE86-CDF67DB8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3" name="card-진행 방법">
            <a:extLst xmlns:a="http://schemas.openxmlformats.org/drawingml/2006/main">
              <a:ext uri="{FF2B5EF4-FFF2-40B4-BE49-F238E27FC236}">
                <a16:creationId xmlns:a16="http://schemas.microsoft.com/office/drawing/2014/main" id="{44198EDC-E0C4-496A-9CBA-55A8D9C5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6D4A95B-4A46-4464-BDE2-D36E2EA8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76E90F40-8F77-40B2-A40F-3BC4B61B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진행 방법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75B6B5D7-B39A-4A8B-A6A9-6E8B4B2C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6E9E50A8-053F-41ED-9769-30280C58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개인 작성 10분 → 옆 사람 공유 5분 → 가장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강한 후보 1개 표시 5분</a:t>
            </a:r>
          </a:p>
        </p:txBody>
      </p:sp>
      <p:sp>
        <p:nvSpPr>
          <p:cNvPr id="18" name="card-결과물">
            <a:extLst xmlns:a="http://schemas.openxmlformats.org/drawingml/2006/main">
              <a:ext uri="{FF2B5EF4-FFF2-40B4-BE49-F238E27FC236}">
                <a16:creationId xmlns:a16="http://schemas.microsoft.com/office/drawing/2014/main" id="{88A73307-648F-45A3-99F0-2B3F5AF1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2577642-D95D-403E-B069-48324EB8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CE114830-B561-4BE4-84AB-2121CE16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2B9E798A-3C6A-4C38-8208-8D575454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6D23D94E-E561-4BFE-91DC-1F59F730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개인별 후보 3개와 우선 후보 1개</a:t>
            </a:r>
          </a:p>
        </p:txBody>
      </p:sp>
      <p:sp>
        <p:nvSpPr>
          <p:cNvPr id="23" name="card-운영 팁">
            <a:extLst xmlns:a="http://schemas.openxmlformats.org/drawingml/2006/main">
              <a:ext uri="{FF2B5EF4-FFF2-40B4-BE49-F238E27FC236}">
                <a16:creationId xmlns:a16="http://schemas.microsoft.com/office/drawing/2014/main" id="{B3007082-72A2-4191-91FE-2771F9AC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E4E28E4-ADD4-4583-B3B4-7D2D3FA5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82EC1AD2-17DA-44FD-8242-BC5B9D85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 팁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00329B9A-D61E-490B-B7E9-AE5F873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Facilitator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768421F4-641D-42C9-A579-25A942A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타이머를 보이게 두고, 각 팀의 산출물은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단계 장표에 바로 옮겨 적게 합니다.</a:t>
            </a:r>
          </a:p>
        </p:txBody>
      </p:sp>
    </p:spTree>
    <p:extLst>
      <p:ext uri="{BB962C8B-B14F-4D97-AF65-F5344CB8AC3E}">
        <p14:creationId xmlns:p14="http://schemas.microsoft.com/office/powerpoint/2010/main" val="873757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240F7324-71E4-47AE-A611-E5FC1D76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3FCEC6FE-E5AE-41A4-BAEB-70D945A4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05281549-860B-414C-994F-0C42470E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E334685D-2946-4F4D-9D60-04D95429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D4C6EFE9-6A74-4809-998C-E107D80F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8321B3EA-AA96-4605-B654-26D172EF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워크시트 1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5213DC6-5E1A-4D9B-B992-E669F670E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개인 과제 발굴: 내 업무에서 AI가 도울 지점을 찾습니다.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020F82EF-47E7-4AE4-9E67-A1DF8AB0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각자 3개 후보를 쓰고, 팀 토론 전에 가장 강한 후보 1개를 표시합니다.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9199525C-5FC0-41CE-A887-FAE81E4A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D1C7D965-8E5F-4872-AC27-11DD8C7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028084AF-FA20-4AD1-96A4-34076FB3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C94F089-56E8-468A-B4EE-73AC6713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13" name="field-label">
            <a:extLst xmlns:a="http://schemas.openxmlformats.org/drawingml/2006/main">
              <a:ext uri="{FF2B5EF4-FFF2-40B4-BE49-F238E27FC236}">
                <a16:creationId xmlns:a16="http://schemas.microsoft.com/office/drawing/2014/main" id="{475214C8-5C0E-492C-A908-FDB8B13E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후보 1</a:t>
            </a:r>
          </a:p>
        </p:txBody>
      </p:sp>
      <p:sp>
        <p:nvSpPr>
          <p:cNvPr id="14" name="field-후보 1">
            <a:extLst xmlns:a="http://schemas.openxmlformats.org/drawingml/2006/main">
              <a:ext uri="{FF2B5EF4-FFF2-40B4-BE49-F238E27FC236}">
                <a16:creationId xmlns:a16="http://schemas.microsoft.com/office/drawing/2014/main" id="{F1C4B47D-3C24-4AD2-A451-DBB3EC8B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429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5" name="field-hint">
            <a:extLst xmlns:a="http://schemas.openxmlformats.org/drawingml/2006/main">
              <a:ext uri="{FF2B5EF4-FFF2-40B4-BE49-F238E27FC236}">
                <a16:creationId xmlns:a16="http://schemas.microsoft.com/office/drawing/2014/main" id="{F6C4F364-0DE5-41D5-8679-D9AA6C6A7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31242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업무명 / 반복 빈도 / 현재 산출물</a:t>
            </a:r>
          </a:p>
        </p:txBody>
      </p:sp>
      <p:sp>
        <p:nvSpPr>
          <p:cNvPr id="16" name="field-label">
            <a:extLst xmlns:a="http://schemas.openxmlformats.org/drawingml/2006/main">
              <a:ext uri="{FF2B5EF4-FFF2-40B4-BE49-F238E27FC236}">
                <a16:creationId xmlns:a16="http://schemas.microsoft.com/office/drawing/2014/main" id="{F99F3B15-1C9F-4655-AA0A-2F219005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후보 2</a:t>
            </a:r>
          </a:p>
        </p:txBody>
      </p:sp>
      <p:sp>
        <p:nvSpPr>
          <p:cNvPr id="17" name="field-후보 2">
            <a:extLst xmlns:a="http://schemas.openxmlformats.org/drawingml/2006/main">
              <a:ext uri="{FF2B5EF4-FFF2-40B4-BE49-F238E27FC236}">
                <a16:creationId xmlns:a16="http://schemas.microsoft.com/office/drawing/2014/main" id="{0A64D786-C298-418B-948E-519FACDB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429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8" name="field-hint">
            <a:extLst xmlns:a="http://schemas.openxmlformats.org/drawingml/2006/main">
              <a:ext uri="{FF2B5EF4-FFF2-40B4-BE49-F238E27FC236}">
                <a16:creationId xmlns:a16="http://schemas.microsoft.com/office/drawing/2014/main" id="{C6E955A8-1F86-41A5-9347-344EBB0F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14600"/>
            <a:ext cx="31242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업무명 / 병목 지점 / 관련 자료</a:t>
            </a:r>
          </a:p>
        </p:txBody>
      </p:sp>
      <p:sp>
        <p:nvSpPr>
          <p:cNvPr id="19" name="field-label">
            <a:extLst xmlns:a="http://schemas.openxmlformats.org/drawingml/2006/main">
              <a:ext uri="{FF2B5EF4-FFF2-40B4-BE49-F238E27FC236}">
                <a16:creationId xmlns:a16="http://schemas.microsoft.com/office/drawing/2014/main" id="{E21B1E13-9D37-4BC5-AEBC-0BB7A3AE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14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후보 3</a:t>
            </a:r>
          </a:p>
        </p:txBody>
      </p:sp>
      <p:sp>
        <p:nvSpPr>
          <p:cNvPr id="20" name="field-후보 3">
            <a:extLst xmlns:a="http://schemas.openxmlformats.org/drawingml/2006/main">
              <a:ext uri="{FF2B5EF4-FFF2-40B4-BE49-F238E27FC236}">
                <a16:creationId xmlns:a16="http://schemas.microsoft.com/office/drawing/2014/main" id="{5E3A0283-BE4A-42B7-BDA3-57D38C61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29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1" name="field-hint">
            <a:extLst xmlns:a="http://schemas.openxmlformats.org/drawingml/2006/main">
              <a:ext uri="{FF2B5EF4-FFF2-40B4-BE49-F238E27FC236}">
                <a16:creationId xmlns:a16="http://schemas.microsoft.com/office/drawing/2014/main" id="{B5F70801-AB67-4CDA-8EBC-67AAF42A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31242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업무명 / 검토 기준 / 기대 효과</a:t>
            </a:r>
          </a:p>
        </p:txBody>
      </p:sp>
      <p:sp>
        <p:nvSpPr>
          <p:cNvPr id="22" name="selection">
            <a:extLst xmlns:a="http://schemas.openxmlformats.org/drawingml/2006/main">
              <a:ext uri="{FF2B5EF4-FFF2-40B4-BE49-F238E27FC236}">
                <a16:creationId xmlns:a16="http://schemas.microsoft.com/office/drawing/2014/main" id="{43979979-0A00-4415-84B3-1FF103E1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선택 기준: 현업성 · 구현 가능성 · 자료 준비도 · 사람 검토 가능성 · 발표 가능성</a:t>
            </a:r>
          </a:p>
        </p:txBody>
      </p:sp>
    </p:spTree>
    <p:extLst>
      <p:ext uri="{BB962C8B-B14F-4D97-AF65-F5344CB8AC3E}">
        <p14:creationId xmlns:p14="http://schemas.microsoft.com/office/powerpoint/2010/main" val="13838575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6FB3F0D8-E686-4FBD-9C18-E45873EA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532F964C-6E7D-4A77-B290-96519F82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7647F145-0674-4774-92C4-70B22F0D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CA713A4B-39CF-471E-B2CD-EE70F81A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DE66F766-97DD-4D79-B330-5B26FC1D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A61C5989-70C9-4CCA-8935-3C18DD5F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업무 후보 예시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D70E23A-171C-4851-ACEE-97639FDD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후보 업무는 반복되는 실제 업무에서 나옵니다.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39E8C76A-8DA3-4EBA-B461-93129A0C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아래 유형을 보고 본인 업무의 입력 자료와 출력물을 떠올리게 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80B67991-B748-42DB-972C-2548A5BA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955AE22F-5AD7-4FD5-B7FE-F5265749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C329A40B-8CCA-4648-8EE9-32A457BC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6F65462-3AC6-4A2A-90E9-C34234B6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3" name="card-TYPE 1">
            <a:extLst xmlns:a="http://schemas.openxmlformats.org/drawingml/2006/main">
              <a:ext uri="{FF2B5EF4-FFF2-40B4-BE49-F238E27FC236}">
                <a16:creationId xmlns:a16="http://schemas.microsoft.com/office/drawing/2014/main" id="{8A24E0F9-1E23-4A25-AEAB-63DA656D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429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CE5A63D-9527-4E50-8B8C-9E8DAFB0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56028335-40A9-478F-926D-BC94F2A1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TYPE 1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B8233D35-AD1B-4C7F-9FF5-96A2DA6C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요청 분류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64A9F94C-E9A2-442F-843E-7E6DB69E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현업 요청, 장애 티켓, 문의 메일을 유형별로 분류하고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액션을 제안</a:t>
            </a:r>
          </a:p>
        </p:txBody>
      </p:sp>
      <p:sp>
        <p:nvSpPr>
          <p:cNvPr id="18" name="card-TYPE 2">
            <a:extLst xmlns:a="http://schemas.openxmlformats.org/drawingml/2006/main">
              <a:ext uri="{FF2B5EF4-FFF2-40B4-BE49-F238E27FC236}">
                <a16:creationId xmlns:a16="http://schemas.microsoft.com/office/drawing/2014/main" id="{484BC537-D0DE-4B98-8DD8-238C69DF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429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369491F-AA0F-44AB-91C0-ECFA9A89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76277544-51F9-42C2-AF54-D8584D29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TYPE 2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0468493A-1E58-4B76-838D-AE9F692A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문서 요약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1C96CF3A-2EB8-42AF-BA7B-232EBD67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회의록, 정책, 운영 매뉴얼, 계약/규정 초안을 요약하고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체크포인트 추출</a:t>
            </a:r>
          </a:p>
        </p:txBody>
      </p:sp>
      <p:sp>
        <p:nvSpPr>
          <p:cNvPr id="23" name="card-TYPE 3">
            <a:extLst xmlns:a="http://schemas.openxmlformats.org/drawingml/2006/main">
              <a:ext uri="{FF2B5EF4-FFF2-40B4-BE49-F238E27FC236}">
                <a16:creationId xmlns:a16="http://schemas.microsoft.com/office/drawing/2014/main" id="{F2B76AB6-76E1-4A1B-A740-2C403526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429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B9B2EE3-A840-444B-8A3F-93E39B37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8F93706C-0C99-42AC-BB61-AFA3783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TYPE 3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1BA2B8A4-F154-4211-861E-49A3E931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보고 초안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BD04AD33-CAAF-4464-B7E9-A63F5737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주간 현황, 리스크, 비용/성과 데이터를 보고서 초안으로</a:t>
            </a:r>
          </a:p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28" name="card-TYPE 4">
            <a:extLst xmlns:a="http://schemas.openxmlformats.org/drawingml/2006/main">
              <a:ext uri="{FF2B5EF4-FFF2-40B4-BE49-F238E27FC236}">
                <a16:creationId xmlns:a16="http://schemas.microsoft.com/office/drawing/2014/main" id="{50B78461-FBC3-4CBC-A02F-4762437D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429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C607D7A-5745-4E8B-B74B-76473A47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label">
            <a:extLst xmlns:a="http://schemas.openxmlformats.org/drawingml/2006/main">
              <a:ext uri="{FF2B5EF4-FFF2-40B4-BE49-F238E27FC236}">
                <a16:creationId xmlns:a16="http://schemas.microsoft.com/office/drawing/2014/main" id="{6F27BBA6-0CA4-4203-A5C7-F3125F82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TYPE 4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5F72F211-7B1E-4598-AF0B-B608ABD6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검토 체크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1395898C-C77C-4BE6-BA6A-98E173EC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품질, 준법, 보안, 승인 기준에 맞춰 누락 사항을 점검</a:t>
            </a:r>
          </a:p>
        </p:txBody>
      </p:sp>
      <p:sp>
        <p:nvSpPr>
          <p:cNvPr id="33" name="card-TYPE 5">
            <a:extLst xmlns:a="http://schemas.openxmlformats.org/drawingml/2006/main">
              <a:ext uri="{FF2B5EF4-FFF2-40B4-BE49-F238E27FC236}">
                <a16:creationId xmlns:a16="http://schemas.microsoft.com/office/drawing/2014/main" id="{712001F2-F974-47DD-A259-275AD80B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3429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37D6654-9051-44CF-9FEA-1D1CBBF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rd-label">
            <a:extLst xmlns:a="http://schemas.openxmlformats.org/drawingml/2006/main">
              <a:ext uri="{FF2B5EF4-FFF2-40B4-BE49-F238E27FC236}">
                <a16:creationId xmlns:a16="http://schemas.microsoft.com/office/drawing/2014/main" id="{958B1E1B-A5B1-414D-80DE-41BAE4D3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529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TYPE 5</a:t>
            </a:r>
          </a:p>
        </p:txBody>
      </p:sp>
      <p:sp>
        <p:nvSpPr>
          <p:cNvPr id="36" name="card-title">
            <a:extLst xmlns:a="http://schemas.openxmlformats.org/drawingml/2006/main">
              <a:ext uri="{FF2B5EF4-FFF2-40B4-BE49-F238E27FC236}">
                <a16:creationId xmlns:a16="http://schemas.microsoft.com/office/drawing/2014/main" id="{6DB330A2-1518-436E-B895-0EA935A3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개발 보조</a:t>
            </a:r>
          </a:p>
        </p:txBody>
      </p:sp>
      <p:sp>
        <p:nvSpPr>
          <p:cNvPr id="37" name="card-body">
            <a:extLst xmlns:a="http://schemas.openxmlformats.org/drawingml/2006/main">
              <a:ext uri="{FF2B5EF4-FFF2-40B4-BE49-F238E27FC236}">
                <a16:creationId xmlns:a16="http://schemas.microsoft.com/office/drawing/2014/main" id="{40C18EDB-4700-4B9F-96C1-E0EA25DA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815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요구사항을 코드/테스트/Agent 흐름으로 빠르게 변환</a:t>
            </a:r>
          </a:p>
        </p:txBody>
      </p:sp>
      <p:sp>
        <p:nvSpPr>
          <p:cNvPr id="38" name="card-TYPE 6">
            <a:extLst xmlns:a="http://schemas.openxmlformats.org/drawingml/2006/main">
              <a:ext uri="{FF2B5EF4-FFF2-40B4-BE49-F238E27FC236}">
                <a16:creationId xmlns:a16="http://schemas.microsoft.com/office/drawing/2014/main" id="{3E93FB5D-9268-4D3E-9360-CDF7792A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62400"/>
            <a:ext cx="3429000" cy="1600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C7457F9-D498-4839-847B-FDA337C2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62400"/>
            <a:ext cx="762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ard-label">
            <a:extLst xmlns:a="http://schemas.openxmlformats.org/drawingml/2006/main">
              <a:ext uri="{FF2B5EF4-FFF2-40B4-BE49-F238E27FC236}">
                <a16:creationId xmlns:a16="http://schemas.microsoft.com/office/drawing/2014/main" id="{40A30040-A9A5-4002-8902-061A93D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529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TYPE 6</a:t>
            </a:r>
          </a:p>
        </p:txBody>
      </p:sp>
      <p:sp>
        <p:nvSpPr>
          <p:cNvPr id="41" name="card-title">
            <a:extLst xmlns:a="http://schemas.openxmlformats.org/drawingml/2006/main">
              <a:ext uri="{FF2B5EF4-FFF2-40B4-BE49-F238E27FC236}">
                <a16:creationId xmlns:a16="http://schemas.microsoft.com/office/drawing/2014/main" id="{FE4B2BA6-5C16-4DAD-B856-5041C3A0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지식 검색</a:t>
            </a:r>
          </a:p>
        </p:txBody>
      </p:sp>
      <p:sp>
        <p:nvSpPr>
          <p:cNvPr id="42" name="card-body">
            <a:extLst xmlns:a="http://schemas.openxmlformats.org/drawingml/2006/main">
              <a:ext uri="{FF2B5EF4-FFF2-40B4-BE49-F238E27FC236}">
                <a16:creationId xmlns:a16="http://schemas.microsoft.com/office/drawing/2014/main" id="{2E8735D1-1F03-4F95-B6D3-245ECF2D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81550"/>
            <a:ext cx="2971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사내 절차와 매뉴얼에서 근거를 찾아 응답 초안 작성</a:t>
            </a:r>
          </a:p>
        </p:txBody>
      </p:sp>
    </p:spTree>
    <p:extLst>
      <p:ext uri="{BB962C8B-B14F-4D97-AF65-F5344CB8AC3E}">
        <p14:creationId xmlns:p14="http://schemas.microsoft.com/office/powerpoint/2010/main" val="19590116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19C39810-B376-4E56-B38E-66632C43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48D18AA2-3240-4D7B-ABDD-1E01E41E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290AAFF4-C421-4C36-9D30-A2395B7D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B49BBBA9-6EB0-4CB0-A33C-39D2A175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64F36D37-9496-48CC-88AC-1270C391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AFE62C33-EA26-47B0-9BDB-78AA06B7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ACTIVITY 2 · 16:30-16:45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11E48328-BED9-491C-A818-6A4B5F86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과제 후보 점수화: 실행 가능한 후보를 고릅니다.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BAC8AB70-BB27-4EA3-B7D4-2C6991E9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좋아 보이는 아이디어가 아니라 8월 21일에 만들 수 있는 후보를 남깁니다.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EFA9F7FF-6CD1-4AA2-9C05-945A97E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DFA31229-A7B3-4066-A538-888105D5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5EFA9D42-C499-499A-B72F-F7E80B29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A028063-3D46-4D91-AD7A-58B3CE2E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3" name="card-진행 방법">
            <a:extLst xmlns:a="http://schemas.openxmlformats.org/drawingml/2006/main">
              <a:ext uri="{FF2B5EF4-FFF2-40B4-BE49-F238E27FC236}">
                <a16:creationId xmlns:a16="http://schemas.microsoft.com/office/drawing/2014/main" id="{E667E8C0-5532-4AB4-814E-4D776B75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7B75437-4B6E-48E1-9E6E-60171DD2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E945B478-1D5E-48FD-A2EE-B7B17D1C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진행 방법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F747B66D-0294-423F-B39F-2E81CE38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39E28706-DCEB-4990-8FE0-72E2E813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후보별 5개 기준 점수화 → 제외 조건 확인 →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팀 토론용 후보 1-2개 선정</a:t>
            </a:r>
          </a:p>
        </p:txBody>
      </p:sp>
      <p:sp>
        <p:nvSpPr>
          <p:cNvPr id="18" name="card-결과물">
            <a:extLst xmlns:a="http://schemas.openxmlformats.org/drawingml/2006/main">
              <a:ext uri="{FF2B5EF4-FFF2-40B4-BE49-F238E27FC236}">
                <a16:creationId xmlns:a16="http://schemas.microsoft.com/office/drawing/2014/main" id="{37591CF3-6F81-4B18-83C8-DF365DFB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4EFBAF1-0860-4E5B-8A3D-95CF2084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20F3F1C7-7BCD-45EF-BB21-A3A665CC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9FFD62FA-D6A9-4CC4-BACE-3A664689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CA71EB2D-D8F9-408A-AE4C-A7CA5596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팀 토론으로 가져갈 후보 목록</a:t>
            </a:r>
          </a:p>
        </p:txBody>
      </p:sp>
      <p:sp>
        <p:nvSpPr>
          <p:cNvPr id="23" name="card-운영 팁">
            <a:extLst xmlns:a="http://schemas.openxmlformats.org/drawingml/2006/main">
              <a:ext uri="{FF2B5EF4-FFF2-40B4-BE49-F238E27FC236}">
                <a16:creationId xmlns:a16="http://schemas.microsoft.com/office/drawing/2014/main" id="{033FDA8B-A6BB-4616-B24C-3E8D242B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0D6DE3A-14EB-473D-AD06-5B8FEBB3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94AFCAF1-AF31-4273-871E-FEAF74B4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 팁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FE75A684-1D37-421A-B9A2-958739C1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Facilitator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3D727F03-ABFF-4541-B323-236333E7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타이머를 보이게 두고, 각 팀의 산출물은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단계 장표에 바로 옮겨 적게 합니다.</a:t>
            </a:r>
          </a:p>
        </p:txBody>
      </p:sp>
    </p:spTree>
    <p:extLst>
      <p:ext uri="{BB962C8B-B14F-4D97-AF65-F5344CB8AC3E}">
        <p14:creationId xmlns:p14="http://schemas.microsoft.com/office/powerpoint/2010/main" val="1057131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AA4D7204-1D97-41EE-9D7B-80302A46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B9459576-E906-4226-AB6F-222A2413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ECE8B317-636C-4466-AF66-D38398F8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F6A85C0D-21A0-44F4-8420-B838FA20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F1DFAC89-2A0E-4D5D-9106-39C9D7A6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9C9EBB3C-436B-45F2-83D8-4236E24F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워크시트 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02A3EF3-6880-4B37-A412-934CA142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과제 후보 점수화: 8월에 시연할 후보를 고릅니다.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B917F8C1-0825-41EE-958D-A99324C6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각 후보를 1-5점으로 평가하고, 총점보다 치명적 결격 조건을 먼저 확인합니다.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301C5736-2656-4258-AF1C-1687289B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F64F6753-45F4-4AD8-A6F3-25753309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D5A5DC76-B080-4C5A-A7F9-63F39186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618D596-8FAB-4128-A232-11C1119A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3" name="score-header">
            <a:extLst xmlns:a="http://schemas.openxmlformats.org/drawingml/2006/main">
              <a:ext uri="{FF2B5EF4-FFF2-40B4-BE49-F238E27FC236}">
                <a16:creationId xmlns:a16="http://schemas.microsoft.com/office/drawing/2014/main" id="{EA81DD98-9977-41E0-8ED0-0C88FBC8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4" name="score-head-text">
            <a:extLst xmlns:a="http://schemas.openxmlformats.org/drawingml/2006/main">
              <a:ext uri="{FF2B5EF4-FFF2-40B4-BE49-F238E27FC236}">
                <a16:creationId xmlns:a16="http://schemas.microsoft.com/office/drawing/2014/main" id="{5CF653B4-85E2-448C-9E1F-C97506DA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후보 업무</a:t>
            </a:r>
          </a:p>
        </p:txBody>
      </p:sp>
      <p:sp>
        <p:nvSpPr>
          <p:cNvPr id="15" name="score-header">
            <a:extLst xmlns:a="http://schemas.openxmlformats.org/drawingml/2006/main">
              <a:ext uri="{FF2B5EF4-FFF2-40B4-BE49-F238E27FC236}">
                <a16:creationId xmlns:a16="http://schemas.microsoft.com/office/drawing/2014/main" id="{CFA4A44A-81D5-473B-9606-68398D0D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14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6" name="score-head-text">
            <a:extLst xmlns:a="http://schemas.openxmlformats.org/drawingml/2006/main">
              <a:ext uri="{FF2B5EF4-FFF2-40B4-BE49-F238E27FC236}">
                <a16:creationId xmlns:a16="http://schemas.microsoft.com/office/drawing/2014/main" id="{3C3A0310-ABD8-42A7-85DB-6E841605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현업성</a:t>
            </a:r>
          </a:p>
        </p:txBody>
      </p:sp>
      <p:sp>
        <p:nvSpPr>
          <p:cNvPr id="17" name="score-header">
            <a:extLst xmlns:a="http://schemas.openxmlformats.org/drawingml/2006/main">
              <a:ext uri="{FF2B5EF4-FFF2-40B4-BE49-F238E27FC236}">
                <a16:creationId xmlns:a16="http://schemas.microsoft.com/office/drawing/2014/main" id="{BB463005-6BF9-4E40-8576-C1D5362F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114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8" name="score-head-text">
            <a:extLst xmlns:a="http://schemas.openxmlformats.org/drawingml/2006/main">
              <a:ext uri="{FF2B5EF4-FFF2-40B4-BE49-F238E27FC236}">
                <a16:creationId xmlns:a16="http://schemas.microsoft.com/office/drawing/2014/main" id="{80E5C46B-9D22-469E-A0AC-8FFB6E0D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구현성</a:t>
            </a:r>
          </a:p>
        </p:txBody>
      </p:sp>
      <p:sp>
        <p:nvSpPr>
          <p:cNvPr id="19" name="score-header">
            <a:extLst xmlns:a="http://schemas.openxmlformats.org/drawingml/2006/main">
              <a:ext uri="{FF2B5EF4-FFF2-40B4-BE49-F238E27FC236}">
                <a16:creationId xmlns:a16="http://schemas.microsoft.com/office/drawing/2014/main" id="{CDDF7ED7-25A6-4751-A371-42F25952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14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0" name="score-head-text">
            <a:extLst xmlns:a="http://schemas.openxmlformats.org/drawingml/2006/main">
              <a:ext uri="{FF2B5EF4-FFF2-40B4-BE49-F238E27FC236}">
                <a16:creationId xmlns:a16="http://schemas.microsoft.com/office/drawing/2014/main" id="{80A546D2-1534-4BA9-8F2F-0261912D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자료 준비</a:t>
            </a:r>
          </a:p>
        </p:txBody>
      </p:sp>
      <p:sp>
        <p:nvSpPr>
          <p:cNvPr id="21" name="score-header">
            <a:extLst xmlns:a="http://schemas.openxmlformats.org/drawingml/2006/main">
              <a:ext uri="{FF2B5EF4-FFF2-40B4-BE49-F238E27FC236}">
                <a16:creationId xmlns:a16="http://schemas.microsoft.com/office/drawing/2014/main" id="{C92BB032-8A38-4E7F-A7E6-BD6B5CAC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14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2" name="score-head-text">
            <a:extLst xmlns:a="http://schemas.openxmlformats.org/drawingml/2006/main">
              <a:ext uri="{FF2B5EF4-FFF2-40B4-BE49-F238E27FC236}">
                <a16:creationId xmlns:a16="http://schemas.microsoft.com/office/drawing/2014/main" id="{E59DA5F3-C5DB-475D-97CF-C8EB300F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검증성</a:t>
            </a:r>
          </a:p>
        </p:txBody>
      </p:sp>
      <p:sp>
        <p:nvSpPr>
          <p:cNvPr id="23" name="score-header">
            <a:extLst xmlns:a="http://schemas.openxmlformats.org/drawingml/2006/main">
              <a:ext uri="{FF2B5EF4-FFF2-40B4-BE49-F238E27FC236}">
                <a16:creationId xmlns:a16="http://schemas.microsoft.com/office/drawing/2014/main" id="{127BEB7A-172A-4EB6-8572-A2BBC88C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14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4" name="score-head-text">
            <a:extLst xmlns:a="http://schemas.openxmlformats.org/drawingml/2006/main">
              <a:ext uri="{FF2B5EF4-FFF2-40B4-BE49-F238E27FC236}">
                <a16:creationId xmlns:a16="http://schemas.microsoft.com/office/drawing/2014/main" id="{0C6E64A9-8D50-434E-A22E-D21C7171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38375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발표성</a:t>
            </a:r>
          </a:p>
        </p:txBody>
      </p:sp>
      <p:sp>
        <p:nvSpPr>
          <p:cNvPr id="25" name="score-header">
            <a:extLst xmlns:a="http://schemas.openxmlformats.org/drawingml/2006/main">
              <a:ext uri="{FF2B5EF4-FFF2-40B4-BE49-F238E27FC236}">
                <a16:creationId xmlns:a16="http://schemas.microsoft.com/office/drawing/2014/main" id="{A9A54975-526B-4015-BD12-C6D08622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145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6" name="score-head-text">
            <a:extLst xmlns:a="http://schemas.openxmlformats.org/drawingml/2006/main">
              <a:ext uri="{FF2B5EF4-FFF2-40B4-BE49-F238E27FC236}">
                <a16:creationId xmlns:a16="http://schemas.microsoft.com/office/drawing/2014/main" id="{7E25B979-760A-4AEC-9212-E9C988F2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238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비고/리스크</a:t>
            </a:r>
          </a:p>
        </p:txBody>
      </p:sp>
      <p:sp>
        <p:nvSpPr>
          <p:cNvPr id="27" name="score-cell">
            <a:extLst xmlns:a="http://schemas.openxmlformats.org/drawingml/2006/main">
              <a:ext uri="{FF2B5EF4-FFF2-40B4-BE49-F238E27FC236}">
                <a16:creationId xmlns:a16="http://schemas.microsoft.com/office/drawing/2014/main" id="{BE9C6642-E476-4FF0-9DE5-40908982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8" name="candidate-placeholder">
            <a:extLst xmlns:a="http://schemas.openxmlformats.org/drawingml/2006/main">
              <a:ext uri="{FF2B5EF4-FFF2-40B4-BE49-F238E27FC236}">
                <a16:creationId xmlns:a16="http://schemas.microsoft.com/office/drawing/2014/main" id="{CA686639-399A-450D-A169-688FEDD7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955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후보 1</a:t>
            </a:r>
          </a:p>
        </p:txBody>
      </p:sp>
      <p:sp>
        <p:nvSpPr>
          <p:cNvPr id="29" name="score-cell">
            <a:extLst xmlns:a="http://schemas.openxmlformats.org/drawingml/2006/main">
              <a:ext uri="{FF2B5EF4-FFF2-40B4-BE49-F238E27FC236}">
                <a16:creationId xmlns:a16="http://schemas.microsoft.com/office/drawing/2014/main" id="{8B38A17D-0DB1-47A7-933C-3BD88449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0" name="score-cell">
            <a:extLst xmlns:a="http://schemas.openxmlformats.org/drawingml/2006/main">
              <a:ext uri="{FF2B5EF4-FFF2-40B4-BE49-F238E27FC236}">
                <a16:creationId xmlns:a16="http://schemas.microsoft.com/office/drawing/2014/main" id="{4328E430-321D-448E-AF59-D54C637B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717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1" name="score-cell">
            <a:extLst xmlns:a="http://schemas.openxmlformats.org/drawingml/2006/main">
              <a:ext uri="{FF2B5EF4-FFF2-40B4-BE49-F238E27FC236}">
                <a16:creationId xmlns:a16="http://schemas.microsoft.com/office/drawing/2014/main" id="{C3E71826-63F6-4012-A62F-6276EC82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2" name="score-cell">
            <a:extLst xmlns:a="http://schemas.openxmlformats.org/drawingml/2006/main">
              <a:ext uri="{FF2B5EF4-FFF2-40B4-BE49-F238E27FC236}">
                <a16:creationId xmlns:a16="http://schemas.microsoft.com/office/drawing/2014/main" id="{82348AD3-0248-4DA2-A078-5DE5B6AC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3" name="score-cell">
            <a:extLst xmlns:a="http://schemas.openxmlformats.org/drawingml/2006/main">
              <a:ext uri="{FF2B5EF4-FFF2-40B4-BE49-F238E27FC236}">
                <a16:creationId xmlns:a16="http://schemas.microsoft.com/office/drawing/2014/main" id="{5850CC28-1E59-473C-90E7-D622446C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4" name="score-cell">
            <a:extLst xmlns:a="http://schemas.openxmlformats.org/drawingml/2006/main">
              <a:ext uri="{FF2B5EF4-FFF2-40B4-BE49-F238E27FC236}">
                <a16:creationId xmlns:a16="http://schemas.microsoft.com/office/drawing/2014/main" id="{C0F0A1EF-AD5B-469A-8702-FE1776E0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5" name="score-cell">
            <a:extLst xmlns:a="http://schemas.openxmlformats.org/drawingml/2006/main">
              <a:ext uri="{FF2B5EF4-FFF2-40B4-BE49-F238E27FC236}">
                <a16:creationId xmlns:a16="http://schemas.microsoft.com/office/drawing/2014/main" id="{2E9007FA-4BAF-47C2-AF24-CFFFBF8F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6" name="candidate-placeholder">
            <a:extLst xmlns:a="http://schemas.openxmlformats.org/drawingml/2006/main">
              <a:ext uri="{FF2B5EF4-FFF2-40B4-BE49-F238E27FC236}">
                <a16:creationId xmlns:a16="http://schemas.microsoft.com/office/drawing/2014/main" id="{969EF1DE-DA2C-4557-81A0-4A5FC4570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527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후보 2</a:t>
            </a:r>
          </a:p>
        </p:txBody>
      </p:sp>
      <p:sp>
        <p:nvSpPr>
          <p:cNvPr id="37" name="score-cell">
            <a:extLst xmlns:a="http://schemas.openxmlformats.org/drawingml/2006/main">
              <a:ext uri="{FF2B5EF4-FFF2-40B4-BE49-F238E27FC236}">
                <a16:creationId xmlns:a16="http://schemas.microsoft.com/office/drawing/2014/main" id="{DE34732E-C94F-40AF-BAC8-28218AEE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8" name="score-cell">
            <a:extLst xmlns:a="http://schemas.openxmlformats.org/drawingml/2006/main">
              <a:ext uri="{FF2B5EF4-FFF2-40B4-BE49-F238E27FC236}">
                <a16:creationId xmlns:a16="http://schemas.microsoft.com/office/drawing/2014/main" id="{0648EB43-DD43-4CC3-965C-6F67DF88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0289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9" name="score-cell">
            <a:extLst xmlns:a="http://schemas.openxmlformats.org/drawingml/2006/main">
              <a:ext uri="{FF2B5EF4-FFF2-40B4-BE49-F238E27FC236}">
                <a16:creationId xmlns:a16="http://schemas.microsoft.com/office/drawing/2014/main" id="{CD35FBD7-08F3-4431-96A7-6984B2C9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0" name="score-cell">
            <a:extLst xmlns:a="http://schemas.openxmlformats.org/drawingml/2006/main">
              <a:ext uri="{FF2B5EF4-FFF2-40B4-BE49-F238E27FC236}">
                <a16:creationId xmlns:a16="http://schemas.microsoft.com/office/drawing/2014/main" id="{3D2D8832-C5F6-45F3-A0F0-C599EED2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289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1" name="score-cell">
            <a:extLst xmlns:a="http://schemas.openxmlformats.org/drawingml/2006/main">
              <a:ext uri="{FF2B5EF4-FFF2-40B4-BE49-F238E27FC236}">
                <a16:creationId xmlns:a16="http://schemas.microsoft.com/office/drawing/2014/main" id="{79859257-EAC9-4C91-AF1F-677C17E0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2" name="score-cell">
            <a:extLst xmlns:a="http://schemas.openxmlformats.org/drawingml/2006/main">
              <a:ext uri="{FF2B5EF4-FFF2-40B4-BE49-F238E27FC236}">
                <a16:creationId xmlns:a16="http://schemas.microsoft.com/office/drawing/2014/main" id="{523FF623-3B3C-499B-870E-878EA36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3" name="score-cell">
            <a:extLst xmlns:a="http://schemas.openxmlformats.org/drawingml/2006/main">
              <a:ext uri="{FF2B5EF4-FFF2-40B4-BE49-F238E27FC236}">
                <a16:creationId xmlns:a16="http://schemas.microsoft.com/office/drawing/2014/main" id="{7A0C118A-12C5-4AA3-94C5-6A78AA12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4" name="candidate-placeholder">
            <a:extLst xmlns:a="http://schemas.openxmlformats.org/drawingml/2006/main">
              <a:ext uri="{FF2B5EF4-FFF2-40B4-BE49-F238E27FC236}">
                <a16:creationId xmlns:a16="http://schemas.microsoft.com/office/drawing/2014/main" id="{1C448DD7-B66F-4EC4-8A99-376B1D48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99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후보 3</a:t>
            </a:r>
          </a:p>
        </p:txBody>
      </p:sp>
      <p:sp>
        <p:nvSpPr>
          <p:cNvPr id="45" name="score-cell">
            <a:extLst xmlns:a="http://schemas.openxmlformats.org/drawingml/2006/main">
              <a:ext uri="{FF2B5EF4-FFF2-40B4-BE49-F238E27FC236}">
                <a16:creationId xmlns:a16="http://schemas.microsoft.com/office/drawing/2014/main" id="{D83FDECF-0D33-47E6-ABE4-1829A6A1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6" name="score-cell">
            <a:extLst xmlns:a="http://schemas.openxmlformats.org/drawingml/2006/main">
              <a:ext uri="{FF2B5EF4-FFF2-40B4-BE49-F238E27FC236}">
                <a16:creationId xmlns:a16="http://schemas.microsoft.com/office/drawing/2014/main" id="{B1E310A6-61C2-493A-8220-F06088B8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861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7" name="score-cell">
            <a:extLst xmlns:a="http://schemas.openxmlformats.org/drawingml/2006/main">
              <a:ext uri="{FF2B5EF4-FFF2-40B4-BE49-F238E27FC236}">
                <a16:creationId xmlns:a16="http://schemas.microsoft.com/office/drawing/2014/main" id="{164A420F-6F50-4405-8AC4-9C2225E2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861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8" name="score-cell">
            <a:extLst xmlns:a="http://schemas.openxmlformats.org/drawingml/2006/main">
              <a:ext uri="{FF2B5EF4-FFF2-40B4-BE49-F238E27FC236}">
                <a16:creationId xmlns:a16="http://schemas.microsoft.com/office/drawing/2014/main" id="{94F870B3-423A-4BE7-B39B-6DF757D0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861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9" name="score-cell">
            <a:extLst xmlns:a="http://schemas.openxmlformats.org/drawingml/2006/main">
              <a:ext uri="{FF2B5EF4-FFF2-40B4-BE49-F238E27FC236}">
                <a16:creationId xmlns:a16="http://schemas.microsoft.com/office/drawing/2014/main" id="{C4DEED63-3C00-4283-B313-9CE069E8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0" name="score-cell">
            <a:extLst xmlns:a="http://schemas.openxmlformats.org/drawingml/2006/main">
              <a:ext uri="{FF2B5EF4-FFF2-40B4-BE49-F238E27FC236}">
                <a16:creationId xmlns:a16="http://schemas.microsoft.com/office/drawing/2014/main" id="{03BAC0C1-2121-4CBF-BEFA-F3C2DD52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861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1" name="score-cell">
            <a:extLst xmlns:a="http://schemas.openxmlformats.org/drawingml/2006/main">
              <a:ext uri="{FF2B5EF4-FFF2-40B4-BE49-F238E27FC236}">
                <a16:creationId xmlns:a16="http://schemas.microsoft.com/office/drawing/2014/main" id="{9EB4B6FD-6D93-4D5C-8889-597B0BF6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2" name="candidate-placeholder">
            <a:extLst xmlns:a="http://schemas.openxmlformats.org/drawingml/2006/main">
              <a:ext uri="{FF2B5EF4-FFF2-40B4-BE49-F238E27FC236}">
                <a16:creationId xmlns:a16="http://schemas.microsoft.com/office/drawing/2014/main" id="{73B70B9D-9785-40DD-B21D-53998BB0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후보 4</a:t>
            </a:r>
          </a:p>
        </p:txBody>
      </p:sp>
      <p:sp>
        <p:nvSpPr>
          <p:cNvPr id="53" name="score-cell">
            <a:extLst xmlns:a="http://schemas.openxmlformats.org/drawingml/2006/main">
              <a:ext uri="{FF2B5EF4-FFF2-40B4-BE49-F238E27FC236}">
                <a16:creationId xmlns:a16="http://schemas.microsoft.com/office/drawing/2014/main" id="{FFAE671C-4E15-4480-BA01-89650629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43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4" name="score-cell">
            <a:extLst xmlns:a="http://schemas.openxmlformats.org/drawingml/2006/main">
              <a:ext uri="{FF2B5EF4-FFF2-40B4-BE49-F238E27FC236}">
                <a16:creationId xmlns:a16="http://schemas.microsoft.com/office/drawing/2014/main" id="{326F8F5C-8D62-48A1-89CA-E1F567AF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43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5" name="score-cell">
            <a:extLst xmlns:a="http://schemas.openxmlformats.org/drawingml/2006/main">
              <a:ext uri="{FF2B5EF4-FFF2-40B4-BE49-F238E27FC236}">
                <a16:creationId xmlns:a16="http://schemas.microsoft.com/office/drawing/2014/main" id="{1605E59B-D25F-4631-9753-A6CCC785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43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6" name="score-cell">
            <a:extLst xmlns:a="http://schemas.openxmlformats.org/drawingml/2006/main">
              <a:ext uri="{FF2B5EF4-FFF2-40B4-BE49-F238E27FC236}">
                <a16:creationId xmlns:a16="http://schemas.microsoft.com/office/drawing/2014/main" id="{F795A60B-4614-4A9D-AAD3-71BECD25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43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7" name="score-cell">
            <a:extLst xmlns:a="http://schemas.openxmlformats.org/drawingml/2006/main">
              <a:ext uri="{FF2B5EF4-FFF2-40B4-BE49-F238E27FC236}">
                <a16:creationId xmlns:a16="http://schemas.microsoft.com/office/drawing/2014/main" id="{AEAD3194-E595-494E-B741-27B4A985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433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8" name="score-cell">
            <a:extLst xmlns:a="http://schemas.openxmlformats.org/drawingml/2006/main">
              <a:ext uri="{FF2B5EF4-FFF2-40B4-BE49-F238E27FC236}">
                <a16:creationId xmlns:a16="http://schemas.microsoft.com/office/drawing/2014/main" id="{55C36984-D77D-4650-9AD6-84F92E5C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433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9" name="score-cell">
            <a:extLst xmlns:a="http://schemas.openxmlformats.org/drawingml/2006/main">
              <a:ext uri="{FF2B5EF4-FFF2-40B4-BE49-F238E27FC236}">
                <a16:creationId xmlns:a16="http://schemas.microsoft.com/office/drawing/2014/main" id="{A2D139E5-97AE-4ADE-AB8C-E9684806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60" name="candidate-placeholder">
            <a:extLst xmlns:a="http://schemas.openxmlformats.org/drawingml/2006/main">
              <a:ext uri="{FF2B5EF4-FFF2-40B4-BE49-F238E27FC236}">
                <a16:creationId xmlns:a16="http://schemas.microsoft.com/office/drawing/2014/main" id="{DDE8CA2C-BF49-4A9B-97A8-55D1B629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후보 5</a:t>
            </a:r>
          </a:p>
        </p:txBody>
      </p:sp>
      <p:sp>
        <p:nvSpPr>
          <p:cNvPr id="61" name="score-cell">
            <a:extLst xmlns:a="http://schemas.openxmlformats.org/drawingml/2006/main">
              <a:ext uri="{FF2B5EF4-FFF2-40B4-BE49-F238E27FC236}">
                <a16:creationId xmlns:a16="http://schemas.microsoft.com/office/drawing/2014/main" id="{C13A7CDB-2EA9-4EA4-A3A4-BFF9BD6B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62" name="score-cell">
            <a:extLst xmlns:a="http://schemas.openxmlformats.org/drawingml/2006/main">
              <a:ext uri="{FF2B5EF4-FFF2-40B4-BE49-F238E27FC236}">
                <a16:creationId xmlns:a16="http://schemas.microsoft.com/office/drawing/2014/main" id="{93F50EC1-EF8B-462C-91C1-CC6A5871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00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63" name="score-cell">
            <a:extLst xmlns:a="http://schemas.openxmlformats.org/drawingml/2006/main">
              <a:ext uri="{FF2B5EF4-FFF2-40B4-BE49-F238E27FC236}">
                <a16:creationId xmlns:a16="http://schemas.microsoft.com/office/drawing/2014/main" id="{F075F3E4-8E39-41B1-8E9B-A0577591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00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64" name="score-cell">
            <a:extLst xmlns:a="http://schemas.openxmlformats.org/drawingml/2006/main">
              <a:ext uri="{FF2B5EF4-FFF2-40B4-BE49-F238E27FC236}">
                <a16:creationId xmlns:a16="http://schemas.microsoft.com/office/drawing/2014/main" id="{5493D545-2850-427F-B0A5-3DB3C580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00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65" name="score-cell">
            <a:extLst xmlns:a="http://schemas.openxmlformats.org/drawingml/2006/main">
              <a:ext uri="{FF2B5EF4-FFF2-40B4-BE49-F238E27FC236}">
                <a16:creationId xmlns:a16="http://schemas.microsoft.com/office/drawing/2014/main" id="{B30D9487-F105-4235-BBD2-18CB0FF1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00550"/>
            <a:ext cx="13811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66" name="score-cell">
            <a:extLst xmlns:a="http://schemas.openxmlformats.org/drawingml/2006/main">
              <a:ext uri="{FF2B5EF4-FFF2-40B4-BE49-F238E27FC236}">
                <a16:creationId xmlns:a16="http://schemas.microsoft.com/office/drawing/2014/main" id="{4E94AA95-49EF-4325-9FDE-904B3B4D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4005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67" name="drop-rule">
            <a:extLst xmlns:a="http://schemas.openxmlformats.org/drawingml/2006/main">
              <a:ext uri="{FF2B5EF4-FFF2-40B4-BE49-F238E27FC236}">
                <a16:creationId xmlns:a16="http://schemas.microsoft.com/office/drawing/2014/main" id="{C8331420-863A-41CB-9249-EE8EF0C1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9E0B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F59E0B"/>
                </a:solidFill>
                <a:latin typeface="Pretendard"/>
                <a:ea typeface="Pretendard"/>
                <a:cs typeface="Pretendard"/>
              </a:rPr>
              <a:t>제외 조건: 안전한 샘플 자료를 준비할 수 없음 · 사람 검토 기준을 설명할 수 없음 · 8시간 시연이 불가능함</a:t>
            </a:r>
          </a:p>
        </p:txBody>
      </p:sp>
    </p:spTree>
    <p:extLst>
      <p:ext uri="{BB962C8B-B14F-4D97-AF65-F5344CB8AC3E}">
        <p14:creationId xmlns:p14="http://schemas.microsoft.com/office/powerpoint/2010/main" val="18126562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C8FFC131-4A7E-4DA2-883A-4D025FD5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DC39359B-2EF4-47EF-AC90-17E85C4C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5C7D9093-9131-41E5-A6A7-6DDC7A61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39C02957-EDA3-49BA-B07D-E823133D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AC976DCE-43D3-430B-AF16-641281E3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52727463-6D3C-4D0D-9E2A-810A020F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ACTIVITY 3 · 16:45-17:05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E674142-129D-4D0D-821A-1F5F31D1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팀빌딩: 3인 1조, 총 5개 프로젝트팀을 확정합니다.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BF0F13E6-F020-41A0-85B1-8E751668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부서보다 역할과 주제 축을 기준으로 팀을 구성합니다.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B79F3DF7-13A2-4279-A3F4-EB75E599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243839B9-DD71-45D5-9560-34506869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7785AAE0-7BAA-4B70-A003-C47C42B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A565B28-05B5-4339-BDDC-F04DD57E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13" name="card-진행 방법">
            <a:extLst xmlns:a="http://schemas.openxmlformats.org/drawingml/2006/main">
              <a:ext uri="{FF2B5EF4-FFF2-40B4-BE49-F238E27FC236}">
                <a16:creationId xmlns:a16="http://schemas.microsoft.com/office/drawing/2014/main" id="{A249BDF4-8413-4040-B8AB-A0763B0B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6681A54-0589-45B2-B50D-2BAB7AC2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40A85081-D04A-42CF-BDE6-92827C39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진행 방법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468A613E-E97D-495B-B307-AFC73E14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2DA8A8CA-0B57-46E8-974E-5E198FC8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 오너, 구현 담당, 검증·발표 담당을 먼저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정하고 주제 축을 선택</a:t>
            </a:r>
          </a:p>
        </p:txBody>
      </p:sp>
      <p:sp>
        <p:nvSpPr>
          <p:cNvPr id="18" name="card-결과물">
            <a:extLst xmlns:a="http://schemas.openxmlformats.org/drawingml/2006/main">
              <a:ext uri="{FF2B5EF4-FFF2-40B4-BE49-F238E27FC236}">
                <a16:creationId xmlns:a16="http://schemas.microsoft.com/office/drawing/2014/main" id="{A80EDC3C-4E99-4460-BF88-264025DD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421BDC8-647B-40E5-984A-2928A231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6BE968A8-5FD2-4E75-946C-82EE00C1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B294BE06-5B7B-4148-9D9D-DDA1A534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F18387CA-8A22-4F6D-ADAC-C7AB9E29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5개 팀 구성표와 팀별 1순위 업무 문제</a:t>
            </a:r>
          </a:p>
        </p:txBody>
      </p:sp>
      <p:sp>
        <p:nvSpPr>
          <p:cNvPr id="23" name="card-운영 팁">
            <a:extLst xmlns:a="http://schemas.openxmlformats.org/drawingml/2006/main">
              <a:ext uri="{FF2B5EF4-FFF2-40B4-BE49-F238E27FC236}">
                <a16:creationId xmlns:a16="http://schemas.microsoft.com/office/drawing/2014/main" id="{4B9F7A76-8281-4516-AA86-B5A88C69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F2959C6-3441-4507-9C29-21C41A23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C4C6C1AE-19D0-45A6-8E12-7E938F2C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 팁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8895D32B-37B1-4A04-B09C-2F403AE6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Facilitator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3057D063-EF5C-4DDC-A265-3D984006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타이머를 보이게 두고, 각 팀의 산출물은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단계 장표에 바로 옮겨 적게 합니다.</a:t>
            </a:r>
          </a:p>
        </p:txBody>
      </p:sp>
    </p:spTree>
    <p:extLst>
      <p:ext uri="{BB962C8B-B14F-4D97-AF65-F5344CB8AC3E}">
        <p14:creationId xmlns:p14="http://schemas.microsoft.com/office/powerpoint/2010/main" val="17604481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9DCC0175-1FD1-45E2-8376-AF9A56E8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634C4EDF-9CF3-4E93-AC04-74220754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A2299EC2-EB34-4F80-83CC-965AEFED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4369A46A-3870-4945-805D-7D46B394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8730008C-3B18-4A21-8AEC-B2F2E236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C9938064-439E-46CA-8220-B2CDA4E4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워크시트 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68060A-C59D-4D17-8FF6-DF92642B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 구성 카드: 3명이 맡을 역할과 주제 축을 확정합니다.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1E05E112-6C66-4FFE-BA4D-9D170816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팀 주제 축은 고정 배정이 아니라 8월 구현 과제를 좁히기 위한 권장 방향입니다.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024528BC-9044-460B-9C28-13375A1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4DA34885-F99A-48A0-B750-88839B88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BC085E6B-C436-450E-860A-86747F0A0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D16EDD2D-848D-42DD-98C6-B1A13C25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13" name="field-label">
            <a:extLst xmlns:a="http://schemas.openxmlformats.org/drawingml/2006/main">
              <a:ext uri="{FF2B5EF4-FFF2-40B4-BE49-F238E27FC236}">
                <a16:creationId xmlns:a16="http://schemas.microsoft.com/office/drawing/2014/main" id="{B2352702-FCCA-4D7D-B309-35B06E1B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팀명 / 주제 축</a:t>
            </a:r>
          </a:p>
        </p:txBody>
      </p:sp>
      <p:sp>
        <p:nvSpPr>
          <p:cNvPr id="14" name="field-팀명 / 주제 축">
            <a:extLst xmlns:a="http://schemas.openxmlformats.org/drawingml/2006/main">
              <a:ext uri="{FF2B5EF4-FFF2-40B4-BE49-F238E27FC236}">
                <a16:creationId xmlns:a16="http://schemas.microsoft.com/office/drawing/2014/main" id="{6B176883-CE65-4A81-992F-980DC948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314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5" name="field-hint">
            <a:extLst xmlns:a="http://schemas.openxmlformats.org/drawingml/2006/main">
              <a:ext uri="{FF2B5EF4-FFF2-40B4-BE49-F238E27FC236}">
                <a16:creationId xmlns:a16="http://schemas.microsoft.com/office/drawing/2014/main" id="{70350ED6-EBE0-4CB9-AFCB-710B566E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예: Team 1 · 서비스 운영/고객 접점</a:t>
            </a:r>
          </a:p>
        </p:txBody>
      </p:sp>
      <p:sp>
        <p:nvSpPr>
          <p:cNvPr id="16" name="field-label">
            <a:extLst xmlns:a="http://schemas.openxmlformats.org/drawingml/2006/main">
              <a:ext uri="{FF2B5EF4-FFF2-40B4-BE49-F238E27FC236}">
                <a16:creationId xmlns:a16="http://schemas.microsoft.com/office/drawing/2014/main" id="{54ECDD35-E7FA-41B2-876F-ABF3EE34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업무 오너</a:t>
            </a:r>
          </a:p>
        </p:txBody>
      </p:sp>
      <p:sp>
        <p:nvSpPr>
          <p:cNvPr id="17" name="field-업무 오너">
            <a:extLst xmlns:a="http://schemas.openxmlformats.org/drawingml/2006/main">
              <a:ext uri="{FF2B5EF4-FFF2-40B4-BE49-F238E27FC236}">
                <a16:creationId xmlns:a16="http://schemas.microsoft.com/office/drawing/2014/main" id="{51707E25-2258-4E29-9190-33639590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62200"/>
            <a:ext cx="3314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8" name="field-hint">
            <a:extLst xmlns:a="http://schemas.openxmlformats.org/drawingml/2006/main">
              <a:ext uri="{FF2B5EF4-FFF2-40B4-BE49-F238E27FC236}">
                <a16:creationId xmlns:a16="http://schemas.microsoft.com/office/drawing/2014/main" id="{5CE32A54-3BB1-4E5A-80B1-BB47BC6C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9555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이름 / 부서 / 대표 업무 문제</a:t>
            </a:r>
          </a:p>
        </p:txBody>
      </p:sp>
      <p:sp>
        <p:nvSpPr>
          <p:cNvPr id="19" name="field-label">
            <a:extLst xmlns:a="http://schemas.openxmlformats.org/drawingml/2006/main">
              <a:ext uri="{FF2B5EF4-FFF2-40B4-BE49-F238E27FC236}">
                <a16:creationId xmlns:a16="http://schemas.microsoft.com/office/drawing/2014/main" id="{A557EECB-A588-4643-BAAA-727037FE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구현 담당</a:t>
            </a:r>
          </a:p>
        </p:txBody>
      </p:sp>
      <p:sp>
        <p:nvSpPr>
          <p:cNvPr id="20" name="field-구현 담당">
            <a:extLst xmlns:a="http://schemas.openxmlformats.org/drawingml/2006/main">
              <a:ext uri="{FF2B5EF4-FFF2-40B4-BE49-F238E27FC236}">
                <a16:creationId xmlns:a16="http://schemas.microsoft.com/office/drawing/2014/main" id="{7DD915D9-B16B-42A9-AFB5-7A3DC612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331470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1" name="field-hint">
            <a:extLst xmlns:a="http://schemas.openxmlformats.org/drawingml/2006/main">
              <a:ext uri="{FF2B5EF4-FFF2-40B4-BE49-F238E27FC236}">
                <a16:creationId xmlns:a16="http://schemas.microsoft.com/office/drawing/2014/main" id="{C054470D-EA85-4122-891B-3787CBE7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95550"/>
            <a:ext cx="3009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이름 / 구현 경험 / 사용할 도구</a:t>
            </a:r>
          </a:p>
        </p:txBody>
      </p:sp>
      <p:sp>
        <p:nvSpPr>
          <p:cNvPr id="22" name="field-label">
            <a:extLst xmlns:a="http://schemas.openxmlformats.org/drawingml/2006/main">
              <a:ext uri="{FF2B5EF4-FFF2-40B4-BE49-F238E27FC236}">
                <a16:creationId xmlns:a16="http://schemas.microsoft.com/office/drawing/2014/main" id="{4BC5E82B-C856-439A-82B9-745BC4CA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검증·발표 담당</a:t>
            </a:r>
          </a:p>
        </p:txBody>
      </p:sp>
      <p:sp>
        <p:nvSpPr>
          <p:cNvPr id="23" name="field-검증·발표 담당">
            <a:extLst xmlns:a="http://schemas.openxmlformats.org/drawingml/2006/main">
              <a:ext uri="{FF2B5EF4-FFF2-40B4-BE49-F238E27FC236}">
                <a16:creationId xmlns:a16="http://schemas.microsoft.com/office/drawing/2014/main" id="{58418F22-74D8-41A3-BBF6-C16E9164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33147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4" name="field-hint">
            <a:extLst xmlns:a="http://schemas.openxmlformats.org/drawingml/2006/main">
              <a:ext uri="{FF2B5EF4-FFF2-40B4-BE49-F238E27FC236}">
                <a16:creationId xmlns:a16="http://schemas.microsoft.com/office/drawing/2014/main" id="{B2CF2339-6F43-4598-AA77-E871BC0C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009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이름 / 검토 기준 / 발표 역할</a:t>
            </a:r>
          </a:p>
        </p:txBody>
      </p:sp>
      <p:sp>
        <p:nvSpPr>
          <p:cNvPr id="25" name="field-label">
            <a:extLst xmlns:a="http://schemas.openxmlformats.org/drawingml/2006/main">
              <a:ext uri="{FF2B5EF4-FFF2-40B4-BE49-F238E27FC236}">
                <a16:creationId xmlns:a16="http://schemas.microsoft.com/office/drawing/2014/main" id="{34206B63-147C-47CE-8319-D696F2EB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90950"/>
            <a:ext cx="7219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팀의 1순위 업무 문제</a:t>
            </a:r>
          </a:p>
        </p:txBody>
      </p:sp>
      <p:sp>
        <p:nvSpPr>
          <p:cNvPr id="26" name="field-팀의 1순위 업무 문제">
            <a:extLst xmlns:a="http://schemas.openxmlformats.org/drawingml/2006/main">
              <a:ext uri="{FF2B5EF4-FFF2-40B4-BE49-F238E27FC236}">
                <a16:creationId xmlns:a16="http://schemas.microsoft.com/office/drawing/2014/main" id="{9754851B-E190-48A4-8780-7F50909B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7650"/>
            <a:ext cx="72199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7" name="field-hint">
            <a:extLst xmlns:a="http://schemas.openxmlformats.org/drawingml/2006/main">
              <a:ext uri="{FF2B5EF4-FFF2-40B4-BE49-F238E27FC236}">
                <a16:creationId xmlns:a16="http://schemas.microsoft.com/office/drawing/2014/main" id="{BB76EE53-D128-4A19-A1E4-111D22B6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91000"/>
            <a:ext cx="6915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우리가 8월 21일에 구현해볼 문제를 한 문장으로 작성</a:t>
            </a:r>
          </a:p>
        </p:txBody>
      </p:sp>
    </p:spTree>
    <p:extLst>
      <p:ext uri="{BB962C8B-B14F-4D97-AF65-F5344CB8AC3E}">
        <p14:creationId xmlns:p14="http://schemas.microsoft.com/office/powerpoint/2010/main" val="18133746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7E3BFA65-373A-447D-8A40-D5003C26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77E36AA9-DC8F-45EF-BE27-BDCAD65F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AE855131-4373-4981-BCAD-4FB8BE68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DC447CCB-32A1-4850-BC33-DB71BCCB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CED63ABA-D8FE-4C9D-9250-F1318875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FD5D1A79-6EA2-47DA-9236-12A486C0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Project Canvas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5F01980-8B9C-4DC3-9926-1B5C0A35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팀별 Project Canvas는 8월 구현 수업의 입력값입니다.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E51879A1-BC09-4C4B-904F-BA8BCD35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토론 결과를 6개 칸으로 고정하면, 8월 21일에는 구현과 멘토링으로 바로 들어갈 수 있습니다.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801B9AB5-BA55-4060-9B22-37CACDD5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5FC0017A-5C62-4FDD-9780-11C5DB51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F88F5968-7B54-43CC-BAEB-83751F59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58FA4890-FA7B-4E7D-9801-565D5CA4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13" name="card-CANVAS 1">
            <a:extLst xmlns:a="http://schemas.openxmlformats.org/drawingml/2006/main">
              <a:ext uri="{FF2B5EF4-FFF2-40B4-BE49-F238E27FC236}">
                <a16:creationId xmlns:a16="http://schemas.microsoft.com/office/drawing/2014/main" id="{E0DF45BA-B298-4CB4-B176-9F84B3DF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4290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A6F0416-C776-4DC7-B762-036E2621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E8219068-E0FE-45DF-8DB2-7D20612A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CANVAS 1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440AB6F4-374C-4B64-9F60-20361DA0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업무 문제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14F4E533-6C1E-4BD4-B3C5-E5C735DB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무엇이 느리고 반복되는가?</a:t>
            </a:r>
          </a:p>
        </p:txBody>
      </p:sp>
      <p:sp>
        <p:nvSpPr>
          <p:cNvPr id="18" name="card-CANVAS 2">
            <a:extLst xmlns:a="http://schemas.openxmlformats.org/drawingml/2006/main">
              <a:ext uri="{FF2B5EF4-FFF2-40B4-BE49-F238E27FC236}">
                <a16:creationId xmlns:a16="http://schemas.microsoft.com/office/drawing/2014/main" id="{852B17B1-0A52-4DFF-8F8C-35034674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34290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421D5A5-7B88-4C61-AE0A-A25BF0D6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301EE59B-81EF-49BE-A1C0-0EBCA745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CANVAS 2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94A4C243-1487-4933-8FE1-F275F538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현재 방식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D595EBC9-C35B-400C-8363-1D41F721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86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누가 어떤 자료로 판단하는가?</a:t>
            </a:r>
          </a:p>
        </p:txBody>
      </p:sp>
      <p:sp>
        <p:nvSpPr>
          <p:cNvPr id="23" name="card-CANVAS 3">
            <a:extLst xmlns:a="http://schemas.openxmlformats.org/drawingml/2006/main">
              <a:ext uri="{FF2B5EF4-FFF2-40B4-BE49-F238E27FC236}">
                <a16:creationId xmlns:a16="http://schemas.microsoft.com/office/drawing/2014/main" id="{3853291F-23C1-470C-BC57-98874FF2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34290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82B5E74-BEBA-47CB-A0CD-142B7544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669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15390C5A-34E0-4181-B60E-CBC14CA6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CANVAS 3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7CFBB791-089B-4137-A419-54AEFC4D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051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입력/출력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E1733827-1B8B-4D0B-8947-DDE6932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861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AI가 참고할 입력과 생성할 초안</a:t>
            </a:r>
          </a:p>
        </p:txBody>
      </p:sp>
      <p:sp>
        <p:nvSpPr>
          <p:cNvPr id="28" name="card-CANVAS 4">
            <a:extLst xmlns:a="http://schemas.openxmlformats.org/drawingml/2006/main">
              <a:ext uri="{FF2B5EF4-FFF2-40B4-BE49-F238E27FC236}">
                <a16:creationId xmlns:a16="http://schemas.microsoft.com/office/drawing/2014/main" id="{6D6D33B3-BA31-444D-8B69-624FAA52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4290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588F7D1-4059-44BD-A1ED-2968153F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label">
            <a:extLst xmlns:a="http://schemas.openxmlformats.org/drawingml/2006/main">
              <a:ext uri="{FF2B5EF4-FFF2-40B4-BE49-F238E27FC236}">
                <a16:creationId xmlns:a16="http://schemas.microsoft.com/office/drawing/2014/main" id="{0D292813-47B9-49A9-BD74-DF7E833A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95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CANVAS 4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F419063B-B487-4895-912A-1B2BB8AD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 보조 역할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DB3F039F-0BBC-4F2B-B32E-328E4CBF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검색, 분류, 요약, 초안, 검증</a:t>
            </a:r>
          </a:p>
        </p:txBody>
      </p:sp>
      <p:sp>
        <p:nvSpPr>
          <p:cNvPr id="33" name="card-CANVAS 5">
            <a:extLst xmlns:a="http://schemas.openxmlformats.org/drawingml/2006/main">
              <a:ext uri="{FF2B5EF4-FFF2-40B4-BE49-F238E27FC236}">
                <a16:creationId xmlns:a16="http://schemas.microsoft.com/office/drawing/2014/main" id="{BE576BFD-084A-47AE-9CB1-41612A8F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34290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98E8E30-4113-4204-BEC5-A2B9B59D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29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rd-label">
            <a:extLst xmlns:a="http://schemas.openxmlformats.org/drawingml/2006/main">
              <a:ext uri="{FF2B5EF4-FFF2-40B4-BE49-F238E27FC236}">
                <a16:creationId xmlns:a16="http://schemas.microsoft.com/office/drawing/2014/main" id="{D001B098-64CB-4650-A33A-C79F06B9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195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CANVAS 5</a:t>
            </a:r>
          </a:p>
        </p:txBody>
      </p:sp>
      <p:sp>
        <p:nvSpPr>
          <p:cNvPr id="36" name="card-title">
            <a:extLst xmlns:a="http://schemas.openxmlformats.org/drawingml/2006/main">
              <a:ext uri="{FF2B5EF4-FFF2-40B4-BE49-F238E27FC236}">
                <a16:creationId xmlns:a16="http://schemas.microsoft.com/office/drawing/2014/main" id="{257B397F-0783-47CB-9462-95B1662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67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사람 검토</a:t>
            </a:r>
          </a:p>
        </p:txBody>
      </p:sp>
      <p:sp>
        <p:nvSpPr>
          <p:cNvPr id="37" name="card-body">
            <a:extLst xmlns:a="http://schemas.openxmlformats.org/drawingml/2006/main">
              <a:ext uri="{FF2B5EF4-FFF2-40B4-BE49-F238E27FC236}">
                <a16:creationId xmlns:a16="http://schemas.microsoft.com/office/drawing/2014/main" id="{28C3C625-3885-4106-9F6C-AA0E6015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품질, 보안, 승인, 예외 기준</a:t>
            </a:r>
          </a:p>
        </p:txBody>
      </p:sp>
      <p:sp>
        <p:nvSpPr>
          <p:cNvPr id="38" name="card-CANVAS 6">
            <a:extLst xmlns:a="http://schemas.openxmlformats.org/drawingml/2006/main">
              <a:ext uri="{FF2B5EF4-FFF2-40B4-BE49-F238E27FC236}">
                <a16:creationId xmlns:a16="http://schemas.microsoft.com/office/drawing/2014/main" id="{9E65CCE8-E1CE-408C-A0C1-18CDCACC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3429000" cy="1390650"/>
          </a:xfrm>
          <a:prstGeom xmlns:a="http://schemas.openxmlformats.org/drawingml/2006/main" prst="roundRect">
            <a:avLst>
              <a:gd name="adj" fmla="val 123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9D38835-A340-4957-832E-EC2C61FB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76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ard-label">
            <a:extLst xmlns:a="http://schemas.openxmlformats.org/drawingml/2006/main">
              <a:ext uri="{FF2B5EF4-FFF2-40B4-BE49-F238E27FC236}">
                <a16:creationId xmlns:a16="http://schemas.microsoft.com/office/drawing/2014/main" id="{18AE902B-1D9D-40E6-A34E-63490747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195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CANVAS 6</a:t>
            </a:r>
          </a:p>
        </p:txBody>
      </p:sp>
      <p:sp>
        <p:nvSpPr>
          <p:cNvPr id="41" name="card-title">
            <a:extLst xmlns:a="http://schemas.openxmlformats.org/drawingml/2006/main">
              <a:ext uri="{FF2B5EF4-FFF2-40B4-BE49-F238E27FC236}">
                <a16:creationId xmlns:a16="http://schemas.microsoft.com/office/drawing/2014/main" id="{011846EC-68ED-4F34-969B-AA6664CF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67200"/>
            <a:ext cx="2971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데모</a:t>
            </a:r>
          </a:p>
        </p:txBody>
      </p:sp>
      <p:sp>
        <p:nvSpPr>
          <p:cNvPr id="42" name="card-body">
            <a:extLst xmlns:a="http://schemas.openxmlformats.org/drawingml/2006/main">
              <a:ext uri="{FF2B5EF4-FFF2-40B4-BE49-F238E27FC236}">
                <a16:creationId xmlns:a16="http://schemas.microsoft.com/office/drawing/2014/main" id="{89857CDC-9EC2-402A-90BE-3BC577B4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482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8시간 안에 시연할 범위</a:t>
            </a:r>
          </a:p>
        </p:txBody>
      </p:sp>
    </p:spTree>
    <p:extLst>
      <p:ext uri="{BB962C8B-B14F-4D97-AF65-F5344CB8AC3E}">
        <p14:creationId xmlns:p14="http://schemas.microsoft.com/office/powerpoint/2010/main" val="4804611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86953197-7C93-482C-85C3-7AA1119E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EF25253E-67D1-4BB7-B603-3BEE17D0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C1E5A339-19BA-446D-B1A2-F670F841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3150E400-F023-4FDC-908A-AB38C4A9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440097AE-3BBB-4298-AF9B-5D28E81D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7D81330B-54C5-44C0-A866-F80693A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ACTIVITY 4 · 17:05-17:35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59EC998-B7B0-4C63-BA67-DF01746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Project Canvas A: 문제와 현재 업무 방식을 씁니다.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399E0A6F-CC43-4C98-86DD-B1623EF6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적용 전에 현재 업무의 입력, 판단, 산출물을 명확히 설명합니다.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DCE08C0D-FF61-4B02-8807-CE3FED85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D115B8DC-8926-471B-BD9B-5F6AB8CF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D00023E8-40B4-4F33-ABC5-59B6FB70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EDA33E6-492B-45C6-9327-8D40694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13" name="card-진행 방법">
            <a:extLst xmlns:a="http://schemas.openxmlformats.org/drawingml/2006/main">
              <a:ext uri="{FF2B5EF4-FFF2-40B4-BE49-F238E27FC236}">
                <a16:creationId xmlns:a16="http://schemas.microsoft.com/office/drawing/2014/main" id="{AE2478B4-2113-4CA3-A6C3-96D53082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34E0E03-2E2D-46AE-8473-8BF0CC6B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347D509D-7167-4101-A5A4-9F429FDA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진행 방법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9802A0D1-BF9F-4417-99AA-E7B3C69C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2E6FEC57-E560-4D0D-B02A-9C0895F1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팀 토론 20분 → 업무 문제 한 문장 확정 →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현재 입력/출력/병목 정리</a:t>
            </a:r>
          </a:p>
        </p:txBody>
      </p:sp>
      <p:sp>
        <p:nvSpPr>
          <p:cNvPr id="18" name="card-결과물">
            <a:extLst xmlns:a="http://schemas.openxmlformats.org/drawingml/2006/main">
              <a:ext uri="{FF2B5EF4-FFF2-40B4-BE49-F238E27FC236}">
                <a16:creationId xmlns:a16="http://schemas.microsoft.com/office/drawing/2014/main" id="{136F55CD-606F-42CE-8E40-7F298918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19C2291-56A4-43A8-8B1F-0BA35017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D3B5DEB7-D74F-462D-854F-600CC41E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33C4593E-7324-4ABD-A201-28677991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0927806A-6569-4125-874A-ECDCD64A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업무 문제, 현재 방식, 병목, 산출물 정의</a:t>
            </a:r>
          </a:p>
        </p:txBody>
      </p:sp>
      <p:sp>
        <p:nvSpPr>
          <p:cNvPr id="23" name="card-운영 팁">
            <a:extLst xmlns:a="http://schemas.openxmlformats.org/drawingml/2006/main">
              <a:ext uri="{FF2B5EF4-FFF2-40B4-BE49-F238E27FC236}">
                <a16:creationId xmlns:a16="http://schemas.microsoft.com/office/drawing/2014/main" id="{4333D5A1-3C92-4DD3-B2B4-9BD438BA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DDD51E2-DC26-4529-820E-20CD37CB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B5F06A03-21E7-4A4A-A658-772AAD0C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 팁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1ADB8B3F-E8B9-4C01-B369-615202BE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Facilitator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F67E4D54-6AA4-4633-B525-5D42F678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타이머를 보이게 두고, 각 팀의 산출물은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단계 장표에 바로 옮겨 적게 합니다.</a:t>
            </a:r>
          </a:p>
        </p:txBody>
      </p:sp>
    </p:spTree>
    <p:extLst>
      <p:ext uri="{BB962C8B-B14F-4D97-AF65-F5344CB8AC3E}">
        <p14:creationId xmlns:p14="http://schemas.microsoft.com/office/powerpoint/2010/main" val="5937832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6D0C3065-5732-4C85-8D39-870EED79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DFBDD820-6B52-4D0C-A72D-FD727D3D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6AAE76EC-799B-4FF3-BA34-FEF05037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AF01B862-6779-4F56-873D-87287BEC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95CF92ED-F6A3-4073-A9F2-1C57DD17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006E689F-F90F-4C8E-B706-2401D8DD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워크시트 4A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862D076-80B7-4EC9-BD10-DF46626A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Project Canvas A: 문제와 현재 방식을 명확히 씁니다.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DC016FEC-EA62-4A6B-B1D8-28C47FAB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적용 전에 현재 업무가 어떤 입력, 판단, 산출물로 구성되는지 먼저 설명합니다.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03DF90EE-1510-45B8-AB39-353F741D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A55EEBDC-FDE6-4892-BA3F-94243A63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5923EE37-D1DF-478F-ADBE-9008421E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F2E31E5-FED9-47F5-95EC-074FCD68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13" name="field-label">
            <a:extLst xmlns:a="http://schemas.openxmlformats.org/drawingml/2006/main">
              <a:ext uri="{FF2B5EF4-FFF2-40B4-BE49-F238E27FC236}">
                <a16:creationId xmlns:a16="http://schemas.microsoft.com/office/drawing/2014/main" id="{383EBD04-DF1E-483B-A33C-A589EAEBC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업무 문제 한 문장</a:t>
            </a:r>
          </a:p>
        </p:txBody>
      </p:sp>
      <p:sp>
        <p:nvSpPr>
          <p:cNvPr id="14" name="field-업무 문제 한 문장">
            <a:extLst xmlns:a="http://schemas.openxmlformats.org/drawingml/2006/main">
              <a:ext uri="{FF2B5EF4-FFF2-40B4-BE49-F238E27FC236}">
                <a16:creationId xmlns:a16="http://schemas.microsoft.com/office/drawing/2014/main" id="{DED87319-9476-4568-AD2F-23F9632C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143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5" name="field-hint">
            <a:extLst xmlns:a="http://schemas.openxmlformats.org/drawingml/2006/main">
              <a:ext uri="{FF2B5EF4-FFF2-40B4-BE49-F238E27FC236}">
                <a16:creationId xmlns:a16="http://schemas.microsoft.com/office/drawing/2014/main" id="{E4445FBE-46F3-4086-A58E-498D1919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83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예: 현업 요청을 유형별로 분류하고 답변 초안을 만드는 데 시간이 많이 든다.</a:t>
            </a:r>
          </a:p>
        </p:txBody>
      </p:sp>
      <p:sp>
        <p:nvSpPr>
          <p:cNvPr id="16" name="field-label">
            <a:extLst xmlns:a="http://schemas.openxmlformats.org/drawingml/2006/main">
              <a:ext uri="{FF2B5EF4-FFF2-40B4-BE49-F238E27FC236}">
                <a16:creationId xmlns:a16="http://schemas.microsoft.com/office/drawing/2014/main" id="{0E876B39-A0E8-4CB2-AFE4-35283724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현재 산출물</a:t>
            </a:r>
          </a:p>
        </p:txBody>
      </p:sp>
      <p:sp>
        <p:nvSpPr>
          <p:cNvPr id="17" name="field-현재 산출물">
            <a:extLst xmlns:a="http://schemas.openxmlformats.org/drawingml/2006/main">
              <a:ext uri="{FF2B5EF4-FFF2-40B4-BE49-F238E27FC236}">
                <a16:creationId xmlns:a16="http://schemas.microsoft.com/office/drawing/2014/main" id="{C01DCBD7-2106-4B1D-9471-5065B948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62200"/>
            <a:ext cx="5143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8" name="field-hint">
            <a:extLst xmlns:a="http://schemas.openxmlformats.org/drawingml/2006/main">
              <a:ext uri="{FF2B5EF4-FFF2-40B4-BE49-F238E27FC236}">
                <a16:creationId xmlns:a16="http://schemas.microsoft.com/office/drawing/2014/main" id="{7C0D11B8-B7AA-4152-8D49-5EF0EE3B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4838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예: 답변 메일, 검토 의견, 보고서, 처리 티켓, 개발 이슈</a:t>
            </a:r>
          </a:p>
        </p:txBody>
      </p:sp>
      <p:sp>
        <p:nvSpPr>
          <p:cNvPr id="19" name="field-label">
            <a:extLst xmlns:a="http://schemas.openxmlformats.org/drawingml/2006/main">
              <a:ext uri="{FF2B5EF4-FFF2-40B4-BE49-F238E27FC236}">
                <a16:creationId xmlns:a16="http://schemas.microsoft.com/office/drawing/2014/main" id="{0A5652F6-DBBF-41C4-8205-420DCD62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현재 입력 자료</a:t>
            </a:r>
          </a:p>
        </p:txBody>
      </p:sp>
      <p:sp>
        <p:nvSpPr>
          <p:cNvPr id="20" name="field-현재 입력 자료">
            <a:extLst xmlns:a="http://schemas.openxmlformats.org/drawingml/2006/main">
              <a:ext uri="{FF2B5EF4-FFF2-40B4-BE49-F238E27FC236}">
                <a16:creationId xmlns:a16="http://schemas.microsoft.com/office/drawing/2014/main" id="{F7CF8DC2-DA59-44DA-AF49-F98AD4BB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3429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1" name="field-hint">
            <a:extLst xmlns:a="http://schemas.openxmlformats.org/drawingml/2006/main">
              <a:ext uri="{FF2B5EF4-FFF2-40B4-BE49-F238E27FC236}">
                <a16:creationId xmlns:a16="http://schemas.microsoft.com/office/drawing/2014/main" id="{DBC7560F-4CD4-4104-B5A7-79E84250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문서 / 메일 / 표 / 로그 / 정책 / 회의록</a:t>
            </a:r>
          </a:p>
        </p:txBody>
      </p:sp>
      <p:sp>
        <p:nvSpPr>
          <p:cNvPr id="22" name="field-label">
            <a:extLst xmlns:a="http://schemas.openxmlformats.org/drawingml/2006/main">
              <a:ext uri="{FF2B5EF4-FFF2-40B4-BE49-F238E27FC236}">
                <a16:creationId xmlns:a16="http://schemas.microsoft.com/office/drawing/2014/main" id="{B7554235-31AF-4E2F-BC5E-3CC58DAC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3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판단 기준</a:t>
            </a:r>
          </a:p>
        </p:txBody>
      </p:sp>
      <p:sp>
        <p:nvSpPr>
          <p:cNvPr id="23" name="field-판단 기준">
            <a:extLst xmlns:a="http://schemas.openxmlformats.org/drawingml/2006/main">
              <a:ext uri="{FF2B5EF4-FFF2-40B4-BE49-F238E27FC236}">
                <a16:creationId xmlns:a16="http://schemas.microsoft.com/office/drawing/2014/main" id="{89FD5CCF-F0ED-44C4-A575-5A23047F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10050"/>
            <a:ext cx="3429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4" name="field-hint">
            <a:extLst xmlns:a="http://schemas.openxmlformats.org/drawingml/2006/main">
              <a:ext uri="{FF2B5EF4-FFF2-40B4-BE49-F238E27FC236}">
                <a16:creationId xmlns:a16="http://schemas.microsoft.com/office/drawing/2014/main" id="{1FB31255-227A-4C3A-810E-F85F417C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434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어떤 규칙, 경험, 승인 기준으로 판단하는가?</a:t>
            </a:r>
          </a:p>
        </p:txBody>
      </p:sp>
      <p:sp>
        <p:nvSpPr>
          <p:cNvPr id="25" name="field-label">
            <a:extLst xmlns:a="http://schemas.openxmlformats.org/drawingml/2006/main">
              <a:ext uri="{FF2B5EF4-FFF2-40B4-BE49-F238E27FC236}">
                <a16:creationId xmlns:a16="http://schemas.microsoft.com/office/drawing/2014/main" id="{59982FBB-7ED7-46F7-A0D1-121E335B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433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현재 병목</a:t>
            </a:r>
          </a:p>
        </p:txBody>
      </p:sp>
      <p:sp>
        <p:nvSpPr>
          <p:cNvPr id="26" name="field-현재 병목">
            <a:extLst xmlns:a="http://schemas.openxmlformats.org/drawingml/2006/main">
              <a:ext uri="{FF2B5EF4-FFF2-40B4-BE49-F238E27FC236}">
                <a16:creationId xmlns:a16="http://schemas.microsoft.com/office/drawing/2014/main" id="{B1F1BB18-5978-4830-BE8B-304B042F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3314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7" name="field-hint">
            <a:extLst xmlns:a="http://schemas.openxmlformats.org/drawingml/2006/main">
              <a:ext uri="{FF2B5EF4-FFF2-40B4-BE49-F238E27FC236}">
                <a16:creationId xmlns:a16="http://schemas.microsoft.com/office/drawing/2014/main" id="{9AB62EDB-9AA3-4596-946A-84F93996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43400"/>
            <a:ext cx="300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시간, 정확도, 누락, 반복, 검색, 승인 중 어디가 문제인가?</a:t>
            </a:r>
          </a:p>
        </p:txBody>
      </p:sp>
    </p:spTree>
    <p:extLst>
      <p:ext uri="{BB962C8B-B14F-4D97-AF65-F5344CB8AC3E}">
        <p14:creationId xmlns:p14="http://schemas.microsoft.com/office/powerpoint/2010/main" val="16805213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106A66E3-2CFF-4D43-ABC4-E100C761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C2165EBF-17D0-437C-97CF-3A1BDF9B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E0518D16-FE32-4B81-9A06-3BFC0054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1791E832-9DA9-4D1D-925E-7AF18998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371E1E56-0E14-4C91-B092-8CF2E607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6BD85634-043E-4B5E-8CE3-D5F38953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ACTIVITY 5 · 17:35-17:55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A6124C3F-C6FA-4DE3-B231-818BF0F1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Project Canvas B: AI 보조 역할과 사람 검토 기준을 나눕니다.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D8162CB4-973E-4E91-9ACB-E460FA38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AI가 보조할 단계와 사람이 검토·승인할 단계를 분리해 8월 구현 범위를 줄입니다.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BBA2C2F9-EB69-454A-B0D3-BF9F56DA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E07243D1-0760-409B-9EFE-A9A2F812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DCF3B3DC-0C6E-4AD7-9935-1035DA47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F98EFAB7-05EB-43F3-AD2C-E95562AE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13" name="card-진행 방법">
            <a:extLst xmlns:a="http://schemas.openxmlformats.org/drawingml/2006/main">
              <a:ext uri="{FF2B5EF4-FFF2-40B4-BE49-F238E27FC236}">
                <a16:creationId xmlns:a16="http://schemas.microsoft.com/office/drawing/2014/main" id="{363C919E-97E2-4E0A-8532-CA74B644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BB5BF86-30FC-467C-97AC-F77B2663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F2C3B0D2-2E22-4314-8D37-0FDE1CA4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진행 방법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0F1767E6-91D4-4ABA-AF71-9B9DA596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9DA8E11A-7C8A-4485-97CB-6DD89C9E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역할 선택 → 사용 금지 자료 표시 →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품질·보안·승인 기준 작성</a:t>
            </a:r>
          </a:p>
        </p:txBody>
      </p:sp>
      <p:sp>
        <p:nvSpPr>
          <p:cNvPr id="18" name="card-결과물">
            <a:extLst xmlns:a="http://schemas.openxmlformats.org/drawingml/2006/main">
              <a:ext uri="{FF2B5EF4-FFF2-40B4-BE49-F238E27FC236}">
                <a16:creationId xmlns:a16="http://schemas.microsoft.com/office/drawing/2014/main" id="{0D46E1B5-BE27-47C8-A1EA-67D707F5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CC6CCF8-25D7-4222-BFA0-478FF82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2F450BA7-620A-4FF6-B093-E1D09119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F16008A4-3894-48B7-B70B-C274B622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94F1355B-A1CD-4280-872B-47513339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Agent 흐름 초안과 검증 기준</a:t>
            </a:r>
          </a:p>
        </p:txBody>
      </p:sp>
      <p:sp>
        <p:nvSpPr>
          <p:cNvPr id="23" name="card-운영 팁">
            <a:extLst xmlns:a="http://schemas.openxmlformats.org/drawingml/2006/main">
              <a:ext uri="{FF2B5EF4-FFF2-40B4-BE49-F238E27FC236}">
                <a16:creationId xmlns:a16="http://schemas.microsoft.com/office/drawing/2014/main" id="{878C1616-93D9-4EB2-820D-C2301273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20F70CA-2F55-474C-A921-CE0B9B16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A128C333-8FB7-4E85-82F5-AE0395BA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 팁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40A80E72-8CCD-49C6-9CE6-8E239DC4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Facilitator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8D744B5B-14B1-4138-8CFE-F9A625D4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타이머를 보이게 두고, 각 팀의 산출물은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단계 장표에 바로 옮겨 적게 합니다.</a:t>
            </a:r>
          </a:p>
        </p:txBody>
      </p:sp>
    </p:spTree>
    <p:extLst>
      <p:ext uri="{BB962C8B-B14F-4D97-AF65-F5344CB8AC3E}">
        <p14:creationId xmlns:p14="http://schemas.microsoft.com/office/powerpoint/2010/main" val="18797972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30AC9995-ECF4-42FC-BE73-36C8A9E8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B847F73F-AF4B-4DF8-B1E6-B17CC176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7EF8C001-337B-4977-B1B8-ADEB3281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0D56AEC7-84F6-4EC2-8D87-4F943174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9C90CC55-618E-4E19-8555-293C8305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ED1E8338-6F5E-4267-B83E-2A9AD40C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워크시트 4B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5310B840-B336-4920-8E4E-48CD555B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Project Canvas B: AI 보조와 사람 검토를 분리합니다.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6E685BC3-831B-4032-9FAB-9DC2A9B2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Agent는 업무 전체를 대신하지 않고 반복 가능한 일부 단계를 보조합니다.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95A03037-E29F-44FF-90F4-74B5623B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D37CBF64-E293-4B3F-B87F-E9822F17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E3CFC1FC-F610-4962-8345-114C1224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F726259-C900-4BF9-8C88-E34C7299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13" name="field-label">
            <a:extLst xmlns:a="http://schemas.openxmlformats.org/drawingml/2006/main">
              <a:ext uri="{FF2B5EF4-FFF2-40B4-BE49-F238E27FC236}">
                <a16:creationId xmlns:a16="http://schemas.microsoft.com/office/drawing/2014/main" id="{A1844B39-B7EF-4499-99DB-B7C86C77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AI가 보조할 일</a:t>
            </a:r>
          </a:p>
        </p:txBody>
      </p:sp>
      <p:sp>
        <p:nvSpPr>
          <p:cNvPr id="14" name="field-AI가 보조할 일">
            <a:extLst xmlns:a="http://schemas.openxmlformats.org/drawingml/2006/main">
              <a:ext uri="{FF2B5EF4-FFF2-40B4-BE49-F238E27FC236}">
                <a16:creationId xmlns:a16="http://schemas.microsoft.com/office/drawing/2014/main" id="{3B4A9C59-FE37-448D-85AA-58E068C3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5" name="field-hint">
            <a:extLst xmlns:a="http://schemas.openxmlformats.org/drawingml/2006/main">
              <a:ext uri="{FF2B5EF4-FFF2-40B4-BE49-F238E27FC236}">
                <a16:creationId xmlns:a16="http://schemas.microsoft.com/office/drawing/2014/main" id="{3F1B000B-A957-48FE-8AA6-C26C1684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12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검색 / 분류 / 요약 / 초안 / 코드 / 체크리스트 검증</a:t>
            </a:r>
          </a:p>
        </p:txBody>
      </p:sp>
      <p:sp>
        <p:nvSpPr>
          <p:cNvPr id="16" name="field-label">
            <a:extLst xmlns:a="http://schemas.openxmlformats.org/drawingml/2006/main">
              <a:ext uri="{FF2B5EF4-FFF2-40B4-BE49-F238E27FC236}">
                <a16:creationId xmlns:a16="http://schemas.microsoft.com/office/drawing/2014/main" id="{87F94E69-34CD-480F-96C8-7ACF93B3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사람이 검토할 일</a:t>
            </a:r>
          </a:p>
        </p:txBody>
      </p:sp>
      <p:sp>
        <p:nvSpPr>
          <p:cNvPr id="17" name="field-사람이 검토할 일">
            <a:extLst xmlns:a="http://schemas.openxmlformats.org/drawingml/2006/main">
              <a:ext uri="{FF2B5EF4-FFF2-40B4-BE49-F238E27FC236}">
                <a16:creationId xmlns:a16="http://schemas.microsoft.com/office/drawing/2014/main" id="{FCE430EA-F03A-49D3-AE93-A2FFE2A7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3429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8" name="field-hint">
            <a:extLst xmlns:a="http://schemas.openxmlformats.org/drawingml/2006/main">
              <a:ext uri="{FF2B5EF4-FFF2-40B4-BE49-F238E27FC236}">
                <a16:creationId xmlns:a16="http://schemas.microsoft.com/office/drawing/2014/main" id="{138ABC2A-9A44-4F9B-839A-8CE433EA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57450"/>
            <a:ext cx="312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정확도 / 보안 / 승인 / 대외 전달 / 예외 판단</a:t>
            </a:r>
          </a:p>
        </p:txBody>
      </p:sp>
      <p:sp>
        <p:nvSpPr>
          <p:cNvPr id="19" name="field-label">
            <a:extLst xmlns:a="http://schemas.openxmlformats.org/drawingml/2006/main">
              <a:ext uri="{FF2B5EF4-FFF2-40B4-BE49-F238E27FC236}">
                <a16:creationId xmlns:a16="http://schemas.microsoft.com/office/drawing/2014/main" id="{04987CAD-1B2E-482E-B4EA-A6670089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사용 금지 자료</a:t>
            </a:r>
          </a:p>
        </p:txBody>
      </p:sp>
      <p:sp>
        <p:nvSpPr>
          <p:cNvPr id="20" name="field-사용 금지 자료">
            <a:extLst xmlns:a="http://schemas.openxmlformats.org/drawingml/2006/main">
              <a:ext uri="{FF2B5EF4-FFF2-40B4-BE49-F238E27FC236}">
                <a16:creationId xmlns:a16="http://schemas.microsoft.com/office/drawing/2014/main" id="{F577CE93-E6CD-44D6-A5B8-F70DFF01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24100"/>
            <a:ext cx="33147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1" name="field-hint">
            <a:extLst xmlns:a="http://schemas.openxmlformats.org/drawingml/2006/main">
              <a:ext uri="{FF2B5EF4-FFF2-40B4-BE49-F238E27FC236}">
                <a16:creationId xmlns:a16="http://schemas.microsoft.com/office/drawing/2014/main" id="{35421F15-3FAA-49C7-9CD5-551AF2F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3009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개인정보 / 운영 로그 원본 / 접근키 / 민감 계약·재무</a:t>
            </a:r>
          </a:p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자료</a:t>
            </a:r>
          </a:p>
        </p:txBody>
      </p:sp>
      <p:sp>
        <p:nvSpPr>
          <p:cNvPr id="22" name="field-label">
            <a:extLst xmlns:a="http://schemas.openxmlformats.org/drawingml/2006/main">
              <a:ext uri="{FF2B5EF4-FFF2-40B4-BE49-F238E27FC236}">
                <a16:creationId xmlns:a16="http://schemas.microsoft.com/office/drawing/2014/main" id="{42C6629B-51C8-4897-975A-4BAA5C69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스파로스 데브엑스에서 만들 흐름</a:t>
            </a:r>
          </a:p>
        </p:txBody>
      </p:sp>
      <p:sp>
        <p:nvSpPr>
          <p:cNvPr id="23" name="field-스파로스 데브엑스에서 만들 흐름">
            <a:extLst xmlns:a="http://schemas.openxmlformats.org/drawingml/2006/main">
              <a:ext uri="{FF2B5EF4-FFF2-40B4-BE49-F238E27FC236}">
                <a16:creationId xmlns:a16="http://schemas.microsoft.com/office/drawing/2014/main" id="{2C102AAB-6267-45F7-9154-51DC9F90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143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4" name="field-hint">
            <a:extLst xmlns:a="http://schemas.openxmlformats.org/drawingml/2006/main">
              <a:ext uri="{FF2B5EF4-FFF2-40B4-BE49-F238E27FC236}">
                <a16:creationId xmlns:a16="http://schemas.microsoft.com/office/drawing/2014/main" id="{A174E34D-9ECB-4AE1-A46A-7388FBE5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4838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입력 → Context → Agent/도구 → 출력 → 사람 검토</a:t>
            </a:r>
          </a:p>
        </p:txBody>
      </p:sp>
      <p:sp>
        <p:nvSpPr>
          <p:cNvPr id="25" name="field-label">
            <a:extLst xmlns:a="http://schemas.openxmlformats.org/drawingml/2006/main">
              <a:ext uri="{FF2B5EF4-FFF2-40B4-BE49-F238E27FC236}">
                <a16:creationId xmlns:a16="http://schemas.microsoft.com/office/drawing/2014/main" id="{3D5D40A0-9E5B-4523-9FCF-9F93B4A6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품질 기준</a:t>
            </a:r>
          </a:p>
        </p:txBody>
      </p:sp>
      <p:sp>
        <p:nvSpPr>
          <p:cNvPr id="26" name="field-품질 기준">
            <a:extLst xmlns:a="http://schemas.openxmlformats.org/drawingml/2006/main">
              <a:ext uri="{FF2B5EF4-FFF2-40B4-BE49-F238E27FC236}">
                <a16:creationId xmlns:a16="http://schemas.microsoft.com/office/drawing/2014/main" id="{C823C8A3-CD0D-482A-8555-63808E1F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51435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7" name="field-hint">
            <a:extLst xmlns:a="http://schemas.openxmlformats.org/drawingml/2006/main">
              <a:ext uri="{FF2B5EF4-FFF2-40B4-BE49-F238E27FC236}">
                <a16:creationId xmlns:a16="http://schemas.microsoft.com/office/drawing/2014/main" id="{4F096D80-5B44-495C-A412-4E6CF9DE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4838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정답 기준, 허용 오차, 실패 시 처리, 검토자, 승인 조건</a:t>
            </a:r>
          </a:p>
        </p:txBody>
      </p:sp>
    </p:spTree>
    <p:extLst>
      <p:ext uri="{BB962C8B-B14F-4D97-AF65-F5344CB8AC3E}">
        <p14:creationId xmlns:p14="http://schemas.microsoft.com/office/powerpoint/2010/main" val="79174056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D48F6F01-6422-4F27-8AE2-441B76EA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0B3E33CB-A4CC-4E67-AACE-3C00B32E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6E13AD4F-4500-466D-B537-FF455FFD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A7A3B263-39C6-4B19-81F9-8C382F3A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24C1A5D0-1799-42FD-BA4A-61A5709A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7AD46E1F-C936-4C9E-B6A2-55B0967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ACTIVITY 6 · 17:55-18:10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23D0BA99-C5B0-4436-AA9B-8F630359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데모 범위 고정: 시연 장면을 하나로 좁힙니다.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BE3BE8C4-2A70-4FB8-9EEF-F45F0DE9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휴식 전까지 8월 21일에 보여줄 핵심 장면을 정합니다.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CD74CF6B-D50B-4140-A7A9-80319E85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F4E4C127-20E7-44D0-99A5-898D86E4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4B931A73-E2D4-4B4D-9FA6-7C77C25B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76698433-4160-4360-88E9-A65F1C34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13" name="card-진행 방법">
            <a:extLst xmlns:a="http://schemas.openxmlformats.org/drawingml/2006/main">
              <a:ext uri="{FF2B5EF4-FFF2-40B4-BE49-F238E27FC236}">
                <a16:creationId xmlns:a16="http://schemas.microsoft.com/office/drawing/2014/main" id="{F6A4D4C7-490F-4FF5-A577-2A40337F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EDEC660-3B83-4E54-A971-BBEB17FB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1C9B2D31-A87F-4189-A82F-8E1A35DA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진행 방법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FB44322B-AD0A-4895-9C15-0929C12A0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1EBFD3E2-6D4B-4CF3-AED7-C66D2FA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데모 장면, 샘플 데이터, 성공 기준, 제외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범위를 한 장에 작성</a:t>
            </a:r>
          </a:p>
        </p:txBody>
      </p:sp>
      <p:sp>
        <p:nvSpPr>
          <p:cNvPr id="18" name="card-결과물">
            <a:extLst xmlns:a="http://schemas.openxmlformats.org/drawingml/2006/main">
              <a:ext uri="{FF2B5EF4-FFF2-40B4-BE49-F238E27FC236}">
                <a16:creationId xmlns:a16="http://schemas.microsoft.com/office/drawing/2014/main" id="{B49DA884-8F62-46CB-B329-8A0C0A8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1939C18-60EF-4BAA-9FD9-B7EC5469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08EA3F21-6D29-492B-89A2-EBADC419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C1EC3E3F-47EB-458B-A1DB-ADFBE44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8DD25D54-0ED2-47E1-991F-45E85E8C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8월 21일 구현 범위와 준비물</a:t>
            </a:r>
          </a:p>
        </p:txBody>
      </p:sp>
      <p:sp>
        <p:nvSpPr>
          <p:cNvPr id="23" name="card-운영 팁">
            <a:extLst xmlns:a="http://schemas.openxmlformats.org/drawingml/2006/main">
              <a:ext uri="{FF2B5EF4-FFF2-40B4-BE49-F238E27FC236}">
                <a16:creationId xmlns:a16="http://schemas.microsoft.com/office/drawing/2014/main" id="{D7802815-18E4-499E-9CC5-A3B16C62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CFA99E3-970F-4288-952C-F1F5E694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53F57206-5535-4176-9B23-3B510E80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 팁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0C5694E2-A9E3-4748-9987-3B2AFBFB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Facilitator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64B88D24-AD03-44CC-98F2-AA3BAF6B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타이머를 보이게 두고, 각 팀의 산출물은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단계 장표에 바로 옮겨 적게 합니다.</a:t>
            </a:r>
          </a:p>
        </p:txBody>
      </p:sp>
    </p:spTree>
    <p:extLst>
      <p:ext uri="{BB962C8B-B14F-4D97-AF65-F5344CB8AC3E}">
        <p14:creationId xmlns:p14="http://schemas.microsoft.com/office/powerpoint/2010/main" val="16164494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44A62388-E0DF-4F4E-8143-1EF7C31F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44678FF9-A3DD-4CB9-8DFD-6F3326CA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418F125C-1387-4F45-9E3F-955886E2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791BE1D9-39B2-40C2-8EF1-61073F10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FD773A8C-04DB-4CE9-9BEE-C0F36572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CDC51605-0B6D-4DA7-B4F2-33BC4AEF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워크시트 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B2363A1-2064-4C59-8BD2-7C527ABC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21일 데모 범위: 시연할 장면을 정의합니다.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9EA45651-7510-41EA-822B-9EA08A81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하루 8시간 구현 수업에서는 하나의 핵심 흐름이 작동하는지가 중요합니다.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CDEA1591-34E2-43D5-BD36-0BE05BCD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202C7054-CCA5-4FCB-B8A4-888724BD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10D26444-F3C9-4D1D-A8EA-57064C17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A9D151BD-6EB1-467E-A263-6B757666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13" name="field-label">
            <a:extLst xmlns:a="http://schemas.openxmlformats.org/drawingml/2006/main">
              <a:ext uri="{FF2B5EF4-FFF2-40B4-BE49-F238E27FC236}">
                <a16:creationId xmlns:a16="http://schemas.microsoft.com/office/drawing/2014/main" id="{A8C990EC-A924-4107-93D4-88759DA0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데모 장면</a:t>
            </a:r>
          </a:p>
        </p:txBody>
      </p:sp>
      <p:sp>
        <p:nvSpPr>
          <p:cNvPr id="14" name="field-데모 장면">
            <a:extLst xmlns:a="http://schemas.openxmlformats.org/drawingml/2006/main">
              <a:ext uri="{FF2B5EF4-FFF2-40B4-BE49-F238E27FC236}">
                <a16:creationId xmlns:a16="http://schemas.microsoft.com/office/drawing/2014/main" id="{BAFD4032-ABFF-49BF-898E-AB5C494C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429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5" name="field-hint">
            <a:extLst xmlns:a="http://schemas.openxmlformats.org/drawingml/2006/main">
              <a:ext uri="{FF2B5EF4-FFF2-40B4-BE49-F238E27FC236}">
                <a16:creationId xmlns:a16="http://schemas.microsoft.com/office/drawing/2014/main" id="{92AA1B0F-79BB-46D6-86D1-9AE17A11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사용자가 무엇을 입력하고 어떤 결과를 보는가?</a:t>
            </a:r>
          </a:p>
        </p:txBody>
      </p:sp>
      <p:sp>
        <p:nvSpPr>
          <p:cNvPr id="16" name="field-label">
            <a:extLst xmlns:a="http://schemas.openxmlformats.org/drawingml/2006/main">
              <a:ext uri="{FF2B5EF4-FFF2-40B4-BE49-F238E27FC236}">
                <a16:creationId xmlns:a16="http://schemas.microsoft.com/office/drawing/2014/main" id="{3233AF52-9E2E-48E4-950E-1F69858E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샘플 데이터</a:t>
            </a:r>
          </a:p>
        </p:txBody>
      </p:sp>
      <p:sp>
        <p:nvSpPr>
          <p:cNvPr id="17" name="field-샘플 데이터">
            <a:extLst xmlns:a="http://schemas.openxmlformats.org/drawingml/2006/main">
              <a:ext uri="{FF2B5EF4-FFF2-40B4-BE49-F238E27FC236}">
                <a16:creationId xmlns:a16="http://schemas.microsoft.com/office/drawing/2014/main" id="{AA10286D-570B-4FBA-9DAB-CC1C993E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34290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8" name="field-hint">
            <a:extLst xmlns:a="http://schemas.openxmlformats.org/drawingml/2006/main">
              <a:ext uri="{FF2B5EF4-FFF2-40B4-BE49-F238E27FC236}">
                <a16:creationId xmlns:a16="http://schemas.microsoft.com/office/drawing/2014/main" id="{87CA1482-9F2A-480B-9BD8-424C9913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8월 21일 사용할 안전한 샘플 문서/표/텍스트</a:t>
            </a:r>
          </a:p>
        </p:txBody>
      </p:sp>
      <p:sp>
        <p:nvSpPr>
          <p:cNvPr id="19" name="field-label">
            <a:extLst xmlns:a="http://schemas.openxmlformats.org/drawingml/2006/main">
              <a:ext uri="{FF2B5EF4-FFF2-40B4-BE49-F238E27FC236}">
                <a16:creationId xmlns:a16="http://schemas.microsoft.com/office/drawing/2014/main" id="{19AC6AC1-3854-4308-B77A-45B5D3E8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성공 기준</a:t>
            </a:r>
          </a:p>
        </p:txBody>
      </p:sp>
      <p:sp>
        <p:nvSpPr>
          <p:cNvPr id="20" name="field-성공 기준">
            <a:extLst xmlns:a="http://schemas.openxmlformats.org/drawingml/2006/main">
              <a:ext uri="{FF2B5EF4-FFF2-40B4-BE49-F238E27FC236}">
                <a16:creationId xmlns:a16="http://schemas.microsoft.com/office/drawing/2014/main" id="{38664CC9-8909-41FF-A349-2BDB4AA0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3147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1" name="field-hint">
            <a:extLst xmlns:a="http://schemas.openxmlformats.org/drawingml/2006/main">
              <a:ext uri="{FF2B5EF4-FFF2-40B4-BE49-F238E27FC236}">
                <a16:creationId xmlns:a16="http://schemas.microsoft.com/office/drawing/2014/main" id="{95492EE7-CD34-4B73-8FED-8BF78B41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009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데모가 성공했다고 판단할 최소 기준</a:t>
            </a:r>
          </a:p>
        </p:txBody>
      </p:sp>
      <p:sp>
        <p:nvSpPr>
          <p:cNvPr id="22" name="field-label">
            <a:extLst xmlns:a="http://schemas.openxmlformats.org/drawingml/2006/main">
              <a:ext uri="{FF2B5EF4-FFF2-40B4-BE49-F238E27FC236}">
                <a16:creationId xmlns:a16="http://schemas.microsoft.com/office/drawing/2014/main" id="{E9B8BCDB-13DC-4DF1-A667-8BC165A3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구현에서 제외할 것</a:t>
            </a:r>
          </a:p>
        </p:txBody>
      </p:sp>
      <p:sp>
        <p:nvSpPr>
          <p:cNvPr id="23" name="field-구현에서 제외할 것">
            <a:extLst xmlns:a="http://schemas.openxmlformats.org/drawingml/2006/main">
              <a:ext uri="{FF2B5EF4-FFF2-40B4-BE49-F238E27FC236}">
                <a16:creationId xmlns:a16="http://schemas.microsoft.com/office/drawing/2014/main" id="{50F1972F-D7A7-4B84-A536-4A6F1322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5143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4" name="field-hint">
            <a:extLst xmlns:a="http://schemas.openxmlformats.org/drawingml/2006/main">
              <a:ext uri="{FF2B5EF4-FFF2-40B4-BE49-F238E27FC236}">
                <a16:creationId xmlns:a16="http://schemas.microsoft.com/office/drawing/2014/main" id="{9D7ECA24-4668-410E-861B-5E839319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483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로그인/권한/실데이터 연동/대외 배포 등 이번 데모에서 제외할 범위</a:t>
            </a:r>
          </a:p>
        </p:txBody>
      </p:sp>
      <p:sp>
        <p:nvSpPr>
          <p:cNvPr id="25" name="field-label">
            <a:extLst xmlns:a="http://schemas.openxmlformats.org/drawingml/2006/main">
              <a:ext uri="{FF2B5EF4-FFF2-40B4-BE49-F238E27FC236}">
                <a16:creationId xmlns:a16="http://schemas.microsoft.com/office/drawing/2014/main" id="{936D6CF5-DF5A-40FD-A6E6-5AE8F1E3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91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멘토에게 물어볼 것</a:t>
            </a:r>
          </a:p>
        </p:txBody>
      </p:sp>
      <p:sp>
        <p:nvSpPr>
          <p:cNvPr id="26" name="field-멘토에게 물어볼 것">
            <a:extLst xmlns:a="http://schemas.openxmlformats.org/drawingml/2006/main">
              <a:ext uri="{FF2B5EF4-FFF2-40B4-BE49-F238E27FC236}">
                <a16:creationId xmlns:a16="http://schemas.microsoft.com/office/drawing/2014/main" id="{6D7531EE-A58A-499B-AA87-B459BE56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5143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7" name="field-hint">
            <a:extLst xmlns:a="http://schemas.openxmlformats.org/drawingml/2006/main">
              <a:ext uri="{FF2B5EF4-FFF2-40B4-BE49-F238E27FC236}">
                <a16:creationId xmlns:a16="http://schemas.microsoft.com/office/drawing/2014/main" id="{29C3E2E7-D50C-4879-9977-836462F2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838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기술 구현, 품질 검증, 데이터 구성, 발표 구조 관련 질문</a:t>
            </a:r>
          </a:p>
        </p:txBody>
      </p:sp>
    </p:spTree>
    <p:extLst>
      <p:ext uri="{BB962C8B-B14F-4D97-AF65-F5344CB8AC3E}">
        <p14:creationId xmlns:p14="http://schemas.microsoft.com/office/powerpoint/2010/main" val="11560202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131EC766-2324-43FB-98A8-B5A46049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CFE9DA06-71F3-489A-B785-5CD5224D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75A1F407-E93F-4CDC-86AE-BE9EFB48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CA67C5F9-82F7-45E3-9FA9-DFA418E8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5A751A55-2E88-498E-A3DF-F7010B98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6262A026-9601-4FBC-99F7-F43D89277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ACTIVITY 7 · 18:10-18:35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155800B-946E-4849-AC08-F37F4389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팀별 1차 발표: 5분 안에 과제 방향을 공유합니다.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9A116C4A-A339-417D-AA77-2EAF37DA9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다른 팀과 멘토 질문을 통해 구현 가능성과 리스크를 빠르게 검토합니다.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C9C82944-6BEC-49E6-B8ED-4964A32C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E610A83B-A737-4FA6-860B-2E96428B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C46E354C-7DB7-4CCF-9B82-C3583288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D5E861A-51A4-4624-8DF8-391181FF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13" name="card-진행 방법">
            <a:extLst xmlns:a="http://schemas.openxmlformats.org/drawingml/2006/main">
              <a:ext uri="{FF2B5EF4-FFF2-40B4-BE49-F238E27FC236}">
                <a16:creationId xmlns:a16="http://schemas.microsoft.com/office/drawing/2014/main" id="{BD3B2C89-F401-481E-A892-6C4EA8F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986A377-7AC7-445E-A3FC-AE623FAB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0F442888-5703-41E2-944B-97DD1C05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진행 방법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C41FEDE0-2D54-4FA4-9A98-C873540D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FECC8320-ADF3-4A9F-9CA7-9F5E0EA8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5개 팀 x 5분 발표. 질문은 발표 후 피드백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기록지에 남김</a:t>
            </a:r>
          </a:p>
        </p:txBody>
      </p:sp>
      <p:sp>
        <p:nvSpPr>
          <p:cNvPr id="18" name="card-결과물">
            <a:extLst xmlns:a="http://schemas.openxmlformats.org/drawingml/2006/main">
              <a:ext uri="{FF2B5EF4-FFF2-40B4-BE49-F238E27FC236}">
                <a16:creationId xmlns:a16="http://schemas.microsoft.com/office/drawing/2014/main" id="{BE3E102D-0C78-45BB-A25E-FA14033B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F722584-EBD3-4247-A1ED-A2C136CF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FA4A8EC7-2279-4C94-97C4-7A608F72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AA05B5D8-A515-4ECD-B4C1-7FFC098B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E517054D-6A41-496E-A43E-3AB94880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팀별 발표 내용과 개선 질문</a:t>
            </a:r>
          </a:p>
        </p:txBody>
      </p:sp>
      <p:sp>
        <p:nvSpPr>
          <p:cNvPr id="23" name="card-운영 팁">
            <a:extLst xmlns:a="http://schemas.openxmlformats.org/drawingml/2006/main">
              <a:ext uri="{FF2B5EF4-FFF2-40B4-BE49-F238E27FC236}">
                <a16:creationId xmlns:a16="http://schemas.microsoft.com/office/drawing/2014/main" id="{39289D91-C64D-45E9-8EE8-2F9AEDD5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9522E5F-D66C-47A7-A739-A655261A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A2441DB2-C67F-4D54-A9B3-8DB4FF40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 팁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588CA9CC-8585-44C4-A63C-41792C53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Facilitator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C1ECEDA8-2C9A-4E4C-BEE0-F7730F79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타이머를 보이게 두고, 각 팀의 산출물은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단계 장표에 바로 옮겨 적게 합니다.</a:t>
            </a:r>
          </a:p>
        </p:txBody>
      </p:sp>
    </p:spTree>
    <p:extLst>
      <p:ext uri="{BB962C8B-B14F-4D97-AF65-F5344CB8AC3E}">
        <p14:creationId xmlns:p14="http://schemas.microsoft.com/office/powerpoint/2010/main" val="10892650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9567C25E-3753-429A-8B3E-E84AD30E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3C359EAA-92BB-464C-B543-F8F91307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75546A70-4D53-45E6-A572-256BD325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F2305318-A512-49CA-B687-70644B00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FDE1763D-AC3B-450F-A800-613CFA2D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66DAA23D-52A4-485C-9B94-8CC2F1A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발표 템플릿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7A5F5EC9-3D1A-4F16-9358-9C288BAC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팀별 1차 발표는 5분 안에 같은 순서로 진행합니다.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368A8A16-4029-44F2-886D-36B7A8DC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질문은 발표 후 받습니다. 발표자는 솔루션보다 업무 문제와 구현 가능성을 먼저 말합니다.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8BCB6DBE-9955-4191-8DFC-C594B064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2322215C-D109-4134-A7CD-DE614D88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FDDCBBD7-4D0A-45C0-8B55-190E1EF0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1251E30C-0AFD-4BF4-BF08-3286F3FB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13" name="card-1분">
            <a:extLst xmlns:a="http://schemas.openxmlformats.org/drawingml/2006/main">
              <a:ext uri="{FF2B5EF4-FFF2-40B4-BE49-F238E27FC236}">
                <a16:creationId xmlns:a16="http://schemas.microsoft.com/office/drawing/2014/main" id="{26A3D7F7-09AE-412D-AA04-48403A10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2000250" cy="27146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95E6B5D-55A5-4890-86D7-8F760C9A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762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6E81CAB7-D995-46C9-9F88-07BAFBA3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1분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A8992184-8B8F-4115-9E8C-38291A15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업무 문제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DD7D211E-2A1B-44B5-A705-A57E0994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15430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현재 어떤 업무가 왜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어렵고 반복되는가?</a:t>
            </a:r>
          </a:p>
        </p:txBody>
      </p:sp>
      <p:sp>
        <p:nvSpPr>
          <p:cNvPr id="18" name="card-1분">
            <a:extLst xmlns:a="http://schemas.openxmlformats.org/drawingml/2006/main">
              <a:ext uri="{FF2B5EF4-FFF2-40B4-BE49-F238E27FC236}">
                <a16:creationId xmlns:a16="http://schemas.microsoft.com/office/drawing/2014/main" id="{AF43BDAF-4929-48C9-A279-75E7F276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2000250" cy="27146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9268539-A91B-486A-88BC-F853AC9C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33625"/>
            <a:ext cx="762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983B9786-B87E-4F3E-8A36-8CF9CB2D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241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1분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CE313FB4-240B-4035-8D41-232F2A34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98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현재 방식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72B3A06C-0CA8-4850-A4A7-E1A43B35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24225"/>
            <a:ext cx="15430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입력 자료, 판단 기준,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산출물은 무엇인가?</a:t>
            </a:r>
          </a:p>
        </p:txBody>
      </p:sp>
      <p:sp>
        <p:nvSpPr>
          <p:cNvPr id="23" name="card-1분">
            <a:extLst xmlns:a="http://schemas.openxmlformats.org/drawingml/2006/main">
              <a:ext uri="{FF2B5EF4-FFF2-40B4-BE49-F238E27FC236}">
                <a16:creationId xmlns:a16="http://schemas.microsoft.com/office/drawing/2014/main" id="{521FADD8-E368-43D3-A982-24EC7472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33625"/>
            <a:ext cx="2000250" cy="27146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4FE9433-E6BB-412E-BD95-E5E40582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33625"/>
            <a:ext cx="762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CF3F5A82-E95E-449D-81FD-C98C2C2A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241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1분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F63D70EB-96A7-4A1B-AA62-B2928165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098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 보조 역할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535AC95A-E87F-4D26-87CC-C4D28399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24225"/>
            <a:ext cx="15430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Agent가 보조할 단계와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사람이 검토할 단계는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무엇인가?</a:t>
            </a:r>
          </a:p>
        </p:txBody>
      </p:sp>
      <p:sp>
        <p:nvSpPr>
          <p:cNvPr id="28" name="card-1분">
            <a:extLst xmlns:a="http://schemas.openxmlformats.org/drawingml/2006/main">
              <a:ext uri="{FF2B5EF4-FFF2-40B4-BE49-F238E27FC236}">
                <a16:creationId xmlns:a16="http://schemas.microsoft.com/office/drawing/2014/main" id="{B9FC74F6-AD7A-418B-9611-8B9CCC78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2000250" cy="27146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95A6C99-AF70-4D85-AAFB-7F5081CB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762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label">
            <a:extLst xmlns:a="http://schemas.openxmlformats.org/drawingml/2006/main">
              <a:ext uri="{FF2B5EF4-FFF2-40B4-BE49-F238E27FC236}">
                <a16:creationId xmlns:a16="http://schemas.microsoft.com/office/drawing/2014/main" id="{4F25EEB0-0363-4863-9759-E30F1F5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241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1분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32D12A57-02F8-402C-BF7D-128DA451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098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데모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42B62AFE-7E45-491B-B56E-7860189B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24225"/>
            <a:ext cx="15430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8월 21일에 어떤 시연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장면을 보여줄 것인가?</a:t>
            </a:r>
          </a:p>
        </p:txBody>
      </p:sp>
      <p:sp>
        <p:nvSpPr>
          <p:cNvPr id="33" name="card-1분">
            <a:extLst xmlns:a="http://schemas.openxmlformats.org/drawingml/2006/main">
              <a:ext uri="{FF2B5EF4-FFF2-40B4-BE49-F238E27FC236}">
                <a16:creationId xmlns:a16="http://schemas.microsoft.com/office/drawing/2014/main" id="{61C4F1E2-3DDF-4F7F-A037-29F184F52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33625"/>
            <a:ext cx="2000250" cy="271462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12C47DD-35F0-4CF3-A6AB-171F5C94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33625"/>
            <a:ext cx="7620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rd-label">
            <a:extLst xmlns:a="http://schemas.openxmlformats.org/drawingml/2006/main">
              <a:ext uri="{FF2B5EF4-FFF2-40B4-BE49-F238E27FC236}">
                <a16:creationId xmlns:a16="http://schemas.microsoft.com/office/drawing/2014/main" id="{A8FAEBFA-A1E7-4017-92E9-C15113531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524125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6B7CFF"/>
                </a:solidFill>
                <a:latin typeface="Pretendard"/>
                <a:ea typeface="Pretendard"/>
                <a:cs typeface="Pretendard"/>
              </a:rPr>
              <a:t>1분</a:t>
            </a:r>
          </a:p>
        </p:txBody>
      </p:sp>
      <p:sp>
        <p:nvSpPr>
          <p:cNvPr id="36" name="card-title">
            <a:extLst xmlns:a="http://schemas.openxmlformats.org/drawingml/2006/main">
              <a:ext uri="{FF2B5EF4-FFF2-40B4-BE49-F238E27FC236}">
                <a16:creationId xmlns:a16="http://schemas.microsoft.com/office/drawing/2014/main" id="{15AB96F1-EEB5-46E7-BB83-E5DC1742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09875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37" name="card-body">
            <a:extLst xmlns:a="http://schemas.openxmlformats.org/drawingml/2006/main">
              <a:ext uri="{FF2B5EF4-FFF2-40B4-BE49-F238E27FC236}">
                <a16:creationId xmlns:a16="http://schemas.microsoft.com/office/drawing/2014/main" id="{CFABDF8E-A56C-45AF-BADF-3BF1DB31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24225"/>
            <a:ext cx="15430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수업 전까지 누가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어떤 자료를 준비할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것인가?</a:t>
            </a:r>
          </a:p>
        </p:txBody>
      </p:sp>
    </p:spTree>
    <p:extLst>
      <p:ext uri="{BB962C8B-B14F-4D97-AF65-F5344CB8AC3E}">
        <p14:creationId xmlns:p14="http://schemas.microsoft.com/office/powerpoint/2010/main" val="7743749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801E69E8-56FB-4813-AA00-C2555ACA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E827B905-1286-4D02-B184-6E97226E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BA8C94FD-5E4D-4E44-91AE-9A532ACF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F8EF531E-24F6-4080-83B0-3C0A7A92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F0806B1C-449F-4749-AD82-6D877D28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677D5A00-E820-4D53-A396-4A5E9E2A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피드백 기준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D4CFCE5D-8D6A-4DA0-BFA8-0EAC37E6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피드백은 아이디어 평가가 아니라 구현 가능성 검토입니다.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C5EC2A78-240A-4660-8B5F-38E0262D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다른 팀은 아래 네 기준으로 질문하고, 발표 팀은 준비계획에 반영합니다.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F71443C5-00E1-44E3-B8F7-9758F701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75D152EE-EC15-48C3-B14E-85A659AE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0C18B9BD-60A0-4A9C-9E24-90F76878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40C0003-2631-4BA0-9B01-61FA754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13" name="card-CHECK 1">
            <a:extLst xmlns:a="http://schemas.openxmlformats.org/drawingml/2006/main">
              <a:ext uri="{FF2B5EF4-FFF2-40B4-BE49-F238E27FC236}">
                <a16:creationId xmlns:a16="http://schemas.microsoft.com/office/drawing/2014/main" id="{50642F93-60E6-4FB5-8087-BB7DB24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5527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C345A3F-0933-4977-9FAD-EEBB1E44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76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929B9FCE-0B7B-415D-AB65-C7737458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CHECK 1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DB7C288C-C5D2-40CC-A7B7-7D74AE71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현업성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6EDF13D9-4F85-4D84-975F-F20DD128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19475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이 문제가 실제 업무 시간을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줄이거나 품질을 높이는가?</a:t>
            </a:r>
          </a:p>
        </p:txBody>
      </p:sp>
      <p:sp>
        <p:nvSpPr>
          <p:cNvPr id="18" name="card-CHECK 2">
            <a:extLst xmlns:a="http://schemas.openxmlformats.org/drawingml/2006/main">
              <a:ext uri="{FF2B5EF4-FFF2-40B4-BE49-F238E27FC236}">
                <a16:creationId xmlns:a16="http://schemas.microsoft.com/office/drawing/2014/main" id="{CCECD865-8EBE-4F8D-81E2-1A8BA0BE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28875"/>
            <a:ext cx="25527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562C1B3-E4B9-48EE-B525-13263B05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28875"/>
            <a:ext cx="76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6F8609FA-AA14-4348-93DB-10E2170D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CHECK 2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3C429136-8218-426E-8A44-A93B6543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051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자료성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AE3FDA0A-BCD3-499D-82C3-862FDF85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19475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8월 21일에 안전한 샘플 자료를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가져올 수 있는가?</a:t>
            </a:r>
          </a:p>
        </p:txBody>
      </p:sp>
      <p:sp>
        <p:nvSpPr>
          <p:cNvPr id="23" name="card-CHECK 3">
            <a:extLst xmlns:a="http://schemas.openxmlformats.org/drawingml/2006/main">
              <a:ext uri="{FF2B5EF4-FFF2-40B4-BE49-F238E27FC236}">
                <a16:creationId xmlns:a16="http://schemas.microsoft.com/office/drawing/2014/main" id="{8EB61F7E-3C2C-48F4-8E4C-2DFF4F5A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25527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3B747226-D664-493E-B45B-3D2513AB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76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3784467E-4179-44B8-AE33-F698016F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19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CHECK 3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7BE1F673-305A-4291-BFB5-60C80A04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051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구현성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EB37758A-7470-4804-96F6-BE38ABC3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19475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스파로스 데브엑스에서 하루 안에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핵심 흐름을 만들 수 있는가?</a:t>
            </a:r>
          </a:p>
        </p:txBody>
      </p:sp>
      <p:sp>
        <p:nvSpPr>
          <p:cNvPr id="28" name="card-CHECK 4">
            <a:extLst xmlns:a="http://schemas.openxmlformats.org/drawingml/2006/main">
              <a:ext uri="{FF2B5EF4-FFF2-40B4-BE49-F238E27FC236}">
                <a16:creationId xmlns:a16="http://schemas.microsoft.com/office/drawing/2014/main" id="{7C0967EA-C413-479B-9E4B-C7EAA06B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28875"/>
            <a:ext cx="2552700" cy="2362200"/>
          </a:xfrm>
          <a:prstGeom xmlns:a="http://schemas.openxmlformats.org/drawingml/2006/main" prst="roundRect">
            <a:avLst>
              <a:gd name="adj" fmla="val 72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E2573F6-EC7E-4C9E-BB73-9C058665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28875"/>
            <a:ext cx="762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label">
            <a:extLst xmlns:a="http://schemas.openxmlformats.org/drawingml/2006/main">
              <a:ext uri="{FF2B5EF4-FFF2-40B4-BE49-F238E27FC236}">
                <a16:creationId xmlns:a16="http://schemas.microsoft.com/office/drawing/2014/main" id="{525FBB14-DE1E-4D0A-8AC0-E23340A5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193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FFC400"/>
                </a:solidFill>
                <a:latin typeface="Pretendard"/>
                <a:ea typeface="Pretendard"/>
                <a:cs typeface="Pretendard"/>
              </a:rPr>
              <a:t>CHECK 4</a:t>
            </a:r>
          </a:p>
        </p:txBody>
      </p:sp>
      <p:sp>
        <p:nvSpPr>
          <p:cNvPr id="31" name="card-title">
            <a:extLst xmlns:a="http://schemas.openxmlformats.org/drawingml/2006/main">
              <a:ext uri="{FF2B5EF4-FFF2-40B4-BE49-F238E27FC236}">
                <a16:creationId xmlns:a16="http://schemas.microsoft.com/office/drawing/2014/main" id="{3CE9EA03-BB77-4D08-A428-9A8F1CE8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051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검증성</a:t>
            </a:r>
          </a:p>
        </p:txBody>
      </p:sp>
      <p:sp>
        <p:nvSpPr>
          <p:cNvPr id="32" name="card-body">
            <a:extLst xmlns:a="http://schemas.openxmlformats.org/drawingml/2006/main">
              <a:ext uri="{FF2B5EF4-FFF2-40B4-BE49-F238E27FC236}">
                <a16:creationId xmlns:a16="http://schemas.microsoft.com/office/drawing/2014/main" id="{BCD35CF6-F610-4399-B188-904F4580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19475"/>
            <a:ext cx="2095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AI 결과를 사람이 검토할 기준이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분명한가?</a:t>
            </a:r>
          </a:p>
        </p:txBody>
      </p:sp>
    </p:spTree>
    <p:extLst>
      <p:ext uri="{BB962C8B-B14F-4D97-AF65-F5344CB8AC3E}">
        <p14:creationId xmlns:p14="http://schemas.microsoft.com/office/powerpoint/2010/main" val="178622669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ED25E36A-7CFC-49E9-8E36-6A316CAE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59E44486-6453-4D7B-809E-1DA0690B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83BE95A1-D05A-4A4D-AFBD-19DF95E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4AC39F40-AA7D-4D72-83D9-3C476AF6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569F10EF-09F5-4AFB-BCEE-8BB90C5D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4ED30A56-C54B-4B87-85C7-018DA97E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워크시트 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97846BEB-C630-40BD-85A4-0E563599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동료 피드백 기록지: 각 팀 발표를 들으며 질문을 남깁니다.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75D9D901-D0DC-4EDF-B78D-DBCDECEE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좋은 질문은 8월 구현 리스크를 줄이는 질문입니다.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26A36067-1A51-40AB-8873-CD6E0318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4D7FCB4C-E5EE-4B30-AF7B-BB3BC5CA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7A9F40BB-96E7-45C0-8CB4-32458EAD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4140929B-42AF-48A2-A4C0-39CFFEE3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13" name="fb-header">
            <a:extLst xmlns:a="http://schemas.openxmlformats.org/drawingml/2006/main">
              <a:ext uri="{FF2B5EF4-FFF2-40B4-BE49-F238E27FC236}">
                <a16:creationId xmlns:a16="http://schemas.microsoft.com/office/drawing/2014/main" id="{53503E46-A8F9-4599-925E-3B4C831F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4" name="fb-header-text">
            <a:extLst xmlns:a="http://schemas.openxmlformats.org/drawingml/2006/main">
              <a:ext uri="{FF2B5EF4-FFF2-40B4-BE49-F238E27FC236}">
                <a16:creationId xmlns:a16="http://schemas.microsoft.com/office/drawing/2014/main" id="{A87EA8C4-8980-4870-9528-04551627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</a:t>
            </a:r>
          </a:p>
        </p:txBody>
      </p:sp>
      <p:sp>
        <p:nvSpPr>
          <p:cNvPr id="15" name="fb-header">
            <a:extLst xmlns:a="http://schemas.openxmlformats.org/drawingml/2006/main">
              <a:ext uri="{FF2B5EF4-FFF2-40B4-BE49-F238E27FC236}">
                <a16:creationId xmlns:a16="http://schemas.microsoft.com/office/drawing/2014/main" id="{108AC0DC-F543-4077-AE54-04BBAFDB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145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6" name="fb-header-text">
            <a:extLst xmlns:a="http://schemas.openxmlformats.org/drawingml/2006/main">
              <a:ext uri="{FF2B5EF4-FFF2-40B4-BE49-F238E27FC236}">
                <a16:creationId xmlns:a16="http://schemas.microsoft.com/office/drawing/2014/main" id="{D26530C0-1B24-40FB-9D6F-0A53BC2D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38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강점</a:t>
            </a:r>
          </a:p>
        </p:txBody>
      </p:sp>
      <p:sp>
        <p:nvSpPr>
          <p:cNvPr id="17" name="fb-header">
            <a:extLst xmlns:a="http://schemas.openxmlformats.org/drawingml/2006/main">
              <a:ext uri="{FF2B5EF4-FFF2-40B4-BE49-F238E27FC236}">
                <a16:creationId xmlns:a16="http://schemas.microsoft.com/office/drawing/2014/main" id="{A877FA49-6476-4459-AD9C-A97453C0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8" name="fb-header-text">
            <a:extLst xmlns:a="http://schemas.openxmlformats.org/drawingml/2006/main">
              <a:ext uri="{FF2B5EF4-FFF2-40B4-BE49-F238E27FC236}">
                <a16:creationId xmlns:a16="http://schemas.microsoft.com/office/drawing/2014/main" id="{02875E84-6C20-40A1-9A48-3BEACA9A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가장 큰 리스크</a:t>
            </a:r>
          </a:p>
        </p:txBody>
      </p:sp>
      <p:sp>
        <p:nvSpPr>
          <p:cNvPr id="19" name="fb-header">
            <a:extLst xmlns:a="http://schemas.openxmlformats.org/drawingml/2006/main">
              <a:ext uri="{FF2B5EF4-FFF2-40B4-BE49-F238E27FC236}">
                <a16:creationId xmlns:a16="http://schemas.microsoft.com/office/drawing/2014/main" id="{F048FE0C-D041-40A7-8D8A-8802F33A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0" name="fb-header-text">
            <a:extLst xmlns:a="http://schemas.openxmlformats.org/drawingml/2006/main">
              <a:ext uri="{FF2B5EF4-FFF2-40B4-BE49-F238E27FC236}">
                <a16:creationId xmlns:a16="http://schemas.microsoft.com/office/drawing/2014/main" id="{47B2BD5A-A0ED-4294-B0C0-E648E0BA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38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필요 자료</a:t>
            </a:r>
          </a:p>
        </p:txBody>
      </p:sp>
      <p:sp>
        <p:nvSpPr>
          <p:cNvPr id="21" name="fb-header">
            <a:extLst xmlns:a="http://schemas.openxmlformats.org/drawingml/2006/main">
              <a:ext uri="{FF2B5EF4-FFF2-40B4-BE49-F238E27FC236}">
                <a16:creationId xmlns:a16="http://schemas.microsoft.com/office/drawing/2014/main" id="{91D4DF9E-8738-4E66-A26E-2CC7CCEE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2" name="fb-header-text">
            <a:extLst xmlns:a="http://schemas.openxmlformats.org/drawingml/2006/main">
              <a:ext uri="{FF2B5EF4-FFF2-40B4-BE49-F238E27FC236}">
                <a16:creationId xmlns:a16="http://schemas.microsoft.com/office/drawing/2014/main" id="{848E6E2C-E47F-4216-931C-1C77B222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23" name="fb-cell">
            <a:extLst xmlns:a="http://schemas.openxmlformats.org/drawingml/2006/main">
              <a:ext uri="{FF2B5EF4-FFF2-40B4-BE49-F238E27FC236}">
                <a16:creationId xmlns:a16="http://schemas.microsoft.com/office/drawing/2014/main" id="{DC44B37E-24E9-4E27-9A99-17336773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4" name="team-label">
            <a:extLst xmlns:a="http://schemas.openxmlformats.org/drawingml/2006/main">
              <a:ext uri="{FF2B5EF4-FFF2-40B4-BE49-F238E27FC236}">
                <a16:creationId xmlns:a16="http://schemas.microsoft.com/office/drawing/2014/main" id="{089A8B00-39CF-4549-BF5C-EB3574B1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Team 1</a:t>
            </a:r>
          </a:p>
        </p:txBody>
      </p:sp>
      <p:sp>
        <p:nvSpPr>
          <p:cNvPr id="25" name="fb-cell">
            <a:extLst xmlns:a="http://schemas.openxmlformats.org/drawingml/2006/main">
              <a:ext uri="{FF2B5EF4-FFF2-40B4-BE49-F238E27FC236}">
                <a16:creationId xmlns:a16="http://schemas.microsoft.com/office/drawing/2014/main" id="{B3BF906F-7834-45F5-BAD5-897952AB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6" name="fb-cell">
            <a:extLst xmlns:a="http://schemas.openxmlformats.org/drawingml/2006/main">
              <a:ext uri="{FF2B5EF4-FFF2-40B4-BE49-F238E27FC236}">
                <a16:creationId xmlns:a16="http://schemas.microsoft.com/office/drawing/2014/main" id="{D630406C-EA18-435F-9B0D-F00A3F0A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7" name="fb-cell">
            <a:extLst xmlns:a="http://schemas.openxmlformats.org/drawingml/2006/main">
              <a:ext uri="{FF2B5EF4-FFF2-40B4-BE49-F238E27FC236}">
                <a16:creationId xmlns:a16="http://schemas.microsoft.com/office/drawing/2014/main" id="{4BD98DA2-CB98-4DB0-8A3F-B57BCE9C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8" name="fb-cell">
            <a:extLst xmlns:a="http://schemas.openxmlformats.org/drawingml/2006/main">
              <a:ext uri="{FF2B5EF4-FFF2-40B4-BE49-F238E27FC236}">
                <a16:creationId xmlns:a16="http://schemas.microsoft.com/office/drawing/2014/main" id="{8BC295C9-CAE1-435A-BF5D-A73D70B9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717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9" name="fb-cell">
            <a:extLst xmlns:a="http://schemas.openxmlformats.org/drawingml/2006/main">
              <a:ext uri="{FF2B5EF4-FFF2-40B4-BE49-F238E27FC236}">
                <a16:creationId xmlns:a16="http://schemas.microsoft.com/office/drawing/2014/main" id="{18BD3656-BC60-4FD6-8108-A272313C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0" name="team-label">
            <a:extLst xmlns:a="http://schemas.openxmlformats.org/drawingml/2006/main">
              <a:ext uri="{FF2B5EF4-FFF2-40B4-BE49-F238E27FC236}">
                <a16:creationId xmlns:a16="http://schemas.microsoft.com/office/drawing/2014/main" id="{4CBFE259-4046-443C-89AB-27C0698A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147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Team 2</a:t>
            </a:r>
          </a:p>
        </p:txBody>
      </p:sp>
      <p:sp>
        <p:nvSpPr>
          <p:cNvPr id="31" name="fb-cell">
            <a:extLst xmlns:a="http://schemas.openxmlformats.org/drawingml/2006/main">
              <a:ext uri="{FF2B5EF4-FFF2-40B4-BE49-F238E27FC236}">
                <a16:creationId xmlns:a16="http://schemas.microsoft.com/office/drawing/2014/main" id="{5F27F311-5014-486E-9C92-F68D4326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24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2" name="fb-cell">
            <a:extLst xmlns:a="http://schemas.openxmlformats.org/drawingml/2006/main">
              <a:ext uri="{FF2B5EF4-FFF2-40B4-BE49-F238E27FC236}">
                <a16:creationId xmlns:a16="http://schemas.microsoft.com/office/drawing/2014/main" id="{0F47B5D4-60A3-4C81-AB92-EEE77C42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3" name="fb-cell">
            <a:extLst xmlns:a="http://schemas.openxmlformats.org/drawingml/2006/main">
              <a:ext uri="{FF2B5EF4-FFF2-40B4-BE49-F238E27FC236}">
                <a16:creationId xmlns:a16="http://schemas.microsoft.com/office/drawing/2014/main" id="{7E2658D8-0C07-4684-B2A9-C952708B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4" name="fb-cell">
            <a:extLst xmlns:a="http://schemas.openxmlformats.org/drawingml/2006/main">
              <a:ext uri="{FF2B5EF4-FFF2-40B4-BE49-F238E27FC236}">
                <a16:creationId xmlns:a16="http://schemas.microsoft.com/office/drawing/2014/main" id="{6EAB78C0-AE70-4F3A-B7C6-E5939359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242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5" name="fb-cell">
            <a:extLst xmlns:a="http://schemas.openxmlformats.org/drawingml/2006/main">
              <a:ext uri="{FF2B5EF4-FFF2-40B4-BE49-F238E27FC236}">
                <a16:creationId xmlns:a16="http://schemas.microsoft.com/office/drawing/2014/main" id="{93DC2827-F1CA-40A6-A3D0-A5792FA6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6" name="team-label">
            <a:extLst xmlns:a="http://schemas.openxmlformats.org/drawingml/2006/main">
              <a:ext uri="{FF2B5EF4-FFF2-40B4-BE49-F238E27FC236}">
                <a16:creationId xmlns:a16="http://schemas.microsoft.com/office/drawing/2014/main" id="{7ACCC912-3E2D-4ABA-AC4A-01965B8B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Team 3</a:t>
            </a:r>
          </a:p>
        </p:txBody>
      </p:sp>
      <p:sp>
        <p:nvSpPr>
          <p:cNvPr id="37" name="fb-cell">
            <a:extLst xmlns:a="http://schemas.openxmlformats.org/drawingml/2006/main">
              <a:ext uri="{FF2B5EF4-FFF2-40B4-BE49-F238E27FC236}">
                <a16:creationId xmlns:a16="http://schemas.microsoft.com/office/drawing/2014/main" id="{168F3557-30FF-4ECD-80FE-701DA9DEC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76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8" name="fb-cell">
            <a:extLst xmlns:a="http://schemas.openxmlformats.org/drawingml/2006/main">
              <a:ext uri="{FF2B5EF4-FFF2-40B4-BE49-F238E27FC236}">
                <a16:creationId xmlns:a16="http://schemas.microsoft.com/office/drawing/2014/main" id="{F1ACA70D-72FA-46B7-81EA-D6308422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39" name="fb-cell">
            <a:extLst xmlns:a="http://schemas.openxmlformats.org/drawingml/2006/main">
              <a:ext uri="{FF2B5EF4-FFF2-40B4-BE49-F238E27FC236}">
                <a16:creationId xmlns:a16="http://schemas.microsoft.com/office/drawing/2014/main" id="{A0447771-89E1-4738-B59B-CED0D7AF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0" name="fb-cell">
            <a:extLst xmlns:a="http://schemas.openxmlformats.org/drawingml/2006/main">
              <a:ext uri="{FF2B5EF4-FFF2-40B4-BE49-F238E27FC236}">
                <a16:creationId xmlns:a16="http://schemas.microsoft.com/office/drawing/2014/main" id="{B0DD355D-4FA0-4514-939A-2B623F03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766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1" name="fb-cell">
            <a:extLst xmlns:a="http://schemas.openxmlformats.org/drawingml/2006/main">
              <a:ext uri="{FF2B5EF4-FFF2-40B4-BE49-F238E27FC236}">
                <a16:creationId xmlns:a16="http://schemas.microsoft.com/office/drawing/2014/main" id="{84A3AC9C-5175-4326-9346-B0E73EB0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2" name="team-label">
            <a:extLst xmlns:a="http://schemas.openxmlformats.org/drawingml/2006/main">
              <a:ext uri="{FF2B5EF4-FFF2-40B4-BE49-F238E27FC236}">
                <a16:creationId xmlns:a16="http://schemas.microsoft.com/office/drawing/2014/main" id="{42771BF9-D925-4895-9B4B-AE2644C0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Team 4</a:t>
            </a:r>
          </a:p>
        </p:txBody>
      </p:sp>
      <p:sp>
        <p:nvSpPr>
          <p:cNvPr id="43" name="fb-cell">
            <a:extLst xmlns:a="http://schemas.openxmlformats.org/drawingml/2006/main">
              <a:ext uri="{FF2B5EF4-FFF2-40B4-BE49-F238E27FC236}">
                <a16:creationId xmlns:a16="http://schemas.microsoft.com/office/drawing/2014/main" id="{355BD5C8-7F0E-41C5-A76A-CB5A4342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4" name="fb-cell">
            <a:extLst xmlns:a="http://schemas.openxmlformats.org/drawingml/2006/main">
              <a:ext uri="{FF2B5EF4-FFF2-40B4-BE49-F238E27FC236}">
                <a16:creationId xmlns:a16="http://schemas.microsoft.com/office/drawing/2014/main" id="{23D590F4-E556-4583-BD0E-90885164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5" name="fb-cell">
            <a:extLst xmlns:a="http://schemas.openxmlformats.org/drawingml/2006/main">
              <a:ext uri="{FF2B5EF4-FFF2-40B4-BE49-F238E27FC236}">
                <a16:creationId xmlns:a16="http://schemas.microsoft.com/office/drawing/2014/main" id="{25330455-C323-4711-8AF9-6829CC6F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29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6" name="fb-cell">
            <a:extLst xmlns:a="http://schemas.openxmlformats.org/drawingml/2006/main">
              <a:ext uri="{FF2B5EF4-FFF2-40B4-BE49-F238E27FC236}">
                <a16:creationId xmlns:a16="http://schemas.microsoft.com/office/drawing/2014/main" id="{73B52990-213A-44CF-AA1C-FA03EE0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291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7" name="fb-cell">
            <a:extLst xmlns:a="http://schemas.openxmlformats.org/drawingml/2006/main">
              <a:ext uri="{FF2B5EF4-FFF2-40B4-BE49-F238E27FC236}">
                <a16:creationId xmlns:a16="http://schemas.microsoft.com/office/drawing/2014/main" id="{2342919C-E513-4E78-8EA2-DF4E28B6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95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48" name="team-label">
            <a:extLst xmlns:a="http://schemas.openxmlformats.org/drawingml/2006/main">
              <a:ext uri="{FF2B5EF4-FFF2-40B4-BE49-F238E27FC236}">
                <a16:creationId xmlns:a16="http://schemas.microsoft.com/office/drawing/2014/main" id="{591B5667-C888-4C11-8B1E-9C2A4B5A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800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Team 5</a:t>
            </a:r>
          </a:p>
        </p:txBody>
      </p:sp>
      <p:sp>
        <p:nvSpPr>
          <p:cNvPr id="49" name="fb-cell">
            <a:extLst xmlns:a="http://schemas.openxmlformats.org/drawingml/2006/main">
              <a:ext uri="{FF2B5EF4-FFF2-40B4-BE49-F238E27FC236}">
                <a16:creationId xmlns:a16="http://schemas.microsoft.com/office/drawing/2014/main" id="{58EFEFE0-E35E-4EA2-9619-81300267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81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0" name="fb-cell">
            <a:extLst xmlns:a="http://schemas.openxmlformats.org/drawingml/2006/main">
              <a:ext uri="{FF2B5EF4-FFF2-40B4-BE49-F238E27FC236}">
                <a16:creationId xmlns:a16="http://schemas.microsoft.com/office/drawing/2014/main" id="{6896F24A-E8C9-4B93-9D03-DBC2D5E6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1" name="fb-cell">
            <a:extLst xmlns:a="http://schemas.openxmlformats.org/drawingml/2006/main">
              <a:ext uri="{FF2B5EF4-FFF2-40B4-BE49-F238E27FC236}">
                <a16:creationId xmlns:a16="http://schemas.microsoft.com/office/drawing/2014/main" id="{33FD162A-AB50-4495-A2A5-B207368F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52" name="fb-cell">
            <a:extLst xmlns:a="http://schemas.openxmlformats.org/drawingml/2006/main">
              <a:ext uri="{FF2B5EF4-FFF2-40B4-BE49-F238E27FC236}">
                <a16:creationId xmlns:a16="http://schemas.microsoft.com/office/drawing/2014/main" id="{AFBAC7BE-B85B-4869-9E6B-5098F029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815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70212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6AAAD930-BB02-496B-8B6B-01A94469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F076E22F-4A49-47FD-9D72-2EF75704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CA44AA6C-201D-4032-9DE9-4264B0E1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D8D05357-95EC-41F5-878F-9392F56F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FACFEEE9-26E7-4AF3-9192-694585AB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0A4FA01C-59CB-41D6-8E94-E0FCBDD7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ACTIVITY 8 · 18:35-18:50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E697034-62CC-4138-A76F-017D512C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준비계획 확정: 다음 수업 전까지 할 일을 배정합니다.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5648458F-E84C-4F2F-8C59-497AB361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8월 21일이 아이디어 회의로 시작되지 않도록 준비물과 담당자를 확정합니다.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6ACC0BD4-2043-4AF0-BF64-410BFEEE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7193D288-396F-4EB0-B143-3C97D8D86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4CDE9A6F-4EA5-47AC-8ED6-326FE270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97C1732-EFBC-49DA-91C0-01798FB4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13" name="card-진행 방법">
            <a:extLst xmlns:a="http://schemas.openxmlformats.org/drawingml/2006/main">
              <a:ext uri="{FF2B5EF4-FFF2-40B4-BE49-F238E27FC236}">
                <a16:creationId xmlns:a16="http://schemas.microsoft.com/office/drawing/2014/main" id="{978D9023-8505-426C-91D4-A7F1B166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D5B1159-B882-4AA1-8251-DE9C2A21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D1063116-287B-4B34-A76C-5062D866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진행 방법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85CE91FF-5148-4FEF-9ED7-9E4948E9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How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BE2CE14C-5E26-445A-805D-355C5F53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팀별 피드백 반영 → 샘플 자료/금지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자료/담당자/마감 작성</a:t>
            </a:r>
          </a:p>
        </p:txBody>
      </p:sp>
      <p:sp>
        <p:nvSpPr>
          <p:cNvPr id="18" name="card-결과물">
            <a:extLst xmlns:a="http://schemas.openxmlformats.org/drawingml/2006/main">
              <a:ext uri="{FF2B5EF4-FFF2-40B4-BE49-F238E27FC236}">
                <a16:creationId xmlns:a16="http://schemas.microsoft.com/office/drawing/2014/main" id="{B8CB3F5B-638D-4651-A33D-41E83C74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95C6872-9FD4-46A4-B58E-E0D2E8C6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94F17A0C-7B34-4E9B-9AD7-F954368C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7A438288-D241-469E-9C84-6C2DA693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Output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FCAD1744-8CDB-4256-A2F3-17E13303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팀별 사전 준비 목록과 담당자</a:t>
            </a:r>
          </a:p>
        </p:txBody>
      </p:sp>
      <p:sp>
        <p:nvSpPr>
          <p:cNvPr id="23" name="card-운영 팁">
            <a:extLst xmlns:a="http://schemas.openxmlformats.org/drawingml/2006/main">
              <a:ext uri="{FF2B5EF4-FFF2-40B4-BE49-F238E27FC236}">
                <a16:creationId xmlns:a16="http://schemas.microsoft.com/office/drawing/2014/main" id="{E08446F8-8524-42D4-83DB-89E0BF29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0E49B018-562F-4640-B600-497430D7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352704DA-81ED-42CF-A819-25081C9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 팁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E067556D-094D-41C2-8864-8165D1B0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Facilitator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B9862477-2CF0-42AB-93A1-273B7856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2686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타이머를 보이게 두고, 각 팀의 산출물은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다음 단계 장표에 바로 옮겨 적게 합니다.</a:t>
            </a:r>
          </a:p>
        </p:txBody>
      </p:sp>
    </p:spTree>
    <p:extLst>
      <p:ext uri="{BB962C8B-B14F-4D97-AF65-F5344CB8AC3E}">
        <p14:creationId xmlns:p14="http://schemas.microsoft.com/office/powerpoint/2010/main" val="7017950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B8F51E4B-F01D-4F7F-822E-D3BA1B1E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D12C16A8-2230-4E6F-A3EA-FC5EB1B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012CD1B2-4B4C-4E20-B1B7-E5BA714E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08426E57-65A2-403D-ACD2-32BEF86E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F41A95AD-3C03-4015-BFCB-E62D4EA2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8C3745DB-0983-45B0-B13E-4E0E7C01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워크시트 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23567C2-074B-444C-8965-8550A71F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21일까지 준비할 것을 팀별로 확정합니다.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39601AFD-4D9E-478F-ADA9-6AAF7396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누가, 언제까지, 어떤 자료를 준비할지 명확해야 다음 수업이 구현으로 시작됩니다.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6F5F1B1C-9C17-46A8-B399-C66AB23F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C90ED0B6-9DA7-4673-858E-61CC7A04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C22A3AD3-6D05-4288-AEC2-53A42D86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06D7EDA-F758-482E-93B0-9C03F963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13" name="field-label">
            <a:extLst xmlns:a="http://schemas.openxmlformats.org/drawingml/2006/main">
              <a:ext uri="{FF2B5EF4-FFF2-40B4-BE49-F238E27FC236}">
                <a16:creationId xmlns:a16="http://schemas.microsoft.com/office/drawing/2014/main" id="{BED3978B-A3A9-4A66-A3D9-2AABAC08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준비할 샘플 자료</a:t>
            </a:r>
          </a:p>
        </p:txBody>
      </p:sp>
      <p:sp>
        <p:nvSpPr>
          <p:cNvPr id="14" name="field-준비할 샘플 자료">
            <a:extLst xmlns:a="http://schemas.openxmlformats.org/drawingml/2006/main">
              <a:ext uri="{FF2B5EF4-FFF2-40B4-BE49-F238E27FC236}">
                <a16:creationId xmlns:a16="http://schemas.microsoft.com/office/drawing/2014/main" id="{14DBCA64-733A-444A-8FBC-9467DD97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5" name="field-hint">
            <a:extLst xmlns:a="http://schemas.openxmlformats.org/drawingml/2006/main">
              <a:ext uri="{FF2B5EF4-FFF2-40B4-BE49-F238E27FC236}">
                <a16:creationId xmlns:a16="http://schemas.microsoft.com/office/drawing/2014/main" id="{7E91B172-5ED0-4288-BC2A-9D314D44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문서, 표, 예시 요청, 화면 캡처, 정책 문구 등</a:t>
            </a:r>
          </a:p>
        </p:txBody>
      </p:sp>
      <p:sp>
        <p:nvSpPr>
          <p:cNvPr id="16" name="field-label">
            <a:extLst xmlns:a="http://schemas.openxmlformats.org/drawingml/2006/main">
              <a:ext uri="{FF2B5EF4-FFF2-40B4-BE49-F238E27FC236}">
                <a16:creationId xmlns:a16="http://schemas.microsoft.com/office/drawing/2014/main" id="{A2697C8A-F290-4D2C-91A1-B2823745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90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담당자 / 마감</a:t>
            </a:r>
          </a:p>
        </p:txBody>
      </p:sp>
      <p:sp>
        <p:nvSpPr>
          <p:cNvPr id="17" name="field-담당자 / 마감">
            <a:extLst xmlns:a="http://schemas.openxmlformats.org/drawingml/2006/main">
              <a:ext uri="{FF2B5EF4-FFF2-40B4-BE49-F238E27FC236}">
                <a16:creationId xmlns:a16="http://schemas.microsoft.com/office/drawing/2014/main" id="{D1C096A9-BDA3-4128-A2D1-47DEE8A6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57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8" name="field-hint">
            <a:extLst xmlns:a="http://schemas.openxmlformats.org/drawingml/2006/main">
              <a:ext uri="{FF2B5EF4-FFF2-40B4-BE49-F238E27FC236}">
                <a16:creationId xmlns:a16="http://schemas.microsoft.com/office/drawing/2014/main" id="{B5AD7EEB-3293-419A-9C2C-C0420755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90800"/>
            <a:ext cx="312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누가 언제까지 준비할 것인가?</a:t>
            </a:r>
          </a:p>
        </p:txBody>
      </p:sp>
      <p:sp>
        <p:nvSpPr>
          <p:cNvPr id="19" name="field-label">
            <a:extLst xmlns:a="http://schemas.openxmlformats.org/drawingml/2006/main">
              <a:ext uri="{FF2B5EF4-FFF2-40B4-BE49-F238E27FC236}">
                <a16:creationId xmlns:a16="http://schemas.microsoft.com/office/drawing/2014/main" id="{5A8CB67F-19CF-45AC-B0BB-420F722E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90750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금지 자료</a:t>
            </a:r>
          </a:p>
        </p:txBody>
      </p:sp>
      <p:sp>
        <p:nvSpPr>
          <p:cNvPr id="20" name="field-금지 자료">
            <a:extLst xmlns:a="http://schemas.openxmlformats.org/drawingml/2006/main">
              <a:ext uri="{FF2B5EF4-FFF2-40B4-BE49-F238E27FC236}">
                <a16:creationId xmlns:a16="http://schemas.microsoft.com/office/drawing/2014/main" id="{28878439-4749-4568-80F0-88C37A48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57450"/>
            <a:ext cx="3314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1" name="field-hint">
            <a:extLst xmlns:a="http://schemas.openxmlformats.org/drawingml/2006/main">
              <a:ext uri="{FF2B5EF4-FFF2-40B4-BE49-F238E27FC236}">
                <a16:creationId xmlns:a16="http://schemas.microsoft.com/office/drawing/2014/main" id="{5B8FAD31-44A9-4FB3-825F-147834FD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3009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사용하지 않을 민감 자료와 대체 샘플</a:t>
            </a:r>
          </a:p>
        </p:txBody>
      </p:sp>
      <p:sp>
        <p:nvSpPr>
          <p:cNvPr id="22" name="field-label">
            <a:extLst xmlns:a="http://schemas.openxmlformats.org/drawingml/2006/main">
              <a:ext uri="{FF2B5EF4-FFF2-40B4-BE49-F238E27FC236}">
                <a16:creationId xmlns:a16="http://schemas.microsoft.com/office/drawing/2014/main" id="{2E90C62E-3A67-44A3-81B8-B5C3F93E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21일 구현 시작점</a:t>
            </a:r>
          </a:p>
        </p:txBody>
      </p:sp>
      <p:sp>
        <p:nvSpPr>
          <p:cNvPr id="23" name="field-8월 21일 구현 시작점">
            <a:extLst xmlns:a="http://schemas.openxmlformats.org/drawingml/2006/main">
              <a:ext uri="{FF2B5EF4-FFF2-40B4-BE49-F238E27FC236}">
                <a16:creationId xmlns:a16="http://schemas.microsoft.com/office/drawing/2014/main" id="{463F1077-A242-4837-B653-C275E71F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5143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4" name="field-hint">
            <a:extLst xmlns:a="http://schemas.openxmlformats.org/drawingml/2006/main">
              <a:ext uri="{FF2B5EF4-FFF2-40B4-BE49-F238E27FC236}">
                <a16:creationId xmlns:a16="http://schemas.microsoft.com/office/drawing/2014/main" id="{26333237-DCC4-4F99-BBCC-C75D1BEA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4838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첫 30분에 멘토와 확인할 구현 범위와 질문</a:t>
            </a:r>
          </a:p>
        </p:txBody>
      </p:sp>
      <p:sp>
        <p:nvSpPr>
          <p:cNvPr id="25" name="field-label">
            <a:extLst xmlns:a="http://schemas.openxmlformats.org/drawingml/2006/main">
              <a:ext uri="{FF2B5EF4-FFF2-40B4-BE49-F238E27FC236}">
                <a16:creationId xmlns:a16="http://schemas.microsoft.com/office/drawing/2014/main" id="{3312B641-C197-434D-9BDA-A64A5EA2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481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28일 발표 가설</a:t>
            </a:r>
          </a:p>
        </p:txBody>
      </p:sp>
      <p:sp>
        <p:nvSpPr>
          <p:cNvPr id="26" name="field-8월 28일 발표 가설">
            <a:extLst xmlns:a="http://schemas.openxmlformats.org/drawingml/2006/main">
              <a:ext uri="{FF2B5EF4-FFF2-40B4-BE49-F238E27FC236}">
                <a16:creationId xmlns:a16="http://schemas.microsoft.com/office/drawing/2014/main" id="{92F5BC05-DE35-4181-B191-5E269BBD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14800"/>
            <a:ext cx="5143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27" name="field-hint">
            <a:extLst xmlns:a="http://schemas.openxmlformats.org/drawingml/2006/main">
              <a:ext uri="{FF2B5EF4-FFF2-40B4-BE49-F238E27FC236}">
                <a16:creationId xmlns:a16="http://schemas.microsoft.com/office/drawing/2014/main" id="{E325E869-7490-4C4B-8803-EE7D7954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48150"/>
            <a:ext cx="48387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어떤 업무를 어떻게 바꿨다고 발표할 것인가?</a:t>
            </a:r>
          </a:p>
        </p:txBody>
      </p:sp>
    </p:spTree>
    <p:extLst>
      <p:ext uri="{BB962C8B-B14F-4D97-AF65-F5344CB8AC3E}">
        <p14:creationId xmlns:p14="http://schemas.microsoft.com/office/powerpoint/2010/main" val="18944392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027A1F23-B089-429E-8E40-1986CC05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795C0007-7B88-40E6-97B3-08C231D5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7186474A-0403-4983-BBBF-22112A01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FF6F2417-D050-485B-BED6-46E9A93B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70FD608E-6C55-4B6D-B501-A848810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icker">
            <a:extLst xmlns:a="http://schemas.openxmlformats.org/drawingml/2006/main">
              <a:ext uri="{FF2B5EF4-FFF2-40B4-BE49-F238E27FC236}">
                <a16:creationId xmlns:a16="http://schemas.microsoft.com/office/drawing/2014/main" id="{46475443-E66A-43A5-86FD-8961E7E5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다음 수업 연결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31EB8DBC-F744-4440-85DB-0B3B4988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오늘 만든 과제는 8월 두 번의 실행 수업으로 이어집니다.</a:t>
            </a:r>
          </a:p>
        </p:txBody>
      </p:sp>
      <p:sp>
        <p:nvSpPr>
          <p:cNvPr id="8" name="subtitle">
            <a:extLst xmlns:a="http://schemas.openxmlformats.org/drawingml/2006/main">
              <a:ext uri="{FF2B5EF4-FFF2-40B4-BE49-F238E27FC236}">
                <a16:creationId xmlns:a16="http://schemas.microsoft.com/office/drawing/2014/main" id="{75502980-D9CF-495C-B2AF-1175F68A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6월 26일은 문제와 팀을 정하고, 8월에는 구현과 발표를 통해 현업 적용 인사이트를 남깁니다.</a:t>
            </a:r>
          </a:p>
        </p:txBody>
      </p:sp>
      <p:sp>
        <p:nvSpPr>
          <p:cNvPr id="9" name="logo-dot-1">
            <a:extLst xmlns:a="http://schemas.openxmlformats.org/drawingml/2006/main">
              <a:ext uri="{FF2B5EF4-FFF2-40B4-BE49-F238E27FC236}">
                <a16:creationId xmlns:a16="http://schemas.microsoft.com/office/drawing/2014/main" id="{5BBFCDD0-761C-460C-9857-35C4F1B9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dot-2">
            <a:extLst xmlns:a="http://schemas.openxmlformats.org/drawingml/2006/main">
              <a:ext uri="{FF2B5EF4-FFF2-40B4-BE49-F238E27FC236}">
                <a16:creationId xmlns:a16="http://schemas.microsoft.com/office/drawing/2014/main" id="{46C16ACE-5F63-4884-9FDE-741847CB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ordmark">
            <a:extLst xmlns:a="http://schemas.openxmlformats.org/drawingml/2006/main">
              <a:ext uri="{FF2B5EF4-FFF2-40B4-BE49-F238E27FC236}">
                <a16:creationId xmlns:a16="http://schemas.microsoft.com/office/drawing/2014/main" id="{A55947E1-1956-4AE3-84DB-0F6E559D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BDF62F1-D371-44CF-BB33-E695C6D8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13" name="card-08.21 · 8시간">
            <a:extLst xmlns:a="http://schemas.openxmlformats.org/drawingml/2006/main">
              <a:ext uri="{FF2B5EF4-FFF2-40B4-BE49-F238E27FC236}">
                <a16:creationId xmlns:a16="http://schemas.microsoft.com/office/drawing/2014/main" id="{BAEDD102-51A3-4BF1-A9B1-044C71EF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333750" cy="2809875"/>
          </a:xfrm>
          <a:prstGeom xmlns:a="http://schemas.openxmlformats.org/drawingml/2006/main" prst="roundRect">
            <a:avLst>
              <a:gd name="adj" fmla="val 6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52CC396-5EED-4084-9F71-57598087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label">
            <a:extLst xmlns:a="http://schemas.openxmlformats.org/drawingml/2006/main">
              <a:ext uri="{FF2B5EF4-FFF2-40B4-BE49-F238E27FC236}">
                <a16:creationId xmlns:a16="http://schemas.microsoft.com/office/drawing/2014/main" id="{A8DF587D-4925-4EC3-9DCD-E08DDC9C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08.21 · 8시간</a:t>
            </a:r>
          </a:p>
        </p:txBody>
      </p:sp>
      <p:sp>
        <p:nvSpPr>
          <p:cNvPr id="16" name="card-title">
            <a:extLst xmlns:a="http://schemas.openxmlformats.org/drawingml/2006/main">
              <a:ext uri="{FF2B5EF4-FFF2-40B4-BE49-F238E27FC236}">
                <a16:creationId xmlns:a16="http://schemas.microsoft.com/office/drawing/2014/main" id="{A7F8C450-64AC-49D3-A7D9-0638338A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프로젝트 구현 및 멘토링</a:t>
            </a:r>
          </a:p>
        </p:txBody>
      </p:sp>
      <p:sp>
        <p:nvSpPr>
          <p:cNvPr id="17" name="card-body">
            <a:extLst xmlns:a="http://schemas.openxmlformats.org/drawingml/2006/main">
              <a:ext uri="{FF2B5EF4-FFF2-40B4-BE49-F238E27FC236}">
                <a16:creationId xmlns:a16="http://schemas.microsoft.com/office/drawing/2014/main" id="{7552CB95-7658-4185-9AFA-1FE300DB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28765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Project Canvas를 기준으로 스파로스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데브엑스에서 AI Agent 또는 업무 보조 도구를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구현합니다.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산출물: 작동 데모, 검증 체크리스트, 개선 요청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목록</a:t>
            </a:r>
          </a:p>
        </p:txBody>
      </p:sp>
      <p:sp>
        <p:nvSpPr>
          <p:cNvPr id="18" name="card-08.28 · 8시간">
            <a:extLst xmlns:a="http://schemas.openxmlformats.org/drawingml/2006/main">
              <a:ext uri="{FF2B5EF4-FFF2-40B4-BE49-F238E27FC236}">
                <a16:creationId xmlns:a16="http://schemas.microsoft.com/office/drawing/2014/main" id="{70739F45-7CD7-450A-A830-25C12113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3333750" cy="2809875"/>
          </a:xfrm>
          <a:prstGeom xmlns:a="http://schemas.openxmlformats.org/drawingml/2006/main" prst="roundRect">
            <a:avLst>
              <a:gd name="adj" fmla="val 6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A63732A-3627-4027-B408-3F0E47B5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762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A6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label">
            <a:extLst xmlns:a="http://schemas.openxmlformats.org/drawingml/2006/main">
              <a:ext uri="{FF2B5EF4-FFF2-40B4-BE49-F238E27FC236}">
                <a16:creationId xmlns:a16="http://schemas.microsoft.com/office/drawing/2014/main" id="{B4CEF481-5B20-4274-ABCD-AB1DEC57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7650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1A67A"/>
                </a:solidFill>
                <a:latin typeface="Pretendard"/>
                <a:ea typeface="Pretendard"/>
                <a:cs typeface="Pretendard"/>
              </a:rPr>
              <a:t>08.28 · 8시간</a:t>
            </a:r>
          </a:p>
        </p:txBody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EEC544CF-AD52-4384-B4C4-8F313C9B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프로젝트 발표 및 회고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7820BA48-92B2-42E5-AD92-B1330637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76600"/>
            <a:ext cx="28765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데모를 발표 가능한 형태로 정리하고, 현업 적용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가능성과 조직 지원 조건을 회고합니다.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산출물: 5분 발표안, 데모 시나리오, 후속 AX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과제 후보</a:t>
            </a:r>
          </a:p>
        </p:txBody>
      </p:sp>
      <p:sp>
        <p:nvSpPr>
          <p:cNvPr id="23" name="card-사전 준비">
            <a:extLst xmlns:a="http://schemas.openxmlformats.org/drawingml/2006/main">
              <a:ext uri="{FF2B5EF4-FFF2-40B4-BE49-F238E27FC236}">
                <a16:creationId xmlns:a16="http://schemas.microsoft.com/office/drawing/2014/main" id="{481F96E6-FB09-463F-9A84-DAAC1F30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3143250" cy="2809875"/>
          </a:xfrm>
          <a:prstGeom xmlns:a="http://schemas.openxmlformats.org/drawingml/2006/main" prst="roundRect">
            <a:avLst>
              <a:gd name="adj" fmla="val 6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0C95765-03D9-49B9-98DC-D2E88C85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86000"/>
            <a:ext cx="762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label">
            <a:extLst xmlns:a="http://schemas.openxmlformats.org/drawingml/2006/main">
              <a:ext uri="{FF2B5EF4-FFF2-40B4-BE49-F238E27FC236}">
                <a16:creationId xmlns:a16="http://schemas.microsoft.com/office/drawing/2014/main" id="{7E6D244B-53C4-4B2B-B5A9-D48E74F7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765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사전 준비</a:t>
            </a:r>
          </a:p>
        </p:txBody>
      </p:sp>
      <p:sp>
        <p:nvSpPr>
          <p:cNvPr id="26" name="card-title">
            <a:extLst xmlns:a="http://schemas.openxmlformats.org/drawingml/2006/main">
              <a:ext uri="{FF2B5EF4-FFF2-40B4-BE49-F238E27FC236}">
                <a16:creationId xmlns:a16="http://schemas.microsoft.com/office/drawing/2014/main" id="{858684D2-1873-4779-839E-9442F036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622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팀별 준비</a:t>
            </a:r>
          </a:p>
        </p:txBody>
      </p:sp>
      <p:sp>
        <p:nvSpPr>
          <p:cNvPr id="27" name="card-body">
            <a:extLst xmlns:a="http://schemas.openxmlformats.org/drawingml/2006/main">
              <a:ext uri="{FF2B5EF4-FFF2-40B4-BE49-F238E27FC236}">
                <a16:creationId xmlns:a16="http://schemas.microsoft.com/office/drawing/2014/main" id="{377D0CD8-8BEA-4F0E-9C4F-264F34C4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76600"/>
            <a:ext cx="26860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샘플 자료 준비, 금지 자료 정리, 현재 업무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프로세스 설명, 멘토 질문 목록 작성이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5384911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8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or-ring-1">
            <a:extLst xmlns:a="http://schemas.openxmlformats.org/drawingml/2006/main">
              <a:ext uri="{FF2B5EF4-FFF2-40B4-BE49-F238E27FC236}">
                <a16:creationId xmlns:a16="http://schemas.microsoft.com/office/drawing/2014/main" id="{CD83A6B9-7392-4E9D-AB42-17C4EC20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09600" y="-800100"/>
            <a:ext cx="342900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2" name="decor-ring-2">
            <a:extLst xmlns:a="http://schemas.openxmlformats.org/drawingml/2006/main">
              <a:ext uri="{FF2B5EF4-FFF2-40B4-BE49-F238E27FC236}">
                <a16:creationId xmlns:a16="http://schemas.microsoft.com/office/drawing/2014/main" id="{82806917-D35A-463D-B90C-845B2D6D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00" y="-895350"/>
            <a:ext cx="2762250" cy="209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BFF"/>
            </a:solidFill>
            <a:prstDash val="solid"/>
          </a:ln>
        </p:spPr>
      </p:sp>
      <p:sp>
        <p:nvSpPr>
          <p:cNvPr id="3" name="decor-orb-1">
            <a:extLst xmlns:a="http://schemas.openxmlformats.org/drawingml/2006/main">
              <a:ext uri="{FF2B5EF4-FFF2-40B4-BE49-F238E27FC236}">
                <a16:creationId xmlns:a16="http://schemas.microsoft.com/office/drawing/2014/main" id="{B57201DD-8379-48B7-A977-C059155A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38700"/>
            <a:ext cx="333375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ecor-orb-2">
            <a:extLst xmlns:a="http://schemas.openxmlformats.org/drawingml/2006/main">
              <a:ext uri="{FF2B5EF4-FFF2-40B4-BE49-F238E27FC236}">
                <a16:creationId xmlns:a16="http://schemas.microsoft.com/office/drawing/2014/main" id="{E2C6368B-A369-42A5-9B70-8925556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219700"/>
            <a:ext cx="2952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D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bar">
            <a:extLst xmlns:a="http://schemas.openxmlformats.org/drawingml/2006/main">
              <a:ext uri="{FF2B5EF4-FFF2-40B4-BE49-F238E27FC236}">
                <a16:creationId xmlns:a16="http://schemas.microsoft.com/office/drawing/2014/main" id="{6F47A20C-39D0-420A-A025-E284B9DE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0550"/>
            <a:ext cx="666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title">
            <a:extLst xmlns:a="http://schemas.openxmlformats.org/drawingml/2006/main">
              <a:ext uri="{FF2B5EF4-FFF2-40B4-BE49-F238E27FC236}">
                <a16:creationId xmlns:a16="http://schemas.microsoft.com/office/drawing/2014/main" id="{D4E7400F-2406-48EA-BDE9-44E885EF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수업 종료 전 확인</a:t>
            </a:r>
          </a:p>
        </p:txBody>
      </p:sp>
      <p:sp>
        <p:nvSpPr>
          <p:cNvPr id="7" name="logo-dot-1">
            <a:extLst xmlns:a="http://schemas.openxmlformats.org/drawingml/2006/main">
              <a:ext uri="{FF2B5EF4-FFF2-40B4-BE49-F238E27FC236}">
                <a16:creationId xmlns:a16="http://schemas.microsoft.com/office/drawing/2014/main" id="{8320087E-F6DD-41A7-B989-EBC06330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7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go-dot-2">
            <a:extLst xmlns:a="http://schemas.openxmlformats.org/drawingml/2006/main">
              <a:ext uri="{FF2B5EF4-FFF2-40B4-BE49-F238E27FC236}">
                <a16:creationId xmlns:a16="http://schemas.microsoft.com/office/drawing/2014/main" id="{369EA018-959B-4222-92CC-0D918D4A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85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ordmark">
            <a:extLst xmlns:a="http://schemas.openxmlformats.org/drawingml/2006/main">
              <a:ext uri="{FF2B5EF4-FFF2-40B4-BE49-F238E27FC236}">
                <a16:creationId xmlns:a16="http://schemas.microsoft.com/office/drawing/2014/main" id="{A8E1490A-4763-42B7-AAF7-71486988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3812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magicecole</a:t>
            </a:r>
          </a:p>
        </p:txBody>
      </p:sp>
      <p:sp>
        <p:nvSpPr>
          <p:cNvPr id="10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E87D3DF3-E1E1-4452-BB8B-38E98AE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1" name="check-text">
            <a:extLst xmlns:a="http://schemas.openxmlformats.org/drawingml/2006/main">
              <a:ext uri="{FF2B5EF4-FFF2-40B4-BE49-F238E27FC236}">
                <a16:creationId xmlns:a16="http://schemas.microsoft.com/office/drawing/2014/main" id="{F20D1806-35DF-4BCA-A2BE-B91BA505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팀명과 3인 역할이 정해졌는가?</a:t>
            </a:r>
          </a:p>
        </p:txBody>
      </p:sp>
      <p:sp>
        <p:nvSpPr>
          <p:cNvPr id="12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7B06A426-21FA-4574-BD28-1A84AA30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3" name="check-text">
            <a:extLst xmlns:a="http://schemas.openxmlformats.org/drawingml/2006/main">
              <a:ext uri="{FF2B5EF4-FFF2-40B4-BE49-F238E27FC236}">
                <a16:creationId xmlns:a16="http://schemas.microsoft.com/office/drawing/2014/main" id="{EA0D8CB1-0142-4E3A-860A-2CF1F1E4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해결할 업무 문제를 한 문장으로 썼는가?</a:t>
            </a:r>
          </a:p>
        </p:txBody>
      </p:sp>
      <p:sp>
        <p:nvSpPr>
          <p:cNvPr id="14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EC21228C-2E00-4651-87DA-2348D3D8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5" name="check-text">
            <a:extLst xmlns:a="http://schemas.openxmlformats.org/drawingml/2006/main">
              <a:ext uri="{FF2B5EF4-FFF2-40B4-BE49-F238E27FC236}">
                <a16:creationId xmlns:a16="http://schemas.microsoft.com/office/drawing/2014/main" id="{03A176D0-09BF-40EB-83BE-153A5293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AI가 보조할 일과 사람이 검토할 일이 분리됐는가?</a:t>
            </a:r>
          </a:p>
        </p:txBody>
      </p:sp>
      <p:sp>
        <p:nvSpPr>
          <p:cNvPr id="16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B62CC571-A4E0-499A-8128-898F58D1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</p:sp>
      <p:sp>
        <p:nvSpPr>
          <p:cNvPr id="17" name="check-text">
            <a:extLst xmlns:a="http://schemas.openxmlformats.org/drawingml/2006/main">
              <a:ext uri="{FF2B5EF4-FFF2-40B4-BE49-F238E27FC236}">
                <a16:creationId xmlns:a16="http://schemas.microsoft.com/office/drawing/2014/main" id="{094EBA01-304F-4D78-BFC4-414B3E0C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8월 21일 데모 장면과 샘플 자료가 정해졌는가?</a:t>
            </a:r>
          </a:p>
        </p:txBody>
      </p:sp>
      <p:sp>
        <p:nvSpPr>
          <p:cNvPr id="18" name="check-square">
            <a:extLst xmlns:a="http://schemas.openxmlformats.org/drawingml/2006/main">
              <a:ext uri="{FF2B5EF4-FFF2-40B4-BE49-F238E27FC236}">
                <a16:creationId xmlns:a16="http://schemas.microsoft.com/office/drawing/2014/main" id="{C274B358-CF08-4956-9FCC-C1111612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3429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9" name="check-text">
            <a:extLst xmlns:a="http://schemas.openxmlformats.org/drawingml/2006/main">
              <a:ext uri="{FF2B5EF4-FFF2-40B4-BE49-F238E27FC236}">
                <a16:creationId xmlns:a16="http://schemas.microsoft.com/office/drawing/2014/main" id="{3EE3EB8F-F37A-4A79-B2C0-B74773C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팀별 준비 담당자와 마감이 정해졌는가?</a:t>
            </a:r>
          </a:p>
        </p:txBody>
      </p:sp>
      <p:sp>
        <p:nvSpPr>
          <p:cNvPr id="20" name="closing-panel">
            <a:extLst xmlns:a="http://schemas.openxmlformats.org/drawingml/2006/main">
              <a:ext uri="{FF2B5EF4-FFF2-40B4-BE49-F238E27FC236}">
                <a16:creationId xmlns:a16="http://schemas.microsoft.com/office/drawing/2014/main" id="{6D4CCAAA-5BD7-4EDC-9243-6CB02CA3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67200"/>
            <a:ext cx="485775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4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closing-message">
            <a:extLst xmlns:a="http://schemas.openxmlformats.org/drawingml/2006/main">
              <a:ext uri="{FF2B5EF4-FFF2-40B4-BE49-F238E27FC236}">
                <a16:creationId xmlns:a16="http://schemas.microsoft.com/office/drawing/2014/main" id="{342820AA-0DC7-453A-8F57-960FA0B2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29150"/>
            <a:ext cx="42481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오늘 남길 것은 도구 사용 경험이 아니라,</a:t>
            </a:r>
          </a:p>
          <a:p xmlns:a="http://schemas.openxmlformats.org/drawingml/2006/main">
            <a:pPr algn="l">
              <a:defRPr sz="1650" b="1">
                <a:solidFill>
                  <a:srgbClr val="2F80ED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2F80ED"/>
                </a:solidFill>
                <a:latin typeface="Pretendard"/>
                <a:ea typeface="Pretendard"/>
                <a:cs typeface="Pretendard"/>
              </a:rPr>
              <a:t>현업 업무를 AI와 함께 처리하는 실행 기준입니다.</a:t>
            </a:r>
          </a:p>
        </p:txBody>
      </p:sp>
      <p:sp>
        <p:nvSpPr>
          <p:cNvPr id="22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7EA8174-3AFD-4CBE-8DFC-AD056A58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4B5563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74630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2026-06-26T00:17:57.1440000Z</dcterms:created>
  <dcterms:modified xsi:type="dcterms:W3CDTF">2026-06-26T00:17:57.1440000Z</dcterms:modified>
</coreProperties>
</file>