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75910826724ac9" /><Relationship Type="http://schemas.openxmlformats.org/officeDocument/2006/relationships/extended-properties" Target="/docProps/app.xml" Id="R32f3fb1ab8c2480f" /><Relationship Type="http://schemas.openxmlformats.org/officeDocument/2006/relationships/officeDocument" Target="/ppt/presentation.xml" Id="R2d4af1f63dff49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19ed7cf95c419d"/>
  </p:sldMasterIdLst>
  <p:notesMasterIdLst>
    <p:notesMasterId xmlns:r="http://schemas.openxmlformats.org/officeDocument/2006/relationships" r:id="Rfbf19fb20a96425c"/>
  </p:notesMasterIdLst>
  <p:sldIdLst>
    <p:sldId xmlns:r="http://schemas.openxmlformats.org/officeDocument/2006/relationships" id="256" r:id="R30625f9fe1b84ba7"/>
    <p:sldId xmlns:r="http://schemas.openxmlformats.org/officeDocument/2006/relationships" id="257" r:id="Rc87080629e92440d"/>
    <p:sldId xmlns:r="http://schemas.openxmlformats.org/officeDocument/2006/relationships" id="258" r:id="R2cb0f3040fc14b38"/>
    <p:sldId xmlns:r="http://schemas.openxmlformats.org/officeDocument/2006/relationships" id="259" r:id="Rf6fb8376356443b7"/>
    <p:sldId xmlns:r="http://schemas.openxmlformats.org/officeDocument/2006/relationships" id="260" r:id="R00b446ded7d346dc"/>
    <p:sldId xmlns:r="http://schemas.openxmlformats.org/officeDocument/2006/relationships" id="261" r:id="R9cc727d52b384d53"/>
    <p:sldId xmlns:r="http://schemas.openxmlformats.org/officeDocument/2006/relationships" id="262" r:id="Rae32fa5f5a2e4217"/>
    <p:sldId xmlns:r="http://schemas.openxmlformats.org/officeDocument/2006/relationships" id="263" r:id="Rae776f030cf24e5f"/>
    <p:sldId xmlns:r="http://schemas.openxmlformats.org/officeDocument/2006/relationships" id="264" r:id="R3287c4209afa4ed0"/>
    <p:sldId xmlns:r="http://schemas.openxmlformats.org/officeDocument/2006/relationships" id="265" r:id="Rec125becface4611"/>
    <p:sldId xmlns:r="http://schemas.openxmlformats.org/officeDocument/2006/relationships" id="266" r:id="Rd9edf5806d204489"/>
    <p:sldId xmlns:r="http://schemas.openxmlformats.org/officeDocument/2006/relationships" id="267" r:id="R6cdccd9e761a4c71"/>
    <p:sldId xmlns:r="http://schemas.openxmlformats.org/officeDocument/2006/relationships" id="268" r:id="Rb36293a9d3bf4634"/>
    <p:sldId xmlns:r="http://schemas.openxmlformats.org/officeDocument/2006/relationships" id="269" r:id="R90983999a9bb4705"/>
    <p:sldId xmlns:r="http://schemas.openxmlformats.org/officeDocument/2006/relationships" id="270" r:id="R2c47139659ee4637"/>
    <p:sldId xmlns:r="http://schemas.openxmlformats.org/officeDocument/2006/relationships" id="271" r:id="Ra4766225857c4e8c"/>
    <p:sldId xmlns:r="http://schemas.openxmlformats.org/officeDocument/2006/relationships" id="272" r:id="R40a6cd357fac46b3"/>
    <p:sldId xmlns:r="http://schemas.openxmlformats.org/officeDocument/2006/relationships" id="273" r:id="R227aa80882bf4d68"/>
    <p:sldId xmlns:r="http://schemas.openxmlformats.org/officeDocument/2006/relationships" id="274" r:id="Raa3cc3b450e64613"/>
    <p:sldId xmlns:r="http://schemas.openxmlformats.org/officeDocument/2006/relationships" id="275" r:id="R4bcf22c68b3b4bcd"/>
    <p:sldId xmlns:r="http://schemas.openxmlformats.org/officeDocument/2006/relationships" id="276" r:id="R18f042403ad54a39"/>
    <p:sldId xmlns:r="http://schemas.openxmlformats.org/officeDocument/2006/relationships" id="277" r:id="Rf9891988c5104e41"/>
    <p:sldId xmlns:r="http://schemas.openxmlformats.org/officeDocument/2006/relationships" id="278" r:id="Rd086a67073da4bd1"/>
    <p:sldId xmlns:r="http://schemas.openxmlformats.org/officeDocument/2006/relationships" id="279" r:id="R1f7ae47a577c4f81"/>
    <p:sldId xmlns:r="http://schemas.openxmlformats.org/officeDocument/2006/relationships" id="280" r:id="R6233204c3d8d41e9"/>
    <p:sldId xmlns:r="http://schemas.openxmlformats.org/officeDocument/2006/relationships" id="281" r:id="R556e5b92560044ff"/>
    <p:sldId xmlns:r="http://schemas.openxmlformats.org/officeDocument/2006/relationships" id="282" r:id="R7c6b746f67264c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dae83f126843e6" /><Relationship Type="http://schemas.openxmlformats.org/officeDocument/2006/relationships/slideMaster" Target="/ppt/slideMasters/slideMaster1.xml" Id="Rc819ed7cf95c419d" /><Relationship Type="http://schemas.openxmlformats.org/officeDocument/2006/relationships/notesMaster" Target="/ppt/notesMasters/notesMaster1.xml" Id="Rfbf19fb20a96425c" /><Relationship Type="http://schemas.openxmlformats.org/officeDocument/2006/relationships/presProps" Target="/ppt/presProps.xml" Id="R1fbcca6022d14c5c" /><Relationship Type="http://schemas.openxmlformats.org/officeDocument/2006/relationships/tableStyles" Target="/ppt/tableStyles.xml" Id="R34574d8c0a424826" /><Relationship Type="http://schemas.openxmlformats.org/officeDocument/2006/relationships/slide" Target="/ppt/slides/slide1.xml" Id="R30625f9fe1b84ba7" /><Relationship Type="http://schemas.openxmlformats.org/officeDocument/2006/relationships/slide" Target="/ppt/slides/slide2.xml" Id="Rc87080629e92440d" /><Relationship Type="http://schemas.openxmlformats.org/officeDocument/2006/relationships/slide" Target="/ppt/slides/slide3.xml" Id="R2cb0f3040fc14b38" /><Relationship Type="http://schemas.openxmlformats.org/officeDocument/2006/relationships/slide" Target="/ppt/slides/slide4.xml" Id="Rf6fb8376356443b7" /><Relationship Type="http://schemas.openxmlformats.org/officeDocument/2006/relationships/slide" Target="/ppt/slides/slide5.xml" Id="R00b446ded7d346dc" /><Relationship Type="http://schemas.openxmlformats.org/officeDocument/2006/relationships/slide" Target="/ppt/slides/slide6.xml" Id="R9cc727d52b384d53" /><Relationship Type="http://schemas.openxmlformats.org/officeDocument/2006/relationships/slide" Target="/ppt/slides/slide7.xml" Id="Rae32fa5f5a2e4217" /><Relationship Type="http://schemas.openxmlformats.org/officeDocument/2006/relationships/slide" Target="/ppt/slides/slide8.xml" Id="Rae776f030cf24e5f" /><Relationship Type="http://schemas.openxmlformats.org/officeDocument/2006/relationships/slide" Target="/ppt/slides/slide9.xml" Id="R3287c4209afa4ed0" /><Relationship Type="http://schemas.openxmlformats.org/officeDocument/2006/relationships/slide" Target="/ppt/slides/slide10.xml" Id="Rec125becface4611" /><Relationship Type="http://schemas.openxmlformats.org/officeDocument/2006/relationships/slide" Target="/ppt/slides/slide11.xml" Id="Rd9edf5806d204489" /><Relationship Type="http://schemas.openxmlformats.org/officeDocument/2006/relationships/slide" Target="/ppt/slides/slide12.xml" Id="R6cdccd9e761a4c71" /><Relationship Type="http://schemas.openxmlformats.org/officeDocument/2006/relationships/slide" Target="/ppt/slides/slide13.xml" Id="Rb36293a9d3bf4634" /><Relationship Type="http://schemas.openxmlformats.org/officeDocument/2006/relationships/slide" Target="/ppt/slides/slide14.xml" Id="R90983999a9bb4705" /><Relationship Type="http://schemas.openxmlformats.org/officeDocument/2006/relationships/slide" Target="/ppt/slides/slide15.xml" Id="R2c47139659ee4637" /><Relationship Type="http://schemas.openxmlformats.org/officeDocument/2006/relationships/slide" Target="/ppt/slides/slide16.xml" Id="Ra4766225857c4e8c" /><Relationship Type="http://schemas.openxmlformats.org/officeDocument/2006/relationships/slide" Target="/ppt/slides/slide17.xml" Id="R40a6cd357fac46b3" /><Relationship Type="http://schemas.openxmlformats.org/officeDocument/2006/relationships/slide" Target="/ppt/slides/slide18.xml" Id="R227aa80882bf4d68" /><Relationship Type="http://schemas.openxmlformats.org/officeDocument/2006/relationships/slide" Target="/ppt/slides/slide19.xml" Id="Raa3cc3b450e64613" /><Relationship Type="http://schemas.openxmlformats.org/officeDocument/2006/relationships/slide" Target="/ppt/slides/slide20.xml" Id="R4bcf22c68b3b4bcd" /><Relationship Type="http://schemas.openxmlformats.org/officeDocument/2006/relationships/slide" Target="/ppt/slides/slide21.xml" Id="R18f042403ad54a39" /><Relationship Type="http://schemas.openxmlformats.org/officeDocument/2006/relationships/slide" Target="/ppt/slides/slide22.xml" Id="Rf9891988c5104e41" /><Relationship Type="http://schemas.openxmlformats.org/officeDocument/2006/relationships/slide" Target="/ppt/slides/slide23.xml" Id="Rd086a67073da4bd1" /><Relationship Type="http://schemas.openxmlformats.org/officeDocument/2006/relationships/slide" Target="/ppt/slides/slide24.xml" Id="R1f7ae47a577c4f81" /><Relationship Type="http://schemas.openxmlformats.org/officeDocument/2006/relationships/slide" Target="/ppt/slides/slide25.xml" Id="R6233204c3d8d41e9" /><Relationship Type="http://schemas.openxmlformats.org/officeDocument/2006/relationships/slide" Target="/ppt/slides/slide26.xml" Id="R556e5b92560044ff" /><Relationship Type="http://schemas.openxmlformats.org/officeDocument/2006/relationships/slide" Target="/ppt/slides/slide27.xml" Id="R7c6b746f67264c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657c14532f47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a27c49f1914f69" /><Relationship Type="http://schemas.openxmlformats.org/officeDocument/2006/relationships/notesMaster" Target="/ppt/notesMasters/notesMaster1.xml" Id="R72c4b6c64e1c43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3d3f361f2949d8" /><Relationship Type="http://schemas.openxmlformats.org/officeDocument/2006/relationships/notesMaster" Target="/ppt/notesMasters/notesMaster1.xml" Id="Rb4e0e5759db64c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9e3986897d47b4" /><Relationship Type="http://schemas.openxmlformats.org/officeDocument/2006/relationships/notesMaster" Target="/ppt/notesMasters/notesMaster1.xml" Id="R2425b7f6f0f244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3e07010675408e" /><Relationship Type="http://schemas.openxmlformats.org/officeDocument/2006/relationships/notesMaster" Target="/ppt/notesMasters/notesMaster1.xml" Id="Rbc7c1a95c8404f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c9689f3eae4461" /><Relationship Type="http://schemas.openxmlformats.org/officeDocument/2006/relationships/notesMaster" Target="/ppt/notesMasters/notesMaster1.xml" Id="R4ca0d087baf141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c79726badc4703" /><Relationship Type="http://schemas.openxmlformats.org/officeDocument/2006/relationships/notesMaster" Target="/ppt/notesMasters/notesMaster1.xml" Id="R1114d885659d40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fc99bb902a4cd1" /><Relationship Type="http://schemas.openxmlformats.org/officeDocument/2006/relationships/notesMaster" Target="/ppt/notesMasters/notesMaster1.xml" Id="R5a5e0be31ee044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e27d6b563e4bfe" /><Relationship Type="http://schemas.openxmlformats.org/officeDocument/2006/relationships/notesMaster" Target="/ppt/notesMasters/notesMaster1.xml" Id="R25985811173f44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2162bfc6a24bf5" /><Relationship Type="http://schemas.openxmlformats.org/officeDocument/2006/relationships/notesMaster" Target="/ppt/notesMasters/notesMaster1.xml" Id="R163da8a422c140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5d66da8d5f49fb" /><Relationship Type="http://schemas.openxmlformats.org/officeDocument/2006/relationships/notesMaster" Target="/ppt/notesMasters/notesMaster1.xml" Id="R880d67a1fa104c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688ffd97224012" /><Relationship Type="http://schemas.openxmlformats.org/officeDocument/2006/relationships/notesMaster" Target="/ppt/notesMasters/notesMaster1.xml" Id="Re2e5da59946544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2e0cab8ee04586" /><Relationship Type="http://schemas.openxmlformats.org/officeDocument/2006/relationships/notesMaster" Target="/ppt/notesMasters/notesMaster1.xml" Id="Rff07e464e0af46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54c4bb294fe4b37" /><Relationship Type="http://schemas.openxmlformats.org/officeDocument/2006/relationships/notesMaster" Target="/ppt/notesMasters/notesMaster1.xml" Id="R703e710f707d45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5188d759b44778" /><Relationship Type="http://schemas.openxmlformats.org/officeDocument/2006/relationships/notesMaster" Target="/ppt/notesMasters/notesMaster1.xml" Id="Rec64fc0b6dd043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97a807218db4c46" /><Relationship Type="http://schemas.openxmlformats.org/officeDocument/2006/relationships/notesMaster" Target="/ppt/notesMasters/notesMaster1.xml" Id="Rba3cc2da55f34b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15b457f69554b85" /><Relationship Type="http://schemas.openxmlformats.org/officeDocument/2006/relationships/notesMaster" Target="/ppt/notesMasters/notesMaster1.xml" Id="R7129d2845b1540a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bfc976dbe048e7" /><Relationship Type="http://schemas.openxmlformats.org/officeDocument/2006/relationships/notesMaster" Target="/ppt/notesMasters/notesMaster1.xml" Id="R0672909ae0b945c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b7fe9d51524dca" /><Relationship Type="http://schemas.openxmlformats.org/officeDocument/2006/relationships/notesMaster" Target="/ppt/notesMasters/notesMaster1.xml" Id="Rb2d2587e1ac84c2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81d000615d4c84" /><Relationship Type="http://schemas.openxmlformats.org/officeDocument/2006/relationships/notesMaster" Target="/ppt/notesMasters/notesMaster1.xml" Id="R9f2034bb82154f4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9626a11e2164a4e" /><Relationship Type="http://schemas.openxmlformats.org/officeDocument/2006/relationships/notesMaster" Target="/ppt/notesMasters/notesMaster1.xml" Id="Rdead8e60a8b944f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ac608399ba14a7a" /><Relationship Type="http://schemas.openxmlformats.org/officeDocument/2006/relationships/notesMaster" Target="/ppt/notesMasters/notesMaster1.xml" Id="R97200527fdea46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2ea00f3f22949e1" /><Relationship Type="http://schemas.openxmlformats.org/officeDocument/2006/relationships/notesMaster" Target="/ppt/notesMasters/notesMaster1.xml" Id="R2d93054064dd47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746a0590604ca6" /><Relationship Type="http://schemas.openxmlformats.org/officeDocument/2006/relationships/notesMaster" Target="/ppt/notesMasters/notesMaster1.xml" Id="Ree053f9e907f404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3060228d86b41db" /><Relationship Type="http://schemas.openxmlformats.org/officeDocument/2006/relationships/notesMaster" Target="/ppt/notesMasters/notesMaster1.xml" Id="R0ba519e8eeee430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70f21e57e0d4f61" /><Relationship Type="http://schemas.openxmlformats.org/officeDocument/2006/relationships/notesMaster" Target="/ppt/notesMasters/notesMaster1.xml" Id="Rd420c865d52048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aa31251bc284395" /><Relationship Type="http://schemas.openxmlformats.org/officeDocument/2006/relationships/notesMaster" Target="/ppt/notesMasters/notesMaster1.xml" Id="R6cf6d027fb2a408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42d1d5711464f91" /><Relationship Type="http://schemas.openxmlformats.org/officeDocument/2006/relationships/notesMaster" Target="/ppt/notesMasters/notesMaster1.xml" Id="R85f9ba5ad68644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장표는 3시간 워크샵 시작 전에 보여준다.</a:t>
            </a:r>
          </a:p>
          <a:p xmlns:a="http://schemas.openxmlformats.org/drawingml/2006/main">
            <a:r>
              <a:t>핵심 메시지: 오늘 산출물은 팀별 AX 프로젝트 후보 1장이다.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 전반의 산출물을 명확히 한다.</a:t>
            </a:r>
          </a:p>
          <a:p xmlns:a="http://schemas.openxmlformats.org/drawingml/2006/main">
            <a:r>
              <a:t>아이디어 개수를 늘리는 시간이 아니라 실행 가능한 하나의 팀 과제를 고르는 시간이라고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시간표는 실제 운영용이다.</a:t>
            </a:r>
          </a:p>
          <a:p xmlns:a="http://schemas.openxmlformats.org/drawingml/2006/main">
            <a:r>
              <a:t>팀별 발표 시간이 밀리지 않도록 18:10 이후에는 타이머를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선택 기준을 먼저 합의한다.</a:t>
            </a:r>
          </a:p>
          <a:p xmlns:a="http://schemas.openxmlformats.org/drawingml/2006/main">
            <a:r>
              <a:t>보안과 자료 준비 가능성은 후속 구현의 병목이 되므로 초기에 제외 기준으로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팀빌딩 시 역할을 먼저 배정하면 토론이 빨라진다.</a:t>
            </a:r>
          </a:p>
          <a:p xmlns:a="http://schemas.openxmlformats.org/drawingml/2006/main">
            <a:r>
              <a:t>한 명이 두 역할을 겸해도 되지만 최종 책임자는 분리한다.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과제 발굴: 본인 업무에서 후보를 3개 찾습니다.</a:t>
            </a:r>
          </a:p>
          <a:p xmlns:a="http://schemas.openxmlformats.org/drawingml/2006/main">
            <a:r>
              <a:t>개인 작성 10분 → 옆 사람 공유 5분 → 가장 강한 후보 1개 표시 5분</a:t>
            </a:r>
          </a:p>
          <a:p xmlns:a="http://schemas.openxmlformats.org/drawingml/2006/main">
            <a:r>
              <a:t>개인별 후보 3개와 우선 후보 1개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작성 10분, 옆 사람 공유 10분.</a:t>
            </a:r>
          </a:p>
          <a:p xmlns:a="http://schemas.openxmlformats.org/drawingml/2006/main">
            <a:r>
              <a:t>후보는 크고 멋진 프로젝트보다 반복 업무 중심으로 유도한다.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예시는 특정 부서에 제한하지 않는다.</a:t>
            </a:r>
          </a:p>
          <a:p xmlns:a="http://schemas.openxmlformats.org/drawingml/2006/main">
            <a:r>
              <a:t>참여자들이 본인 업무명을 바로 떠올리도록 입력물과 출력물을 묻는다.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후보 점수화: 실행 가능한 후보를 고릅니다.</a:t>
            </a:r>
          </a:p>
          <a:p xmlns:a="http://schemas.openxmlformats.org/drawingml/2006/main">
            <a:r>
              <a:t>후보별 5개 기준 점수화 → 제외 조건 확인 → 팀 토론용 후보 1-2개 선정</a:t>
            </a:r>
          </a:p>
          <a:p xmlns:a="http://schemas.openxmlformats.org/drawingml/2006/main">
            <a:r>
              <a:t>팀 토론으로 가져갈 후보 목록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점수보다 제외 조건을 우선한다.</a:t>
            </a:r>
          </a:p>
          <a:p xmlns:a="http://schemas.openxmlformats.org/drawingml/2006/main">
            <a:r>
              <a:t>안전한 샘플 자료 준비가 불가능한 후보는 8월 구현 과제로 넘기지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팀빌딩: 3인 1조, 총 5개 프로젝트팀을 확정합니다.</a:t>
            </a:r>
          </a:p>
          <a:p xmlns:a="http://schemas.openxmlformats.org/drawingml/2006/main">
            <a:r>
              <a:t>업무 오너, 구현 담당, 검증·발표 담당을 먼저 정하고 주제 축을 선택</a:t>
            </a:r>
          </a:p>
          <a:p xmlns:a="http://schemas.openxmlformats.org/drawingml/2006/main">
            <a:r>
              <a:t>5개 팀 구성표와 팀별 1순위 업무 문제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구성 후 반드시 역할을 적게 한다.</a:t>
            </a:r>
          </a:p>
          <a:p xmlns:a="http://schemas.openxmlformats.org/drawingml/2006/main">
            <a:r>
              <a:t>같은 부서끼리만 묶이지 않도록 퍼실리테이터가 조정한다.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Canvas의 목적은 회의록이 아니라 구현 입력값이다.</a:t>
            </a:r>
          </a:p>
          <a:p xmlns:a="http://schemas.openxmlformats.org/drawingml/2006/main">
            <a:r>
              <a:t>모든 팀이 같은 양식으로 작성해야 8월 멘토링이 가능하다.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Canvas A: 문제와 현재 업무 방식을 씁니다.</a:t>
            </a:r>
          </a:p>
          <a:p xmlns:a="http://schemas.openxmlformats.org/drawingml/2006/main">
            <a:r>
              <a:t>팀 토론 20분 → 업무 문제 한 문장 확정 → 현재 입력/출력/병목 정리</a:t>
            </a:r>
          </a:p>
          <a:p xmlns:a="http://schemas.openxmlformats.org/drawingml/2006/main">
            <a:r>
              <a:t>업무 문제, 현재 방식, 병목, 산출물 정의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업무를 충분히 설명하지 못하면 AI 역할도 모호해진다.</a:t>
            </a:r>
          </a:p>
          <a:p xmlns:a="http://schemas.openxmlformats.org/drawingml/2006/main">
            <a:r>
              <a:t>문제를 기능명으로 쓰지 말고 업무 병목 문장으로 쓰게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Canvas B: AI 보조 역할과 사람 검토 기준을 나눕니다.</a:t>
            </a:r>
          </a:p>
          <a:p xmlns:a="http://schemas.openxmlformats.org/drawingml/2006/main">
            <a:r>
              <a:t>AI 역할 선택 → 사용 금지 자료 표시 → 품질·보안·승인 기준 작성</a:t>
            </a:r>
          </a:p>
          <a:p xmlns:a="http://schemas.openxmlformats.org/drawingml/2006/main">
            <a:r>
              <a:t>AI Agent 흐름 초안과 검증 기준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AI가 보조하는 일과 사람이 검토·승인하는 일을 분리하게 한다.</a:t>
            </a:r>
          </a:p>
          <a:p xmlns:a="http://schemas.openxmlformats.org/drawingml/2006/main">
            <a:r>
              <a:t>스파로스 데브엑스 활용 전제를 명시한다.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데모 범위 고정: 시연 장면을 하나로 좁힙니다.</a:t>
            </a:r>
          </a:p>
          <a:p xmlns:a="http://schemas.openxmlformats.org/drawingml/2006/main">
            <a:r>
              <a:t>데모 장면, 샘플 데이터, 성공 기준, 제외 범위를 한 장에 작성</a:t>
            </a:r>
          </a:p>
          <a:p xmlns:a="http://schemas.openxmlformats.org/drawingml/2006/main">
            <a:r>
              <a:t>8월 21일 구현 범위와 준비물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범위가 커지는 것을 막는 장표다.</a:t>
            </a:r>
          </a:p>
          <a:p xmlns:a="http://schemas.openxmlformats.org/drawingml/2006/main">
            <a:r>
              <a:t>8월 21일 이전 준비물까지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팀별 1차 발표: 5분 안에 과제 방향을 공유합니다.</a:t>
            </a:r>
          </a:p>
          <a:p xmlns:a="http://schemas.openxmlformats.org/drawingml/2006/main">
            <a:r>
              <a:t>5개 팀 x 5분 발표. 질문은 발표 후 피드백 기록지에 남김</a:t>
            </a:r>
          </a:p>
          <a:p xmlns:a="http://schemas.openxmlformats.org/drawingml/2006/main">
            <a:r>
              <a:t>팀별 발표 내용과 개선 질문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팀별 발표는 5분을 넘기지 않는다.</a:t>
            </a:r>
          </a:p>
          <a:p xmlns:a="http://schemas.openxmlformats.org/drawingml/2006/main">
            <a:r>
              <a:t>발표가 솔루션 판매처럼 흐르면 현재 업무와 자료 준비로 되돌린다.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피드백은 비판이 아니라 구현 가능성을 높이는 질문이다.</a:t>
            </a:r>
          </a:p>
          <a:p xmlns:a="http://schemas.openxmlformats.org/drawingml/2006/main">
            <a:r>
              <a:t>각 팀은 받은 질문 중 1개 이상을 준비계획에 반영하게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참여자에게 각 팀당 한 줄씩 쓰게 한다.</a:t>
            </a:r>
          </a:p>
          <a:p xmlns:a="http://schemas.openxmlformats.org/drawingml/2006/main">
            <a:r>
              <a:t>마지막 보완 시간에 발표 팀이 피드백을 보고 준비 계획을 수정한다.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8월 준비계획 확정: 다음 수업 전까지 할 일을 배정합니다.</a:t>
            </a:r>
          </a:p>
          <a:p xmlns:a="http://schemas.openxmlformats.org/drawingml/2006/main">
            <a:r>
              <a:t>팀별 피드백 반영 → 샘플 자료/금지 자료/담당자/마감 작성</a:t>
            </a:r>
          </a:p>
          <a:p xmlns:a="http://schemas.openxmlformats.org/drawingml/2006/main">
            <a:r>
              <a:t>팀별 사전 준비 목록과 담당자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팀이 이 장표를 완성하지 못하면 8월 구현 수업이 지연된다.</a:t>
            </a:r>
          </a:p>
          <a:p xmlns:a="http://schemas.openxmlformats.org/drawingml/2006/main">
            <a:r>
              <a:t>실데이터를 쓰기 어렵다면 익명 샘플을 준비하게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후속 수업의 목적을 다시 연결한다.</a:t>
            </a:r>
          </a:p>
          <a:p xmlns:a="http://schemas.openxmlformats.org/drawingml/2006/main">
            <a:r>
              <a:t>오늘 확정한 과제는 8월에 실제 구현해야 하므로 준비물을 반드시 남기게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5분에 이 체크리스트를 보며 팀별 제출 상태를 확인한다.</a:t>
            </a:r>
          </a:p>
          <a:p xmlns:a="http://schemas.openxmlformats.org/drawingml/2006/main">
            <a:r>
              <a:t>모든 팀은 최소 Project Canvas 1장을 완성해야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1ca6607e3543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aed11b0c684173" /><Relationship Type="http://schemas.openxmlformats.org/officeDocument/2006/relationships/slideLayout" Target="/ppt/slideLayouts/slideLayout1.xml" Id="Re0cb07a3eda44d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cb07a3eda44d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473d04bf74b77" /><Relationship Type="http://schemas.openxmlformats.org/officeDocument/2006/relationships/image" Target="/ppt/media/image.png" Id="R1803412fc1984451" /><Relationship Type="http://schemas.openxmlformats.org/officeDocument/2006/relationships/notesSlide" Target="/ppt/notesSlides/notesSlide1.xml" Id="Rbf1502dfdf7c4d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0cf64c01b49d6" /><Relationship Type="http://schemas.openxmlformats.org/officeDocument/2006/relationships/image" Target="/ppt/media/image2.png" Id="Rae13b17eac8646ae" /><Relationship Type="http://schemas.openxmlformats.org/officeDocument/2006/relationships/notesSlide" Target="/ppt/notesSlides/notesSlide2.xml" Id="R4e02f5bff7a54e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944359ff44ee8" /><Relationship Type="http://schemas.openxmlformats.org/officeDocument/2006/relationships/image" Target="/ppt/media/image3.png" Id="R3f47094a65784ec1" /><Relationship Type="http://schemas.openxmlformats.org/officeDocument/2006/relationships/notesSlide" Target="/ppt/notesSlides/notesSlide3.xml" Id="Rd21a0d7db4ed41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9b662c71545d4" /><Relationship Type="http://schemas.openxmlformats.org/officeDocument/2006/relationships/image" Target="/ppt/media/image4.png" Id="R350c3f0c31ec4bee" /><Relationship Type="http://schemas.openxmlformats.org/officeDocument/2006/relationships/notesSlide" Target="/ppt/notesSlides/notesSlide4.xml" Id="R39f8434db23a42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e109bdc074dec" /><Relationship Type="http://schemas.openxmlformats.org/officeDocument/2006/relationships/image" Target="/ppt/media/image5.png" Id="Rf9ee77b81a054869" /><Relationship Type="http://schemas.openxmlformats.org/officeDocument/2006/relationships/notesSlide" Target="/ppt/notesSlides/notesSlide5.xml" Id="R4ed228e66e9b46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faafe27314214" /><Relationship Type="http://schemas.openxmlformats.org/officeDocument/2006/relationships/image" Target="/ppt/media/image6.png" Id="Rd9d805dc6ac7462d" /><Relationship Type="http://schemas.openxmlformats.org/officeDocument/2006/relationships/notesSlide" Target="/ppt/notesSlides/notesSlide6.xml" Id="R816a0cb6823740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82ecfe5354993" /><Relationship Type="http://schemas.openxmlformats.org/officeDocument/2006/relationships/image" Target="/ppt/media/image7.png" Id="R2f93ed74df164306" /><Relationship Type="http://schemas.openxmlformats.org/officeDocument/2006/relationships/notesSlide" Target="/ppt/notesSlides/notesSlide7.xml" Id="R4b047a6f2faf4d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41cf213e14d13" /><Relationship Type="http://schemas.openxmlformats.org/officeDocument/2006/relationships/image" Target="/ppt/media/image8.png" Id="R7554aaa290254192" /><Relationship Type="http://schemas.openxmlformats.org/officeDocument/2006/relationships/notesSlide" Target="/ppt/notesSlides/notesSlide8.xml" Id="R2dff5da77e654f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16387e5454322" /><Relationship Type="http://schemas.openxmlformats.org/officeDocument/2006/relationships/image" Target="/ppt/media/image9.png" Id="R8c381ebde1a249e1" /><Relationship Type="http://schemas.openxmlformats.org/officeDocument/2006/relationships/notesSlide" Target="/ppt/notesSlides/notesSlide9.xml" Id="R1adf7f982ded4e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e16d9b516498f" /><Relationship Type="http://schemas.openxmlformats.org/officeDocument/2006/relationships/image" Target="/ppt/media/image10.png" Id="R94af523481d44a82" /><Relationship Type="http://schemas.openxmlformats.org/officeDocument/2006/relationships/notesSlide" Target="/ppt/notesSlides/notesSlide10.xml" Id="Rba74d28bb4254c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ce04950494717" /><Relationship Type="http://schemas.openxmlformats.org/officeDocument/2006/relationships/image" Target="/ppt/media/image11.png" Id="R9fa576c58aea425f" /><Relationship Type="http://schemas.openxmlformats.org/officeDocument/2006/relationships/notesSlide" Target="/ppt/notesSlides/notesSlide11.xml" Id="Rc222cd08e5bd48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eb27efdef4fb9" /><Relationship Type="http://schemas.openxmlformats.org/officeDocument/2006/relationships/image" Target="/ppt/media/image12.png" Id="R7dcb7ccb5fc640be" /><Relationship Type="http://schemas.openxmlformats.org/officeDocument/2006/relationships/notesSlide" Target="/ppt/notesSlides/notesSlide12.xml" Id="R9a6b7751458d46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43fad9d9a4e5e" /><Relationship Type="http://schemas.openxmlformats.org/officeDocument/2006/relationships/image" Target="/ppt/media/image13.png" Id="R0468036be6fd49a0" /><Relationship Type="http://schemas.openxmlformats.org/officeDocument/2006/relationships/notesSlide" Target="/ppt/notesSlides/notesSlide13.xml" Id="Rd2a101e3d6c340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6c36436b64525" /><Relationship Type="http://schemas.openxmlformats.org/officeDocument/2006/relationships/image" Target="/ppt/media/image14.png" Id="R794a2f141c5a4562" /><Relationship Type="http://schemas.openxmlformats.org/officeDocument/2006/relationships/notesSlide" Target="/ppt/notesSlides/notesSlide14.xml" Id="Ra0f8b29654d24c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b3dc843e8457b" /><Relationship Type="http://schemas.openxmlformats.org/officeDocument/2006/relationships/image" Target="/ppt/media/image15.png" Id="R4db4400e7bad42f2" /><Relationship Type="http://schemas.openxmlformats.org/officeDocument/2006/relationships/notesSlide" Target="/ppt/notesSlides/notesSlide15.xml" Id="Rcae50340ca1043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7156e8ca349df" /><Relationship Type="http://schemas.openxmlformats.org/officeDocument/2006/relationships/image" Target="/ppt/media/image16.png" Id="R21906a9cbe1e4b35" /><Relationship Type="http://schemas.openxmlformats.org/officeDocument/2006/relationships/notesSlide" Target="/ppt/notesSlides/notesSlide16.xml" Id="R69f7b2c83fcb4e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2fa6994be4b0e" /><Relationship Type="http://schemas.openxmlformats.org/officeDocument/2006/relationships/image" Target="/ppt/media/image17.png" Id="Re9b1b15edef44dba" /><Relationship Type="http://schemas.openxmlformats.org/officeDocument/2006/relationships/notesSlide" Target="/ppt/notesSlides/notesSlide17.xml" Id="R44b343cf5671473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10fea1dba4d50" /><Relationship Type="http://schemas.openxmlformats.org/officeDocument/2006/relationships/image" Target="/ppt/media/image18.png" Id="R27a28bb2822d4950" /><Relationship Type="http://schemas.openxmlformats.org/officeDocument/2006/relationships/notesSlide" Target="/ppt/notesSlides/notesSlide18.xml" Id="Rb869a316bb7b4c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76b1c33a84322" /><Relationship Type="http://schemas.openxmlformats.org/officeDocument/2006/relationships/image" Target="/ppt/media/image19.png" Id="R83025db1149042a7" /><Relationship Type="http://schemas.openxmlformats.org/officeDocument/2006/relationships/notesSlide" Target="/ppt/notesSlides/notesSlide19.xml" Id="R75e4916a802a4f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5e1fdbc054689" /><Relationship Type="http://schemas.openxmlformats.org/officeDocument/2006/relationships/image" Target="/ppt/media/image20.png" Id="R42aa9be66a484792" /><Relationship Type="http://schemas.openxmlformats.org/officeDocument/2006/relationships/notesSlide" Target="/ppt/notesSlides/notesSlide20.xml" Id="R0e83b1c7321145c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a447210914436" /><Relationship Type="http://schemas.openxmlformats.org/officeDocument/2006/relationships/image" Target="/ppt/media/image21.png" Id="R67371940dcfa43e6" /><Relationship Type="http://schemas.openxmlformats.org/officeDocument/2006/relationships/notesSlide" Target="/ppt/notesSlides/notesSlide21.xml" Id="R009387b0b45c4ca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60db83aeb4c87" /><Relationship Type="http://schemas.openxmlformats.org/officeDocument/2006/relationships/image" Target="/ppt/media/image22.png" Id="Rdcebfd6bc0e84108" /><Relationship Type="http://schemas.openxmlformats.org/officeDocument/2006/relationships/notesSlide" Target="/ppt/notesSlides/notesSlide22.xml" Id="R777d6d95308f4e5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cc26bf6dc42af" /><Relationship Type="http://schemas.openxmlformats.org/officeDocument/2006/relationships/image" Target="/ppt/media/image23.png" Id="R74631a1f54ff4e94" /><Relationship Type="http://schemas.openxmlformats.org/officeDocument/2006/relationships/notesSlide" Target="/ppt/notesSlides/notesSlide23.xml" Id="R07d2f59ce452437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a33a1bf8d41a1" /><Relationship Type="http://schemas.openxmlformats.org/officeDocument/2006/relationships/image" Target="/ppt/media/image24.png" Id="R4f4b9969656f4995" /><Relationship Type="http://schemas.openxmlformats.org/officeDocument/2006/relationships/notesSlide" Target="/ppt/notesSlides/notesSlide24.xml" Id="R3284869abe3c406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0476841214db3" /><Relationship Type="http://schemas.openxmlformats.org/officeDocument/2006/relationships/image" Target="/ppt/media/image25.png" Id="Rf5e43e11ddb449e8" /><Relationship Type="http://schemas.openxmlformats.org/officeDocument/2006/relationships/notesSlide" Target="/ppt/notesSlides/notesSlide25.xml" Id="R01084586f816484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685e2f84b4313" /><Relationship Type="http://schemas.openxmlformats.org/officeDocument/2006/relationships/image" Target="/ppt/media/image26.png" Id="R451491a4207c4f5b" /><Relationship Type="http://schemas.openxmlformats.org/officeDocument/2006/relationships/notesSlide" Target="/ppt/notesSlides/notesSlide26.xml" Id="R7955f9e117c8423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0bd696cf74f06" /><Relationship Type="http://schemas.openxmlformats.org/officeDocument/2006/relationships/image" Target="/ppt/media/image27.png" Id="R8d61402e9d3b4b6d" /><Relationship Type="http://schemas.openxmlformats.org/officeDocument/2006/relationships/notesSlide" Target="/ppt/notesSlides/notesSlide27.xml" Id="R73dc9b68b86446f0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3B8AF2"/>
            </a:gs>
            <a:gs pos="100000">
              <a:srgbClr val="1455A6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A91350A-C46C-4DDB-ACDA-BDF35988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0" y="-952500"/>
            <a:ext cx="361950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ADB6AFB4-8EF8-47F8-A369-DA5CF0DF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" y="-1028700"/>
            <a:ext cx="285750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" name="cover-orb-1">
            <a:extLst xmlns:a="http://schemas.openxmlformats.org/drawingml/2006/main">
              <a:ext uri="{FF2B5EF4-FFF2-40B4-BE49-F238E27FC236}">
                <a16:creationId xmlns:a16="http://schemas.microsoft.com/office/drawing/2014/main" id="{2039E510-9EF5-4365-85CE-A23A82CD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71475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B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orb-2">
            <a:extLst xmlns:a="http://schemas.openxmlformats.org/drawingml/2006/main">
              <a:ext uri="{FF2B5EF4-FFF2-40B4-BE49-F238E27FC236}">
                <a16:creationId xmlns:a16="http://schemas.microsoft.com/office/drawing/2014/main" id="{5118E661-65AB-4780-BB0C-5C143872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3238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C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backplate">
            <a:extLst xmlns:a="http://schemas.openxmlformats.org/drawingml/2006/main">
              <a:ext uri="{FF2B5EF4-FFF2-40B4-BE49-F238E27FC236}">
                <a16:creationId xmlns:a16="http://schemas.microsoft.com/office/drawing/2014/main" id="{A4E2B6D9-CE0B-425E-BE35-16DCE29B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1450"/>
            <a:ext cx="1466850" cy="381000"/>
          </a:xfrm>
          <a:prstGeom xmlns:a="http://schemas.openxmlformats.org/drawingml/2006/main" prst="roundRect">
            <a:avLst>
              <a:gd name="adj" fmla="val 4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3412fc1984451"/>
          <a:stretch xmlns:a="http://schemas.openxmlformats.org/drawingml/2006/main"/>
        </p:blipFill>
        <p:spPr>
          <a:xfrm xmlns:a="http://schemas.openxmlformats.org/drawingml/2006/main">
            <a:off x="10648950" y="259612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B57F6EE-62E6-48B2-AEDF-F16DA31B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 Native EPM (AI4PM)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756685E-5970-4BCE-B569-64A4BD8A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5905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6월 26일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3시간 워크샵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진행자료</a:t>
            </a:r>
          </a:p>
        </p:txBody>
      </p:sp>
      <p:sp>
        <p:nvSpPr>
          <p:cNvPr id="9" name="cover-line">
            <a:extLst xmlns:a="http://schemas.openxmlformats.org/drawingml/2006/main">
              <a:ext uri="{FF2B5EF4-FFF2-40B4-BE49-F238E27FC236}">
                <a16:creationId xmlns:a16="http://schemas.microsoft.com/office/drawing/2014/main" id="{29B54574-7DB7-4891-977D-78497824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3ACFB81-660D-4A7C-88CB-B0CB2D3B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이론 수업 이후 16:00-19:00</a:t>
            </a:r>
          </a:p>
          <a:p xmlns:a="http://schemas.openxmlformats.org/drawingml/2006/main">
            <a:pPr algn="l">
              <a:def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팀빌딩 · 과제 발굴 · 8월 실행 준비</a:t>
            </a:r>
          </a:p>
        </p:txBody>
      </p:sp>
      <p:sp>
        <p:nvSpPr>
          <p:cNvPr id="11" name="cover-panel">
            <a:extLst xmlns:a="http://schemas.openxmlformats.org/drawingml/2006/main">
              <a:ext uri="{FF2B5EF4-FFF2-40B4-BE49-F238E27FC236}">
                <a16:creationId xmlns:a16="http://schemas.microsoft.com/office/drawing/2014/main" id="{39FBBFFD-5A5B-4558-90FD-D3C19521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85900"/>
            <a:ext cx="3048000" cy="2971800"/>
          </a:xfrm>
          <a:prstGeom xmlns:a="http://schemas.openxmlformats.org/drawingml/2006/main" prst="roundRect">
            <a:avLst>
              <a:gd name="adj" fmla="val 89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over-metric">
            <a:extLst xmlns:a="http://schemas.openxmlformats.org/drawingml/2006/main">
              <a:ext uri="{FF2B5EF4-FFF2-40B4-BE49-F238E27FC236}">
                <a16:creationId xmlns:a16="http://schemas.microsoft.com/office/drawing/2014/main" id="{DCA61422-7A9B-4FB6-B146-77338DC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2381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15명</a:t>
            </a:r>
          </a:p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3인 1조</a:t>
            </a:r>
          </a:p>
          <a:p xmlns:a="http://schemas.openxmlformats.org/drawingml/2006/main">
            <a:pPr algn="l">
              <a:def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0D4D9F"/>
                </a:solidFill>
                <a:latin typeface="Pretendard"/>
                <a:ea typeface="Pretendard"/>
                <a:cs typeface="Pretendard"/>
              </a:rPr>
              <a:t>5개 팀</a:t>
            </a:r>
          </a:p>
        </p:txBody>
      </p:sp>
      <p:sp>
        <p:nvSpPr>
          <p:cNvPr id="13" name="cover-note">
            <a:extLst xmlns:a="http://schemas.openxmlformats.org/drawingml/2006/main">
              <a:ext uri="{FF2B5EF4-FFF2-40B4-BE49-F238E27FC236}">
                <a16:creationId xmlns:a16="http://schemas.microsoft.com/office/drawing/2014/main" id="{202179CE-C4DA-41C0-9D54-BF52A94D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오늘의 목적은 아이디어 확장이 아니라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21일에 구현할 업무 과제 확정입니다.</a:t>
            </a:r>
          </a:p>
        </p:txBody>
      </p:sp>
      <p:sp>
        <p:nvSpPr>
          <p:cNvPr id="1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18D8BF2-1884-48F2-8B18-3BE56F86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02735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5B273CF1-F808-4426-A3D6-3D1AF417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6DFB020D-7123-475D-B17B-B3E725A2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627A97EA-9CDB-4BC0-B587-A32EEA80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A2676AA8-4E01-44DC-8888-DB4D19F3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91A47034-42CB-4B88-AFF1-5C5D9578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8A02FD8-4F86-48E5-9DDE-17F0FF8C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WORKSHOP OUTCOME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D1FC69C-5CEA-402E-AC9D-976ECECF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강의 내용을 현업 AX 실행 과제로 바꾸는 시간입니다.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4A64562A-5F76-4E28-8A86-CC27FBEF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3시간 뒤 각 팀은 8월 21일 구현 수업으로 가져갈 문제, 자료, 역할, 데모 목표를 확정합니다.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3b17eac8646ae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5D32648-B0FB-4D57-8487-2ED70357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1" name="card-01">
            <a:extLst xmlns:a="http://schemas.openxmlformats.org/drawingml/2006/main">
              <a:ext uri="{FF2B5EF4-FFF2-40B4-BE49-F238E27FC236}">
                <a16:creationId xmlns:a16="http://schemas.microsoft.com/office/drawing/2014/main" id="{5E218739-2542-459D-BEFE-9CF5BEEB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178FEDA-6879-4D5F-9193-27158CB4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5E4696B-E20B-4431-9900-6C185DD3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C6226266-7C55-4233-A731-A10CAE4A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해결할 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DE79F4AC-68B1-4185-B4F8-BBD1EA74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반복, 병목, 검토, 보고, 현업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요청 중 하나를 한 문장으로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고정합니다.</a:t>
            </a:r>
          </a:p>
        </p:txBody>
      </p:sp>
      <p:sp>
        <p:nvSpPr>
          <p:cNvPr id="16" name="card-02">
            <a:extLst xmlns:a="http://schemas.openxmlformats.org/drawingml/2006/main">
              <a:ext uri="{FF2B5EF4-FFF2-40B4-BE49-F238E27FC236}">
                <a16:creationId xmlns:a16="http://schemas.microsoft.com/office/drawing/2014/main" id="{42738C4E-E4CA-407B-B8E0-E1EB5AED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1D566AF-B5EB-40C8-BC66-084AB4FF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CEFCD0B3-6291-42E0-B755-FF0526CD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F73CE19A-223D-48B3-9526-461362A6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DF2E97FC-09AB-4269-952A-4B9D80F3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검색, 분류, 요약, 초안 작성,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코드 생성, 체크리스트 검증 중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역할을 정합니다.</a:t>
            </a:r>
          </a:p>
        </p:txBody>
      </p:sp>
      <p:sp>
        <p:nvSpPr>
          <p:cNvPr id="21" name="card-03">
            <a:extLst xmlns:a="http://schemas.openxmlformats.org/drawingml/2006/main">
              <a:ext uri="{FF2B5EF4-FFF2-40B4-BE49-F238E27FC236}">
                <a16:creationId xmlns:a16="http://schemas.microsoft.com/office/drawing/2014/main" id="{F43444EE-C134-455E-9E6B-50DDE17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C19A7D3-274A-4E54-993B-3BC4F742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D409CF4F-37E4-47B8-87C6-D557ED10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8ED70E65-5DA2-4369-A8E6-798BDC88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사람의 검토 기준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F72AC96E-CF2A-43AE-A643-201FE5A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정확도, 보안, 승인, 대외 전달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여부 등 확인 지점을 먼저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정합니다.</a:t>
            </a:r>
          </a:p>
        </p:txBody>
      </p:sp>
      <p:sp>
        <p:nvSpPr>
          <p:cNvPr id="26" name="card-04">
            <a:extLst xmlns:a="http://schemas.openxmlformats.org/drawingml/2006/main">
              <a:ext uri="{FF2B5EF4-FFF2-40B4-BE49-F238E27FC236}">
                <a16:creationId xmlns:a16="http://schemas.microsoft.com/office/drawing/2014/main" id="{30C44CA6-0250-4F4F-BB99-90B8EB10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5527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5CF4B6C-0B55-4A18-843A-1C45F998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C24343A2-1915-4228-B317-2108734F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DC19EDC7-9EAD-4847-ABB5-6B0D3F18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527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구현 목표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6D33E4D3-7FF3-4FA2-B7D8-7F396176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671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완성품이 아니라 8시간 안에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시연할 핵심 흐름을 정의합니다.</a:t>
            </a:r>
          </a:p>
        </p:txBody>
      </p:sp>
      <p:sp>
        <p:nvSpPr>
          <p:cNvPr id="31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1997E5BE-5DD2-4002-B692-166F8FF2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2C3C9589-61BA-46C7-B422-65D86207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16:00</a:t>
            </a:r>
          </a:p>
        </p:txBody>
      </p:sp>
      <p:sp>
        <p:nvSpPr>
          <p:cNvPr id="33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32E38E7A-E28D-40A8-8EFC-DD329CEB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목표 전환</a:t>
            </a:r>
          </a:p>
        </p:txBody>
      </p:sp>
      <p:sp>
        <p:nvSpPr>
          <p:cNvPr id="34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793A48F3-9063-499B-8983-36209285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5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1F6E7085-3A29-42A8-84E6-D4D20EED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16:10</a:t>
            </a:r>
          </a:p>
        </p:txBody>
      </p:sp>
      <p:sp>
        <p:nvSpPr>
          <p:cNvPr id="36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1CFFC771-E6D2-4D5E-BE6E-FC859897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발굴</a:t>
            </a:r>
          </a:p>
        </p:txBody>
      </p:sp>
      <p:sp>
        <p:nvSpPr>
          <p:cNvPr id="37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DA7DB428-F015-4402-AD22-97DFC21A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10D97FCC-C232-428D-AAC5-30D9A049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16:45</a:t>
            </a:r>
          </a:p>
        </p:txBody>
      </p:sp>
      <p:sp>
        <p:nvSpPr>
          <p:cNvPr id="39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92F50601-9ACA-4857-9899-D2C482C6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 구성</a:t>
            </a:r>
          </a:p>
        </p:txBody>
      </p:sp>
      <p:sp>
        <p:nvSpPr>
          <p:cNvPr id="40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CFD862F7-8EDF-4B8B-A4C6-1BBBB6D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1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0065B7BD-C778-4E2A-98F5-B84996EA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17:05</a:t>
            </a:r>
          </a:p>
        </p:txBody>
      </p:sp>
      <p:sp>
        <p:nvSpPr>
          <p:cNvPr id="42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5BCAFFDB-BCE6-49E4-BEC3-A227D9F4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캔버스</a:t>
            </a:r>
          </a:p>
        </p:txBody>
      </p:sp>
      <p:sp>
        <p:nvSpPr>
          <p:cNvPr id="43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AD5AA740-B801-47E7-8140-05A5EDAB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E2946291-A7D9-4C23-826F-5A338359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18:10</a:t>
            </a:r>
          </a:p>
        </p:txBody>
      </p:sp>
      <p:sp>
        <p:nvSpPr>
          <p:cNvPr id="45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E1D93BB2-BD74-432F-ADD2-2AFAC6B5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발표</a:t>
            </a:r>
          </a:p>
        </p:txBody>
      </p:sp>
      <p:sp>
        <p:nvSpPr>
          <p:cNvPr id="46" name="timeline-cell">
            <a:extLst xmlns:a="http://schemas.openxmlformats.org/drawingml/2006/main">
              <a:ext uri="{FF2B5EF4-FFF2-40B4-BE49-F238E27FC236}">
                <a16:creationId xmlns:a16="http://schemas.microsoft.com/office/drawing/2014/main" id="{8DF13A3E-8CD8-400E-98DB-1DAE6BAC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7100" y="5657850"/>
            <a:ext cx="1765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7" name="timeline-time">
            <a:extLst xmlns:a="http://schemas.openxmlformats.org/drawingml/2006/main">
              <a:ext uri="{FF2B5EF4-FFF2-40B4-BE49-F238E27FC236}">
                <a16:creationId xmlns:a16="http://schemas.microsoft.com/office/drawing/2014/main" id="{86EA0DBB-AB67-4FE8-AA9F-FFD766DF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753100"/>
            <a:ext cx="153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18:50</a:t>
            </a:r>
          </a:p>
        </p:txBody>
      </p:sp>
      <p:sp>
        <p:nvSpPr>
          <p:cNvPr id="48" name="timeline-text">
            <a:extLst xmlns:a="http://schemas.openxmlformats.org/drawingml/2006/main">
              <a:ext uri="{FF2B5EF4-FFF2-40B4-BE49-F238E27FC236}">
                <a16:creationId xmlns:a16="http://schemas.microsoft.com/office/drawing/2014/main" id="{22BBECF3-1B67-4513-B8AB-1BE7E43C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943600"/>
            <a:ext cx="153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 액션</a:t>
            </a:r>
          </a:p>
        </p:txBody>
      </p:sp>
    </p:spTree>
    <p:extLst>
      <p:ext uri="{BB962C8B-B14F-4D97-AF65-F5344CB8AC3E}">
        <p14:creationId xmlns:p14="http://schemas.microsoft.com/office/powerpoint/2010/main" val="14017957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48983609-E12D-4ACE-B5D2-85234F7E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15B8CF7-E614-40E7-893A-5A865A64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F9F5E6DB-357E-410F-BA9D-7D03813C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10F8CE2C-B6F8-4E71-9378-D5D5F5C4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B6846FF-3512-4678-AF34-8C0802B6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05501AB2-B4E4-4AA0-A01F-25E1AA2C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180-MINUTE RUN SHEET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35F14F5-9BDB-4152-B38A-DB3D4F0C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16:00-19:00 워크샵 세부 시간표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E5631B6-92BF-4361-9ED8-2FD570A1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진행자는 시간 박스를 끊어 운영하고, 각 팀은 단계별 산출물을 하나씩 남깁니다.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7094a65784ec1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4BEACA4-CDB1-4B88-B8EA-169BD8A1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1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6C930255-3981-46EE-BBAD-DF869D16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time">
            <a:extLst xmlns:a="http://schemas.openxmlformats.org/drawingml/2006/main">
              <a:ext uri="{FF2B5EF4-FFF2-40B4-BE49-F238E27FC236}">
                <a16:creationId xmlns:a16="http://schemas.microsoft.com/office/drawing/2014/main" id="{6D96E19A-3A31-47DE-AE6E-C3CC2773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16:00-16:10</a:t>
            </a:r>
          </a:p>
        </p:txBody>
      </p:sp>
      <p:sp>
        <p:nvSpPr>
          <p:cNvPr id="13" name="activity">
            <a:extLst xmlns:a="http://schemas.openxmlformats.org/drawingml/2006/main">
              <a:ext uri="{FF2B5EF4-FFF2-40B4-BE49-F238E27FC236}">
                <a16:creationId xmlns:a16="http://schemas.microsoft.com/office/drawing/2014/main" id="{1CEC8D76-00EB-4722-A092-5F9E25E8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336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전환 브리핑</a:t>
            </a:r>
          </a:p>
        </p:txBody>
      </p:sp>
      <p:sp>
        <p:nvSpPr>
          <p:cNvPr id="14" name="output">
            <a:extLst xmlns:a="http://schemas.openxmlformats.org/drawingml/2006/main">
              <a:ext uri="{FF2B5EF4-FFF2-40B4-BE49-F238E27FC236}">
                <a16:creationId xmlns:a16="http://schemas.microsoft.com/office/drawing/2014/main" id="{0F5EB7CB-DDFB-4C95-9A22-62140462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336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오늘 산출물과 8월 과정 연결 설명</a:t>
            </a:r>
          </a:p>
        </p:txBody>
      </p:sp>
      <p:sp>
        <p:nvSpPr>
          <p:cNvPr id="15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263FA33F-12F9-4CC3-A098-3A57A5A9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time">
            <a:extLst xmlns:a="http://schemas.openxmlformats.org/drawingml/2006/main">
              <a:ext uri="{FF2B5EF4-FFF2-40B4-BE49-F238E27FC236}">
                <a16:creationId xmlns:a16="http://schemas.microsoft.com/office/drawing/2014/main" id="{07F2BC97-89D9-44B0-AA1B-FA46EC85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527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16:10-16:30</a:t>
            </a:r>
          </a:p>
        </p:txBody>
      </p:sp>
      <p:sp>
        <p:nvSpPr>
          <p:cNvPr id="17" name="activity">
            <a:extLst xmlns:a="http://schemas.openxmlformats.org/drawingml/2006/main">
              <a:ext uri="{FF2B5EF4-FFF2-40B4-BE49-F238E27FC236}">
                <a16:creationId xmlns:a16="http://schemas.microsoft.com/office/drawing/2014/main" id="{85D67C04-593A-4940-BF0F-4640864C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5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</a:t>
            </a:r>
          </a:p>
        </p:txBody>
      </p:sp>
      <p:sp>
        <p:nvSpPr>
          <p:cNvPr id="18" name="output">
            <a:extLst xmlns:a="http://schemas.openxmlformats.org/drawingml/2006/main">
              <a:ext uri="{FF2B5EF4-FFF2-40B4-BE49-F238E27FC236}">
                <a16:creationId xmlns:a16="http://schemas.microsoft.com/office/drawing/2014/main" id="{A7514D68-6D2D-44BB-8052-5E873BA1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반복/병목/검토/보고 업무 후보 작성</a:t>
            </a:r>
          </a:p>
        </p:txBody>
      </p:sp>
      <p:sp>
        <p:nvSpPr>
          <p:cNvPr id="19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06E62B4A-6256-44CF-B4DC-1A345CA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time">
            <a:extLst xmlns:a="http://schemas.openxmlformats.org/drawingml/2006/main">
              <a:ext uri="{FF2B5EF4-FFF2-40B4-BE49-F238E27FC236}">
                <a16:creationId xmlns:a16="http://schemas.microsoft.com/office/drawing/2014/main" id="{8EC50B85-C134-42DE-A76E-40CCF51C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18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16:30-16:45</a:t>
            </a:r>
          </a:p>
        </p:txBody>
      </p:sp>
      <p:sp>
        <p:nvSpPr>
          <p:cNvPr id="21" name="activity">
            <a:extLst xmlns:a="http://schemas.openxmlformats.org/drawingml/2006/main">
              <a:ext uri="{FF2B5EF4-FFF2-40B4-BE49-F238E27FC236}">
                <a16:creationId xmlns:a16="http://schemas.microsoft.com/office/drawing/2014/main" id="{2B167129-F3BC-4312-B608-0B8EDED9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718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점수화</a:t>
            </a:r>
          </a:p>
        </p:txBody>
      </p:sp>
      <p:sp>
        <p:nvSpPr>
          <p:cNvPr id="22" name="output">
            <a:extLst xmlns:a="http://schemas.openxmlformats.org/drawingml/2006/main">
              <a:ext uri="{FF2B5EF4-FFF2-40B4-BE49-F238E27FC236}">
                <a16:creationId xmlns:a16="http://schemas.microsoft.com/office/drawing/2014/main" id="{BFFA310C-9DE6-4CFD-9125-C996CF4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718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현업성, 구현성, 자료 준비도 기준으로 1차 선택</a:t>
            </a:r>
          </a:p>
        </p:txBody>
      </p:sp>
      <p:sp>
        <p:nvSpPr>
          <p:cNvPr id="23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CFF855C3-E452-43A5-8549-8C5208B4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time">
            <a:extLst xmlns:a="http://schemas.openxmlformats.org/drawingml/2006/main">
              <a:ext uri="{FF2B5EF4-FFF2-40B4-BE49-F238E27FC236}">
                <a16:creationId xmlns:a16="http://schemas.microsoft.com/office/drawing/2014/main" id="{F9D2201C-561C-4AEA-9A51-9EBB06E7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16:45-17:05</a:t>
            </a:r>
          </a:p>
        </p:txBody>
      </p:sp>
      <p:sp>
        <p:nvSpPr>
          <p:cNvPr id="25" name="activity">
            <a:extLst xmlns:a="http://schemas.openxmlformats.org/drawingml/2006/main">
              <a:ext uri="{FF2B5EF4-FFF2-40B4-BE49-F238E27FC236}">
                <a16:creationId xmlns:a16="http://schemas.microsoft.com/office/drawing/2014/main" id="{33620717-7175-4B6E-8AC8-157ACF0C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909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팀빌딩</a:t>
            </a:r>
          </a:p>
        </p:txBody>
      </p:sp>
      <p:sp>
        <p:nvSpPr>
          <p:cNvPr id="26" name="output">
            <a:extLst xmlns:a="http://schemas.openxmlformats.org/drawingml/2006/main">
              <a:ext uri="{FF2B5EF4-FFF2-40B4-BE49-F238E27FC236}">
                <a16:creationId xmlns:a16="http://schemas.microsoft.com/office/drawing/2014/main" id="{0EC48AD5-E039-47C4-9221-88E971D2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909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3인 1조, 5개 팀, 역할 배정</a:t>
            </a:r>
          </a:p>
        </p:txBody>
      </p:sp>
      <p:sp>
        <p:nvSpPr>
          <p:cNvPr id="27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CF40D21E-A3A0-4DFB-AC24-29F31A9D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time">
            <a:extLst xmlns:a="http://schemas.openxmlformats.org/drawingml/2006/main">
              <a:ext uri="{FF2B5EF4-FFF2-40B4-BE49-F238E27FC236}">
                <a16:creationId xmlns:a16="http://schemas.microsoft.com/office/drawing/2014/main" id="{8133D73C-007B-4A7C-860F-DB53D103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17:05-17:55</a:t>
            </a:r>
          </a:p>
        </p:txBody>
      </p:sp>
      <p:sp>
        <p:nvSpPr>
          <p:cNvPr id="29" name="activity">
            <a:extLst xmlns:a="http://schemas.openxmlformats.org/drawingml/2006/main">
              <a:ext uri="{FF2B5EF4-FFF2-40B4-BE49-F238E27FC236}">
                <a16:creationId xmlns:a16="http://schemas.microsoft.com/office/drawing/2014/main" id="{B360841A-C23B-4295-A276-5D860B40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100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</a:t>
            </a:r>
          </a:p>
        </p:txBody>
      </p:sp>
      <p:sp>
        <p:nvSpPr>
          <p:cNvPr id="30" name="output">
            <a:extLst xmlns:a="http://schemas.openxmlformats.org/drawingml/2006/main">
              <a:ext uri="{FF2B5EF4-FFF2-40B4-BE49-F238E27FC236}">
                <a16:creationId xmlns:a16="http://schemas.microsoft.com/office/drawing/2014/main" id="{3C860F9A-0962-4A1F-A8D1-AD51543E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00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문제, 현재 방식, AI 보조 역할, 검토 기준 작성</a:t>
            </a:r>
          </a:p>
        </p:txBody>
      </p:sp>
      <p:sp>
        <p:nvSpPr>
          <p:cNvPr id="31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8193FC3F-9015-4257-8583-002B007D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time">
            <a:extLst xmlns:a="http://schemas.openxmlformats.org/drawingml/2006/main">
              <a:ext uri="{FF2B5EF4-FFF2-40B4-BE49-F238E27FC236}">
                <a16:creationId xmlns:a16="http://schemas.microsoft.com/office/drawing/2014/main" id="{1AE7D685-6572-4A8C-B9CF-95151C04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17:55-18:10</a:t>
            </a:r>
          </a:p>
        </p:txBody>
      </p:sp>
      <p:sp>
        <p:nvSpPr>
          <p:cNvPr id="33" name="activity">
            <a:extLst xmlns:a="http://schemas.openxmlformats.org/drawingml/2006/main">
              <a:ext uri="{FF2B5EF4-FFF2-40B4-BE49-F238E27FC236}">
                <a16:creationId xmlns:a16="http://schemas.microsoft.com/office/drawing/2014/main" id="{1AA482B0-E50A-4387-8ED4-8BD0C618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291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휴식 및 보완</a:t>
            </a:r>
          </a:p>
        </p:txBody>
      </p:sp>
      <p:sp>
        <p:nvSpPr>
          <p:cNvPr id="34" name="output">
            <a:extLst xmlns:a="http://schemas.openxmlformats.org/drawingml/2006/main">
              <a:ext uri="{FF2B5EF4-FFF2-40B4-BE49-F238E27FC236}">
                <a16:creationId xmlns:a16="http://schemas.microsoft.com/office/drawing/2014/main" id="{2693DE70-DABD-4513-AFAD-9AB6C651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291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발표 전 누락 항목 확인</a:t>
            </a:r>
          </a:p>
        </p:txBody>
      </p:sp>
      <p:sp>
        <p:nvSpPr>
          <p:cNvPr id="35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11F12726-62D5-4675-B500-C0DEFCB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time">
            <a:extLst xmlns:a="http://schemas.openxmlformats.org/drawingml/2006/main">
              <a:ext uri="{FF2B5EF4-FFF2-40B4-BE49-F238E27FC236}">
                <a16:creationId xmlns:a16="http://schemas.microsoft.com/office/drawing/2014/main" id="{35BC235E-A25C-4259-BDED-0E988B7D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18:10-18:35</a:t>
            </a:r>
          </a:p>
        </p:txBody>
      </p:sp>
      <p:sp>
        <p:nvSpPr>
          <p:cNvPr id="37" name="activity">
            <a:extLst xmlns:a="http://schemas.openxmlformats.org/drawingml/2006/main">
              <a:ext uri="{FF2B5EF4-FFF2-40B4-BE49-F238E27FC236}">
                <a16:creationId xmlns:a16="http://schemas.microsoft.com/office/drawing/2014/main" id="{23275030-E6D4-4142-B99B-C81EDD91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482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</a:t>
            </a:r>
          </a:p>
        </p:txBody>
      </p:sp>
      <p:sp>
        <p:nvSpPr>
          <p:cNvPr id="38" name="output">
            <a:extLst xmlns:a="http://schemas.openxmlformats.org/drawingml/2006/main">
              <a:ext uri="{FF2B5EF4-FFF2-40B4-BE49-F238E27FC236}">
                <a16:creationId xmlns:a16="http://schemas.microsoft.com/office/drawing/2014/main" id="{D8680C27-1319-42A2-8FC9-697EDBE3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발표와 질문</a:t>
            </a:r>
          </a:p>
        </p:txBody>
      </p:sp>
      <p:sp>
        <p:nvSpPr>
          <p:cNvPr id="39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47FE11B9-F110-4E57-B13F-DBB4481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time">
            <a:extLst xmlns:a="http://schemas.openxmlformats.org/drawingml/2006/main">
              <a:ext uri="{FF2B5EF4-FFF2-40B4-BE49-F238E27FC236}">
                <a16:creationId xmlns:a16="http://schemas.microsoft.com/office/drawing/2014/main" id="{433BE3B3-74E5-4F03-93D7-3D0816B4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18:35-18:50</a:t>
            </a:r>
          </a:p>
        </p:txBody>
      </p:sp>
      <p:sp>
        <p:nvSpPr>
          <p:cNvPr id="41" name="activity">
            <a:extLst xmlns:a="http://schemas.openxmlformats.org/drawingml/2006/main">
              <a:ext uri="{FF2B5EF4-FFF2-40B4-BE49-F238E27FC236}">
                <a16:creationId xmlns:a16="http://schemas.microsoft.com/office/drawing/2014/main" id="{099E8870-99DF-4821-AD07-B8163DFE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673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준비계획</a:t>
            </a:r>
          </a:p>
        </p:txBody>
      </p:sp>
      <p:sp>
        <p:nvSpPr>
          <p:cNvPr id="42" name="output">
            <a:extLst xmlns:a="http://schemas.openxmlformats.org/drawingml/2006/main">
              <a:ext uri="{FF2B5EF4-FFF2-40B4-BE49-F238E27FC236}">
                <a16:creationId xmlns:a16="http://schemas.microsoft.com/office/drawing/2014/main" id="{C403C90F-A38B-4380-98CC-9DF296AF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673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자료, 담당자, 데모 목표 확정</a:t>
            </a:r>
          </a:p>
        </p:txBody>
      </p:sp>
      <p:sp>
        <p:nvSpPr>
          <p:cNvPr id="43" name="schedule-row">
            <a:extLst xmlns:a="http://schemas.openxmlformats.org/drawingml/2006/main">
              <a:ext uri="{FF2B5EF4-FFF2-40B4-BE49-F238E27FC236}">
                <a16:creationId xmlns:a16="http://schemas.microsoft.com/office/drawing/2014/main" id="{EE2B538F-A5BC-4052-8843-06BCB9F9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00675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time">
            <a:extLst xmlns:a="http://schemas.openxmlformats.org/drawingml/2006/main">
              <a:ext uri="{FF2B5EF4-FFF2-40B4-BE49-F238E27FC236}">
                <a16:creationId xmlns:a16="http://schemas.microsoft.com/office/drawing/2014/main" id="{8527EF53-5C2D-4720-AFA0-890B6573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18:50-19:00</a:t>
            </a:r>
          </a:p>
        </p:txBody>
      </p:sp>
      <p:sp>
        <p:nvSpPr>
          <p:cNvPr id="45" name="activity">
            <a:extLst xmlns:a="http://schemas.openxmlformats.org/drawingml/2006/main">
              <a:ext uri="{FF2B5EF4-FFF2-40B4-BE49-F238E27FC236}">
                <a16:creationId xmlns:a16="http://schemas.microsoft.com/office/drawing/2014/main" id="{6DBD4F5E-8EF8-47C6-A78A-6C529F32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4864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클로징</a:t>
            </a:r>
          </a:p>
        </p:txBody>
      </p:sp>
      <p:sp>
        <p:nvSpPr>
          <p:cNvPr id="46" name="output">
            <a:extLst xmlns:a="http://schemas.openxmlformats.org/drawingml/2006/main">
              <a:ext uri="{FF2B5EF4-FFF2-40B4-BE49-F238E27FC236}">
                <a16:creationId xmlns:a16="http://schemas.microsoft.com/office/drawing/2014/main" id="{9CEB4B59-4691-4469-AF6C-FA7BF6AE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86400"/>
            <a:ext cx="638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제출물 확인과 다음 수업 안내</a:t>
            </a:r>
          </a:p>
        </p:txBody>
      </p:sp>
    </p:spTree>
    <p:extLst>
      <p:ext uri="{BB962C8B-B14F-4D97-AF65-F5344CB8AC3E}">
        <p14:creationId xmlns:p14="http://schemas.microsoft.com/office/powerpoint/2010/main" val="16067449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2B73C32-A7B3-48C9-8BFF-BB9A5FCD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7E30D51F-9D68-4C28-ABD3-981E407B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AA627E5F-3FFC-4952-841D-910419FE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8B38E0F4-EEE6-4BAF-9419-D5B42562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6BA858B6-8FEB-4C1E-8700-C329A5CD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BD58D0FB-4737-4232-9C34-5A5EBE03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운영 기준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B15D979-BAEE-4678-87DD-F22C928B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작게 잡고, 실제로 만들 수 있게 좁힙니다.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F8DD9ECB-91CC-459E-B3EC-EE0ADE61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21일은 다시 아이디어를 내는 날이 아니라 구현과 멘토링을 시작하는 날입니다.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0c3f0c31ec4bee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54C2BB1-0828-44F5-87D8-BCBF3C75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1" name="card-RULE 1">
            <a:extLst xmlns:a="http://schemas.openxmlformats.org/drawingml/2006/main">
              <a:ext uri="{FF2B5EF4-FFF2-40B4-BE49-F238E27FC236}">
                <a16:creationId xmlns:a16="http://schemas.microsoft.com/office/drawing/2014/main" id="{C6DEA6F5-C637-4D12-B46C-5030DB52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15D076E-1CB0-490A-98B0-1311A626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D34D05DD-F7A0-4879-BB3E-7EB291DA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RULE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FFC83E2E-13F2-4071-95F5-89D4494E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업무성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EEC55294-E936-4FEB-997F-55060D88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현업에서 반복되거나 병목을 만드는 업무여야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16" name="card-RULE 2">
            <a:extLst xmlns:a="http://schemas.openxmlformats.org/drawingml/2006/main">
              <a:ext uri="{FF2B5EF4-FFF2-40B4-BE49-F238E27FC236}">
                <a16:creationId xmlns:a16="http://schemas.microsoft.com/office/drawing/2014/main" id="{A914D314-E418-4185-97EE-1E1BEAE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88B6E65-D668-42A4-AEF3-B9CA35DD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F12368A4-F017-4B0E-8ED7-52793DF8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RULE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F80A057A-27E7-43E1-B91B-D1428AD6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자료성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7DF340D7-A1B6-4ED2-8516-F9A69F38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문서, 입력값, 예시 출력물 중 하나는 준비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가능해야 합니다.</a:t>
            </a:r>
          </a:p>
        </p:txBody>
      </p:sp>
      <p:sp>
        <p:nvSpPr>
          <p:cNvPr id="21" name="card-RULE 3">
            <a:extLst xmlns:a="http://schemas.openxmlformats.org/drawingml/2006/main">
              <a:ext uri="{FF2B5EF4-FFF2-40B4-BE49-F238E27FC236}">
                <a16:creationId xmlns:a16="http://schemas.microsoft.com/office/drawing/2014/main" id="{F7777C81-B3FE-4C56-96E5-307EC277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6C64F54-5267-4B55-98BF-FCF336B3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AA276691-1E31-4F8E-9A2C-B1B9E3EA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RULE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A678D775-60C3-4C4F-97F2-0F2B640B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479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CEC7BEC4-AD5D-48F1-881D-6485908B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결과를 사람이 검토할 기준을 말할 수 있어야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26" name="card-RULE 4">
            <a:extLst xmlns:a="http://schemas.openxmlformats.org/drawingml/2006/main">
              <a:ext uri="{FF2B5EF4-FFF2-40B4-BE49-F238E27FC236}">
                <a16:creationId xmlns:a16="http://schemas.microsoft.com/office/drawing/2014/main" id="{35A6BA22-C18A-4A4D-AA9A-F5E9FEF4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982580E-24A1-4450-AF77-2A6B5889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28BC0BD4-F7C5-4DC4-A63C-480D142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RULE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877CBF74-4C73-4D77-AF24-365832A5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데모성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68754749-F7F7-4F33-83E0-7AF07A96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화면, Agent 흐름, 자동화 초안 중 하나를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시연합니다.</a:t>
            </a:r>
          </a:p>
        </p:txBody>
      </p:sp>
      <p:sp>
        <p:nvSpPr>
          <p:cNvPr id="31" name="card-RULE 5">
            <a:extLst xmlns:a="http://schemas.openxmlformats.org/drawingml/2006/main">
              <a:ext uri="{FF2B5EF4-FFF2-40B4-BE49-F238E27FC236}">
                <a16:creationId xmlns:a16="http://schemas.microsoft.com/office/drawing/2014/main" id="{FF9FC3CC-DE76-48BC-B13C-1C9AB82F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58022B2-A892-4630-8C18-BD637FF6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47916F9C-7DF3-44D8-A08D-6F828C94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RULE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C20F4DBE-B365-463A-9F22-E6A9A049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보안성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66295D5F-A0F3-4787-B3A0-0EAB3C73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민감정보, 운영 로그, 접근키, 고객 개인정보는 쓰지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않습니다.</a:t>
            </a:r>
          </a:p>
        </p:txBody>
      </p:sp>
      <p:sp>
        <p:nvSpPr>
          <p:cNvPr id="36" name="card-RULE 6">
            <a:extLst xmlns:a="http://schemas.openxmlformats.org/drawingml/2006/main">
              <a:ext uri="{FF2B5EF4-FFF2-40B4-BE49-F238E27FC236}">
                <a16:creationId xmlns:a16="http://schemas.microsoft.com/office/drawing/2014/main" id="{962575CB-ED84-4894-B8C4-D1E5B494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24300"/>
            <a:ext cx="34290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73AEB96-1662-4A9D-8524-9A8ECBA4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24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8047DBA5-E0B9-4D53-B0FE-135B539F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14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RULE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9A44BFE4-5648-4B33-9215-2C0CA9A0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624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환경성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4E98613D-73B6-451D-9732-5A99CCDA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43450"/>
            <a:ext cx="2971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실습은 사내 AI 플랫폼 스파로스 데브엑스를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기본으로 전제합니다.</a:t>
            </a:r>
          </a:p>
        </p:txBody>
      </p:sp>
    </p:spTree>
    <p:extLst>
      <p:ext uri="{BB962C8B-B14F-4D97-AF65-F5344CB8AC3E}">
        <p14:creationId xmlns:p14="http://schemas.microsoft.com/office/powerpoint/2010/main" val="381770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98261B6A-E4A4-49E4-9EFB-C5FA2615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085A9B72-938A-4ACD-AFBA-3E846803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4929B0D2-84F3-4790-9980-96B8A31A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C9348C71-3BE0-44C6-9940-3F26A984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BFA1696E-6506-45A5-B4DA-F7B8B7AA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AD392F7-6CDD-4D5D-98B9-3972B02A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팀빌딩 모델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EAB39A4B-221D-42CB-8B1A-F627D780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3인 1조는 역할이 분명해야 작동합니다.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DCA1DBF3-CAAA-4C39-9422-F587F67C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 팀은 업무 오너, 구현 담당, 검증·발표 담당을 반드시 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e77b81a054869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C128FF0-773A-4A10-A3D7-D8C52C2F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1" name="role-card">
            <a:extLst xmlns:a="http://schemas.openxmlformats.org/drawingml/2006/main">
              <a:ext uri="{FF2B5EF4-FFF2-40B4-BE49-F238E27FC236}">
                <a16:creationId xmlns:a16="http://schemas.microsoft.com/office/drawing/2014/main" id="{630EC236-FBE9-42A0-A893-8FFEA27E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role-accent">
            <a:extLst xmlns:a="http://schemas.openxmlformats.org/drawingml/2006/main">
              <a:ext uri="{FF2B5EF4-FFF2-40B4-BE49-F238E27FC236}">
                <a16:creationId xmlns:a16="http://schemas.microsoft.com/office/drawing/2014/main" id="{898B808D-3171-4E55-B7E2-E2FDD069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ole-title">
            <a:extLst xmlns:a="http://schemas.openxmlformats.org/drawingml/2006/main">
              <a:ext uri="{FF2B5EF4-FFF2-40B4-BE49-F238E27FC236}">
                <a16:creationId xmlns:a16="http://schemas.microsoft.com/office/drawing/2014/main" id="{0ED2E3A8-4BA7-46DC-90E3-33036915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오너</a:t>
            </a:r>
          </a:p>
        </p:txBody>
      </p:sp>
      <p:sp>
        <p:nvSpPr>
          <p:cNvPr id="14" name="role-body">
            <a:extLst xmlns:a="http://schemas.openxmlformats.org/drawingml/2006/main">
              <a:ext uri="{FF2B5EF4-FFF2-40B4-BE49-F238E27FC236}">
                <a16:creationId xmlns:a16="http://schemas.microsoft.com/office/drawing/2014/main" id="{21D7C19A-C53B-474D-9220-D15E7D8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 업무 흐름, 병목, 성공 기준, 실제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사용자를 설명합니다.</a:t>
            </a:r>
          </a:p>
        </p:txBody>
      </p:sp>
      <p:sp>
        <p:nvSpPr>
          <p:cNvPr id="15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6F58FB71-BF1D-403A-B18C-3F249069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질문: 이 업무가 지금 왜 어려운가?</a:t>
            </a:r>
          </a:p>
        </p:txBody>
      </p:sp>
      <p:sp>
        <p:nvSpPr>
          <p:cNvPr id="16" name="role-card">
            <a:extLst xmlns:a="http://schemas.openxmlformats.org/drawingml/2006/main">
              <a:ext uri="{FF2B5EF4-FFF2-40B4-BE49-F238E27FC236}">
                <a16:creationId xmlns:a16="http://schemas.microsoft.com/office/drawing/2014/main" id="{2B4039B4-18EB-4670-A817-5F61D98B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7" name="role-accent">
            <a:extLst xmlns:a="http://schemas.openxmlformats.org/drawingml/2006/main">
              <a:ext uri="{FF2B5EF4-FFF2-40B4-BE49-F238E27FC236}">
                <a16:creationId xmlns:a16="http://schemas.microsoft.com/office/drawing/2014/main" id="{ED592883-A4EE-4086-9D9F-051EAFF3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ole-title">
            <a:extLst xmlns:a="http://schemas.openxmlformats.org/drawingml/2006/main">
              <a:ext uri="{FF2B5EF4-FFF2-40B4-BE49-F238E27FC236}">
                <a16:creationId xmlns:a16="http://schemas.microsoft.com/office/drawing/2014/main" id="{19983F67-9A83-445A-9CBC-77EEE7F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 담당</a:t>
            </a:r>
          </a:p>
        </p:txBody>
      </p:sp>
      <p:sp>
        <p:nvSpPr>
          <p:cNvPr id="19" name="role-body">
            <a:extLst xmlns:a="http://schemas.openxmlformats.org/drawingml/2006/main">
              <a:ext uri="{FF2B5EF4-FFF2-40B4-BE49-F238E27FC236}">
                <a16:creationId xmlns:a16="http://schemas.microsoft.com/office/drawing/2014/main" id="{A29D7B6C-AF25-46DD-BB98-A6D40C68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스파로스 데브엑스에서 Prompt, Context,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Agent 흐름, 화면 초안을 만듭니다.</a:t>
            </a:r>
          </a:p>
        </p:txBody>
      </p:sp>
      <p:sp>
        <p:nvSpPr>
          <p:cNvPr id="20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7D9C05D4-A867-4A77-AD40-71243150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질문: 8시간 안에 무엇을 시연할 수 있는가?</a:t>
            </a:r>
          </a:p>
        </p:txBody>
      </p:sp>
      <p:sp>
        <p:nvSpPr>
          <p:cNvPr id="21" name="role-card">
            <a:extLst xmlns:a="http://schemas.openxmlformats.org/drawingml/2006/main">
              <a:ext uri="{FF2B5EF4-FFF2-40B4-BE49-F238E27FC236}">
                <a16:creationId xmlns:a16="http://schemas.microsoft.com/office/drawing/2014/main" id="{73486BF5-875D-4A59-8C42-98AC762C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role-accent">
            <a:extLst xmlns:a="http://schemas.openxmlformats.org/drawingml/2006/main">
              <a:ext uri="{FF2B5EF4-FFF2-40B4-BE49-F238E27FC236}">
                <a16:creationId xmlns:a16="http://schemas.microsoft.com/office/drawing/2014/main" id="{E7EB74C3-34E1-4D5B-B5A3-364FF408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ole-title">
            <a:extLst xmlns:a="http://schemas.openxmlformats.org/drawingml/2006/main">
              <a:ext uri="{FF2B5EF4-FFF2-40B4-BE49-F238E27FC236}">
                <a16:creationId xmlns:a16="http://schemas.microsoft.com/office/drawing/2014/main" id="{86B4B037-D215-41B3-9667-C971F41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67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검증·발표 담당</a:t>
            </a:r>
          </a:p>
        </p:txBody>
      </p:sp>
      <p:sp>
        <p:nvSpPr>
          <p:cNvPr id="24" name="role-body">
            <a:extLst xmlns:a="http://schemas.openxmlformats.org/drawingml/2006/main">
              <a:ext uri="{FF2B5EF4-FFF2-40B4-BE49-F238E27FC236}">
                <a16:creationId xmlns:a16="http://schemas.microsoft.com/office/drawing/2014/main" id="{376FF4BA-AA47-4696-8F35-E66B25C4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76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자료, 금지사항, 품질 기준, 발표</a:t>
            </a:r>
          </a:p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흐름을 정리합니다.</a:t>
            </a:r>
          </a:p>
        </p:txBody>
      </p:sp>
      <p:sp>
        <p:nvSpPr>
          <p:cNvPr id="25" name="role-question">
            <a:extLst xmlns:a="http://schemas.openxmlformats.org/drawingml/2006/main">
              <a:ext uri="{FF2B5EF4-FFF2-40B4-BE49-F238E27FC236}">
                <a16:creationId xmlns:a16="http://schemas.microsoft.com/office/drawing/2014/main" id="{B29FD3FF-60E8-4E00-B81E-76A55B51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343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질문: 사람이 어디서 최종 판단해야 하는가?</a:t>
            </a:r>
          </a:p>
        </p:txBody>
      </p:sp>
    </p:spTree>
    <p:extLst>
      <p:ext uri="{BB962C8B-B14F-4D97-AF65-F5344CB8AC3E}">
        <p14:creationId xmlns:p14="http://schemas.microsoft.com/office/powerpoint/2010/main" val="5715847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A004708B-B36C-4AD4-992B-D86AB301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97C2001C-BB30-485A-8FC9-B7265FE0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2ED60875-4F25-4C46-B611-56DC5C97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74DDE1DF-DC96-4042-9009-963574A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6AB1DED6-9B1D-4AD7-B19F-FF5D9CC3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67DDECB9-6502-4E05-9B5A-0E056CBB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1 · 16:10-16:30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CD8234B-D595-4C16-A8AD-43F501C0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발굴: 본인 업무에서 후보를 3개 찾습니다.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13A2E150-777C-4628-9A8D-533037EB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 업무, 병목 업무, 검토 업무, 보고 업무, 현업 요청 업무를 중심으로 적습니다.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805dc6ac7462d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A35D704-C942-443C-B758-64601BF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6FE18745-4497-490B-9E5C-DE8F50E7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6E0A419-2922-4DC5-92AE-506C9696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61F02C9B-1536-4A57-9D69-59414459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4D62C29-A15A-40A2-A16B-5876B981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057BA42E-B211-47F6-B6AD-E2627145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 작성 10분 → 옆 사람 공유 5분 → 가장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강한 후보 1개 표시 5분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0BE34C6D-C857-4362-8AB2-EE698E09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FC217C9-8247-46A1-B362-E5CE623F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783FBD8D-800D-40A0-BD4C-A578CF8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660716F-C51D-413F-B9FC-28614665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4D5698F6-632F-4BC6-967B-70640F8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개인별 후보 3개와 우선 후보 1개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8C697B9C-152C-4B3D-A044-2F716924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2B2B418-34C8-468A-A26A-1EC40C2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BE7494E9-23E4-406C-B606-D9F56D49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010755A2-A12A-44AA-BB2E-A2AFC4BE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987113C1-C5F2-446C-940E-987435A4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3316457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EFA78F97-AFFE-4BC2-8EAB-0C9CF598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F07A0EB-2055-4306-9159-E0301D6A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C2768429-1217-494D-8249-76DA5D0B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2CDDC53F-CB5A-400A-A351-38D0218D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FCDECFE0-0501-4F15-9CD3-53B74B2E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1DE7F722-E4EE-4645-84BB-6C14E8B9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1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DC2908-6164-49C5-A817-E33B2869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개인 과제 발굴: 내 업무에서 AI가 도울 지점을 찾습니다.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D4865C5-640C-409D-983E-8A015D0C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각자 3개 후보를 쓰고, 팀 토론 전에 가장 강한 후보 1개를 표시합니다.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3ed74df164306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578D062-AA49-42BA-9C63-FDC6D049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AE6D0AE1-26B6-4362-ADC3-A7CD47A7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1</a:t>
            </a:r>
          </a:p>
        </p:txBody>
      </p:sp>
      <p:sp>
        <p:nvSpPr>
          <p:cNvPr id="12" name="field-후보 1">
            <a:extLst xmlns:a="http://schemas.openxmlformats.org/drawingml/2006/main">
              <a:ext uri="{FF2B5EF4-FFF2-40B4-BE49-F238E27FC236}">
                <a16:creationId xmlns:a16="http://schemas.microsoft.com/office/drawing/2014/main" id="{06047039-8791-44BB-B298-89D6EA0A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59D068A0-CE94-44A9-A360-0D86BD35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반복 빈도 / 현재 산출물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B8BA4509-B8BE-44A2-8121-998CF989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2</a:t>
            </a:r>
          </a:p>
        </p:txBody>
      </p:sp>
      <p:sp>
        <p:nvSpPr>
          <p:cNvPr id="15" name="field-후보 2">
            <a:extLst xmlns:a="http://schemas.openxmlformats.org/drawingml/2006/main">
              <a:ext uri="{FF2B5EF4-FFF2-40B4-BE49-F238E27FC236}">
                <a16:creationId xmlns:a16="http://schemas.microsoft.com/office/drawing/2014/main" id="{1372D153-CF33-4BA5-ADF7-4EDE6363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AE691F23-1CFB-41C9-9A15-1CB088E3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병목 지점 / 관련 자료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39B58CED-514F-42D5-87A6-FA68040F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3</a:t>
            </a:r>
          </a:p>
        </p:txBody>
      </p:sp>
      <p:sp>
        <p:nvSpPr>
          <p:cNvPr id="18" name="field-후보 3">
            <a:extLst xmlns:a="http://schemas.openxmlformats.org/drawingml/2006/main">
              <a:ext uri="{FF2B5EF4-FFF2-40B4-BE49-F238E27FC236}">
                <a16:creationId xmlns:a16="http://schemas.microsoft.com/office/drawing/2014/main" id="{76AA6E00-3596-4B39-9162-12B64CC0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B18EE8F8-C795-4DC4-96A1-D5AA9426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31242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업무명 / 검토 기준 / 기대 효과</a:t>
            </a:r>
          </a:p>
        </p:txBody>
      </p:sp>
      <p:sp>
        <p:nvSpPr>
          <p:cNvPr id="20" name="selection">
            <a:extLst xmlns:a="http://schemas.openxmlformats.org/drawingml/2006/main">
              <a:ext uri="{FF2B5EF4-FFF2-40B4-BE49-F238E27FC236}">
                <a16:creationId xmlns:a16="http://schemas.microsoft.com/office/drawing/2014/main" id="{7B9ED458-C930-4BF7-B512-DF95E7B9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선택 기준: 현업성 · 구현 가능성 · 자료 준비도 · 사람 검토 가능성 · 발표 가능성</a:t>
            </a:r>
          </a:p>
        </p:txBody>
      </p:sp>
    </p:spTree>
    <p:extLst>
      <p:ext uri="{BB962C8B-B14F-4D97-AF65-F5344CB8AC3E}">
        <p14:creationId xmlns:p14="http://schemas.microsoft.com/office/powerpoint/2010/main" val="19333694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BAD7D8C-1EAD-40D7-9F65-B015CD61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334FC06-3314-4B7E-B04E-7C636E78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1D7CF960-7626-4F7A-8E5B-A766423D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6CCA1E5-27EE-4B7F-93B6-C62BAEC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4022995A-F723-4A71-8DB5-A336F592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A22CE24-B20E-47FC-910C-503790E3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업무 후보 예시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3C07E9E-DC34-4C94-8CBB-720724B3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업무는 반복되는 실제 업무에서 나옵니다.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5A72A2B-82A4-414D-B421-4EE9A19D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아래 유형을 보고 본인 업무의 입력 자료와 출력물을 떠올리게 합니다.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4aaa290254192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B40AC22-F81E-482C-83C6-7D975C22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1" name="card-TYPE 1">
            <a:extLst xmlns:a="http://schemas.openxmlformats.org/drawingml/2006/main">
              <a:ext uri="{FF2B5EF4-FFF2-40B4-BE49-F238E27FC236}">
                <a16:creationId xmlns:a16="http://schemas.microsoft.com/office/drawing/2014/main" id="{6D54C367-F178-4870-9CD3-D6090AE9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532C4EE-070A-4AA6-8834-CFCC4D79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D45DD027-7F93-4242-8E81-C0ACF776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TYPE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C4D5837-C980-4703-AB38-A353F77E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 분류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D3649346-9722-45F1-9D22-2F19365F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현업 요청, 장애 티켓, 문의 메일을 유형별로 분류하고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액션을 제안</a:t>
            </a:r>
          </a:p>
        </p:txBody>
      </p:sp>
      <p:sp>
        <p:nvSpPr>
          <p:cNvPr id="16" name="card-TYPE 2">
            <a:extLst xmlns:a="http://schemas.openxmlformats.org/drawingml/2006/main">
              <a:ext uri="{FF2B5EF4-FFF2-40B4-BE49-F238E27FC236}">
                <a16:creationId xmlns:a16="http://schemas.microsoft.com/office/drawing/2014/main" id="{FCC0B5A7-4899-4C99-87BB-59E6F6A9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425A945-BCDA-4802-B317-B8F277CC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096FABBB-CC6C-47F6-9A93-402BD860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TYPE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3BDF6DB-B589-4570-A7BE-B2404C9E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문서 요약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7CBF1419-A5AC-423C-AF48-B782C5C9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회의록, 정책, 운영 매뉴얼, 계약/규정 초안을 요약하고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체크포인트 추출</a:t>
            </a:r>
          </a:p>
        </p:txBody>
      </p:sp>
      <p:sp>
        <p:nvSpPr>
          <p:cNvPr id="21" name="card-TYPE 3">
            <a:extLst xmlns:a="http://schemas.openxmlformats.org/drawingml/2006/main">
              <a:ext uri="{FF2B5EF4-FFF2-40B4-BE49-F238E27FC236}">
                <a16:creationId xmlns:a16="http://schemas.microsoft.com/office/drawing/2014/main" id="{2E081C18-90DB-438C-BC14-1B87944A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A6E5256-991A-4874-97BC-62A06D28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0C86469-A911-46CE-B183-0AD64690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TYPE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3FF63FB-F275-47B1-84EB-9BA518D0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보고 초안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B2C40890-2529-4ABC-B477-2872826C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주간 현황, 리스크, 비용/성과 데이터를 보고서 초안으로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26" name="card-TYPE 4">
            <a:extLst xmlns:a="http://schemas.openxmlformats.org/drawingml/2006/main">
              <a:ext uri="{FF2B5EF4-FFF2-40B4-BE49-F238E27FC236}">
                <a16:creationId xmlns:a16="http://schemas.microsoft.com/office/drawing/2014/main" id="{36559EF1-1B40-403D-B088-8A10F5A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F385C0D-43DB-4CB6-8773-E2A98D4C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63F4935B-690E-4703-9020-4FC43BF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TYPE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FEE48468-A380-4339-AD8F-A2CCFBCF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검토 체크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92734E05-C9D4-4B3E-9972-07CF8F08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품질, 준법, 보안, 승인 기준에 맞춰 누락 사항을 점검</a:t>
            </a:r>
          </a:p>
        </p:txBody>
      </p:sp>
      <p:sp>
        <p:nvSpPr>
          <p:cNvPr id="31" name="card-TYPE 5">
            <a:extLst xmlns:a="http://schemas.openxmlformats.org/drawingml/2006/main">
              <a:ext uri="{FF2B5EF4-FFF2-40B4-BE49-F238E27FC236}">
                <a16:creationId xmlns:a16="http://schemas.microsoft.com/office/drawing/2014/main" id="{3C6C4731-6C66-457C-9FE9-8AF9377A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EDD4004-09AD-421B-86B2-BA0D75A1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523F3B96-B4BE-467D-978C-C7729BB7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TYPE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7DF0420E-0A1F-4E18-9148-713DB165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개발 보조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4B93EA6F-EF97-4680-9EF4-ECD85ADD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요구사항을 코드/테스트/Agent 흐름으로 빠르게 변환</a:t>
            </a:r>
          </a:p>
        </p:txBody>
      </p:sp>
      <p:sp>
        <p:nvSpPr>
          <p:cNvPr id="36" name="card-TYPE 6">
            <a:extLst xmlns:a="http://schemas.openxmlformats.org/drawingml/2006/main">
              <a:ext uri="{FF2B5EF4-FFF2-40B4-BE49-F238E27FC236}">
                <a16:creationId xmlns:a16="http://schemas.microsoft.com/office/drawing/2014/main" id="{80031BB6-4FA0-4B29-8F21-203B7465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2400"/>
            <a:ext cx="342900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8778702-3AE1-4DBB-8092-DBBA2011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240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97CEC9DF-0505-4D88-BE02-8C1432CA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529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TYPE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2CFAF7E-BA66-490B-A233-F2DE0B66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0055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지식 검색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34E428F7-4B9B-4A93-B529-F3168F34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81550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사내 절차와 매뉴얼에서 근거를 찾아 응답 초안 작성</a:t>
            </a:r>
          </a:p>
        </p:txBody>
      </p:sp>
    </p:spTree>
    <p:extLst>
      <p:ext uri="{BB962C8B-B14F-4D97-AF65-F5344CB8AC3E}">
        <p14:creationId xmlns:p14="http://schemas.microsoft.com/office/powerpoint/2010/main" val="11025157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5BEC8688-679C-4D62-9245-33566065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FF80636E-A24A-427C-BF6D-7F25BEAE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45ACF071-031D-4C8B-A349-B3B77195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32CFAE5D-BD36-45FD-9EF7-5670AC95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42D09E0B-A458-498D-874F-4AA59A51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9C01F66E-77F7-4787-8B1C-59624929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2 · 16:30-16:45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9AA3A1-D147-416B-9397-B2827A31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과제 후보 점수화: 실행 가능한 후보를 고릅니다.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A28A5689-7A27-41A0-B1C6-0D1854C8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좋아 보이는 아이디어가 아니라 8월 21일에 만들 수 있는 후보를 남깁니다.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81ebde1a249e1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8DDD2D6-A1AA-48F7-BC32-75541580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1D6314BF-403C-4BE2-95E4-93728E15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71F6B0C-6034-42AD-88C3-98C09564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144475E8-65FD-4C9B-8C98-3AF33294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E4E670C-2A8A-419B-AEFC-7E4104D2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0D2D631C-C34A-4284-9BDD-A2E6ECFC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후보별 5개 기준 점수화 → 제외 조건 확인 →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토론용 후보 1-2개 선정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2F141252-320D-45E7-A749-D0A23FA2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65E147E-B1C5-44C9-A439-A496280D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BEBC4F65-61A3-46D4-8C67-7C190A3C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B22593A6-07B0-4714-90E7-8389BC8F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E692209C-B8DB-489F-B233-0C56E2F7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토론으로 가져갈 후보 목록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88A9D4A2-09F5-4C02-ACBD-DFE7CEF5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28FE937-5DDB-4E55-98F9-EC080D0F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890341A5-99BF-402A-82A8-4AF08258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41C9DA6-0930-42DE-8D16-3217B181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0D9455F6-BDD3-4BF7-88FB-E48AD5C0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5638704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92F13F35-2FA7-4477-B3E0-788AA0A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13F52C4A-B960-4158-ACE2-61FA8CA1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0F7B45A3-2FC3-4DED-A15A-20A3B22A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9AE1423-5086-468D-99DF-E32DA2DB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47FA957B-5406-46F7-B6B2-DFB2565B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3C45CB3A-2AF5-4685-8ED5-0F9D2E7D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2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95A3CC7-F795-42B5-AB8F-84CF4E01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과제 후보 점수화: 8월에 시연할 후보를 고릅니다.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1C834702-556F-4F17-9650-AFD06D0E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각 후보를 1-5점으로 평가하고, 총점보다 치명적 결격 조건을 먼저 확인합니다.</a:t>
            </a:r>
          </a:p>
        </p:txBody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f523481d44a82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61DBE3D-32F2-422B-BD61-5B66F6B8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1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514D9924-135D-4F7F-9581-1B9E27A8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D62C523D-D5E9-4E70-BFCE-6A95CC01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후보 업무</a:t>
            </a:r>
          </a:p>
        </p:txBody>
      </p:sp>
      <p:sp>
        <p:nvSpPr>
          <p:cNvPr id="13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D34C64A3-E430-4E9B-A3CB-FD5D37A6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4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AF1D6648-B274-4895-AC96-8970F9FD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현업성</a:t>
            </a:r>
          </a:p>
        </p:txBody>
      </p:sp>
      <p:sp>
        <p:nvSpPr>
          <p:cNvPr id="15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B7376B98-8832-479C-8AF8-0BA87ADD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644FE05B-4F6F-4117-9925-5532276B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구현성</a:t>
            </a:r>
          </a:p>
        </p:txBody>
      </p:sp>
      <p:sp>
        <p:nvSpPr>
          <p:cNvPr id="17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FDC43067-42A7-4B35-BA83-F4C009DE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8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8E06BD17-BA76-4896-AE6F-A333E013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 준비</a:t>
            </a:r>
          </a:p>
        </p:txBody>
      </p:sp>
      <p:sp>
        <p:nvSpPr>
          <p:cNvPr id="19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E13F19F5-954E-4A5B-BB29-DC7526A0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BDB426B6-D3AE-4553-85E3-4E6BCAB5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21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D2882C0C-C516-4AD3-B883-C2E5E60E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14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5BEC3778-54DF-4DDC-8F6F-631BFB75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발표성</a:t>
            </a:r>
          </a:p>
        </p:txBody>
      </p:sp>
      <p:sp>
        <p:nvSpPr>
          <p:cNvPr id="23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92C5C30B-7CF5-4953-B4E3-D91A6712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145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score-head-text">
            <a:extLst xmlns:a="http://schemas.openxmlformats.org/drawingml/2006/main">
              <a:ext uri="{FF2B5EF4-FFF2-40B4-BE49-F238E27FC236}">
                <a16:creationId xmlns:a16="http://schemas.microsoft.com/office/drawing/2014/main" id="{570603D1-E7E1-47CE-B086-FA5ABE0E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383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비고/리스크</a:t>
            </a:r>
          </a:p>
        </p:txBody>
      </p:sp>
      <p:sp>
        <p:nvSpPr>
          <p:cNvPr id="25" name="score-cell">
            <a:extLst xmlns:a="http://schemas.openxmlformats.org/drawingml/2006/main">
              <a:ext uri="{FF2B5EF4-FFF2-40B4-BE49-F238E27FC236}">
                <a16:creationId xmlns:a16="http://schemas.microsoft.com/office/drawing/2014/main" id="{409D59C1-1276-4CF8-9187-F2CC8EE1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6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C5D19323-AC8A-4923-81E7-CEE0E453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1</a:t>
            </a:r>
          </a:p>
        </p:txBody>
      </p:sp>
      <p:sp>
        <p:nvSpPr>
          <p:cNvPr id="27" name="score-cell">
            <a:extLst xmlns:a="http://schemas.openxmlformats.org/drawingml/2006/main">
              <a:ext uri="{FF2B5EF4-FFF2-40B4-BE49-F238E27FC236}">
                <a16:creationId xmlns:a16="http://schemas.microsoft.com/office/drawing/2014/main" id="{B608A07B-76DB-46AF-BAD8-149D51B5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score-cell">
            <a:extLst xmlns:a="http://schemas.openxmlformats.org/drawingml/2006/main">
              <a:ext uri="{FF2B5EF4-FFF2-40B4-BE49-F238E27FC236}">
                <a16:creationId xmlns:a16="http://schemas.microsoft.com/office/drawing/2014/main" id="{82881C91-EF9E-4181-B801-CAF16E91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9" name="score-cell">
            <a:extLst xmlns:a="http://schemas.openxmlformats.org/drawingml/2006/main">
              <a:ext uri="{FF2B5EF4-FFF2-40B4-BE49-F238E27FC236}">
                <a16:creationId xmlns:a16="http://schemas.microsoft.com/office/drawing/2014/main" id="{CD8F21B0-9BB6-4DDF-A337-3E1C626C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0" name="score-cell">
            <a:extLst xmlns:a="http://schemas.openxmlformats.org/drawingml/2006/main">
              <a:ext uri="{FF2B5EF4-FFF2-40B4-BE49-F238E27FC236}">
                <a16:creationId xmlns:a16="http://schemas.microsoft.com/office/drawing/2014/main" id="{999E4DDA-8434-430C-AC39-B14F0387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1" name="score-cell">
            <a:extLst xmlns:a="http://schemas.openxmlformats.org/drawingml/2006/main">
              <a:ext uri="{FF2B5EF4-FFF2-40B4-BE49-F238E27FC236}">
                <a16:creationId xmlns:a16="http://schemas.microsoft.com/office/drawing/2014/main" id="{5A20FBB4-D7AC-4581-B756-2BA3841D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score-cell">
            <a:extLst xmlns:a="http://schemas.openxmlformats.org/drawingml/2006/main">
              <a:ext uri="{FF2B5EF4-FFF2-40B4-BE49-F238E27FC236}">
                <a16:creationId xmlns:a16="http://schemas.microsoft.com/office/drawing/2014/main" id="{1CF9DDAD-28CA-44CE-BFAE-67AA03DF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717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3" name="score-cell">
            <a:extLst xmlns:a="http://schemas.openxmlformats.org/drawingml/2006/main">
              <a:ext uri="{FF2B5EF4-FFF2-40B4-BE49-F238E27FC236}">
                <a16:creationId xmlns:a16="http://schemas.microsoft.com/office/drawing/2014/main" id="{05FDA8FB-DE19-4E9A-8512-EFBDA26A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4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E795FAFC-7557-4F96-87A5-177F52C5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2</a:t>
            </a:r>
          </a:p>
        </p:txBody>
      </p:sp>
      <p:sp>
        <p:nvSpPr>
          <p:cNvPr id="35" name="score-cell">
            <a:extLst xmlns:a="http://schemas.openxmlformats.org/drawingml/2006/main">
              <a:ext uri="{FF2B5EF4-FFF2-40B4-BE49-F238E27FC236}">
                <a16:creationId xmlns:a16="http://schemas.microsoft.com/office/drawing/2014/main" id="{8A439958-6E3E-4864-A3CF-284738FF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score-cell">
            <a:extLst xmlns:a="http://schemas.openxmlformats.org/drawingml/2006/main">
              <a:ext uri="{FF2B5EF4-FFF2-40B4-BE49-F238E27FC236}">
                <a16:creationId xmlns:a16="http://schemas.microsoft.com/office/drawing/2014/main" id="{3EE60E41-7989-47D1-953C-DDEBE03C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7" name="score-cell">
            <a:extLst xmlns:a="http://schemas.openxmlformats.org/drawingml/2006/main">
              <a:ext uri="{FF2B5EF4-FFF2-40B4-BE49-F238E27FC236}">
                <a16:creationId xmlns:a16="http://schemas.microsoft.com/office/drawing/2014/main" id="{D77F2975-1832-4E33-8A6B-BE66A318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score-cell">
            <a:extLst xmlns:a="http://schemas.openxmlformats.org/drawingml/2006/main">
              <a:ext uri="{FF2B5EF4-FFF2-40B4-BE49-F238E27FC236}">
                <a16:creationId xmlns:a16="http://schemas.microsoft.com/office/drawing/2014/main" id="{795ABB9C-FA48-4BA0-8379-ABB66EA6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9" name="score-cell">
            <a:extLst xmlns:a="http://schemas.openxmlformats.org/drawingml/2006/main">
              <a:ext uri="{FF2B5EF4-FFF2-40B4-BE49-F238E27FC236}">
                <a16:creationId xmlns:a16="http://schemas.microsoft.com/office/drawing/2014/main" id="{5F48B741-7A58-4D03-A8A9-CEAF77BD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score-cell">
            <a:extLst xmlns:a="http://schemas.openxmlformats.org/drawingml/2006/main">
              <a:ext uri="{FF2B5EF4-FFF2-40B4-BE49-F238E27FC236}">
                <a16:creationId xmlns:a16="http://schemas.microsoft.com/office/drawing/2014/main" id="{B3C5DD3F-F9EB-449C-AC07-38DB8284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289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1" name="score-cell">
            <a:extLst xmlns:a="http://schemas.openxmlformats.org/drawingml/2006/main">
              <a:ext uri="{FF2B5EF4-FFF2-40B4-BE49-F238E27FC236}">
                <a16:creationId xmlns:a16="http://schemas.microsoft.com/office/drawing/2014/main" id="{579FB8F5-8DB3-4F96-98C7-30228C60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2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01470A52-8B0B-4395-BAF4-1B00390D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3</a:t>
            </a:r>
          </a:p>
        </p:txBody>
      </p:sp>
      <p:sp>
        <p:nvSpPr>
          <p:cNvPr id="43" name="score-cell">
            <a:extLst xmlns:a="http://schemas.openxmlformats.org/drawingml/2006/main">
              <a:ext uri="{FF2B5EF4-FFF2-40B4-BE49-F238E27FC236}">
                <a16:creationId xmlns:a16="http://schemas.microsoft.com/office/drawing/2014/main" id="{5A9A66D7-3EBB-4FB5-9C5A-93AEA7BB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score-cell">
            <a:extLst xmlns:a="http://schemas.openxmlformats.org/drawingml/2006/main">
              <a:ext uri="{FF2B5EF4-FFF2-40B4-BE49-F238E27FC236}">
                <a16:creationId xmlns:a16="http://schemas.microsoft.com/office/drawing/2014/main" id="{30FE332D-1417-47C1-BABA-3635C5CE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5" name="score-cell">
            <a:extLst xmlns:a="http://schemas.openxmlformats.org/drawingml/2006/main">
              <a:ext uri="{FF2B5EF4-FFF2-40B4-BE49-F238E27FC236}">
                <a16:creationId xmlns:a16="http://schemas.microsoft.com/office/drawing/2014/main" id="{E486DC10-ED3A-401B-A522-A5BECD0F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6" name="score-cell">
            <a:extLst xmlns:a="http://schemas.openxmlformats.org/drawingml/2006/main">
              <a:ext uri="{FF2B5EF4-FFF2-40B4-BE49-F238E27FC236}">
                <a16:creationId xmlns:a16="http://schemas.microsoft.com/office/drawing/2014/main" id="{140B54DC-4ED3-49FC-B4C7-2F172139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7" name="score-cell">
            <a:extLst xmlns:a="http://schemas.openxmlformats.org/drawingml/2006/main">
              <a:ext uri="{FF2B5EF4-FFF2-40B4-BE49-F238E27FC236}">
                <a16:creationId xmlns:a16="http://schemas.microsoft.com/office/drawing/2014/main" id="{E2B80F14-B543-4F68-A31D-00820B38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861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8" name="score-cell">
            <a:extLst xmlns:a="http://schemas.openxmlformats.org/drawingml/2006/main">
              <a:ext uri="{FF2B5EF4-FFF2-40B4-BE49-F238E27FC236}">
                <a16:creationId xmlns:a16="http://schemas.microsoft.com/office/drawing/2014/main" id="{0559CA1E-418B-43FC-82C8-86FA9D86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9" name="score-cell">
            <a:extLst xmlns:a="http://schemas.openxmlformats.org/drawingml/2006/main">
              <a:ext uri="{FF2B5EF4-FFF2-40B4-BE49-F238E27FC236}">
                <a16:creationId xmlns:a16="http://schemas.microsoft.com/office/drawing/2014/main" id="{18357027-02F6-4040-B11C-C7291A6B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0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614EB21E-6B96-45D5-BF4F-076429CB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4</a:t>
            </a:r>
          </a:p>
        </p:txBody>
      </p:sp>
      <p:sp>
        <p:nvSpPr>
          <p:cNvPr id="51" name="score-cell">
            <a:extLst xmlns:a="http://schemas.openxmlformats.org/drawingml/2006/main">
              <a:ext uri="{FF2B5EF4-FFF2-40B4-BE49-F238E27FC236}">
                <a16:creationId xmlns:a16="http://schemas.microsoft.com/office/drawing/2014/main" id="{4FE51DE5-0F9D-4E7D-A6C6-E34B4C5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2" name="score-cell">
            <a:extLst xmlns:a="http://schemas.openxmlformats.org/drawingml/2006/main">
              <a:ext uri="{FF2B5EF4-FFF2-40B4-BE49-F238E27FC236}">
                <a16:creationId xmlns:a16="http://schemas.microsoft.com/office/drawing/2014/main" id="{A221B21A-920D-4F29-8323-901D3485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3" name="score-cell">
            <a:extLst xmlns:a="http://schemas.openxmlformats.org/drawingml/2006/main">
              <a:ext uri="{FF2B5EF4-FFF2-40B4-BE49-F238E27FC236}">
                <a16:creationId xmlns:a16="http://schemas.microsoft.com/office/drawing/2014/main" id="{E7F62861-3F97-4988-A39B-8BAE06D7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4" name="score-cell">
            <a:extLst xmlns:a="http://schemas.openxmlformats.org/drawingml/2006/main">
              <a:ext uri="{FF2B5EF4-FFF2-40B4-BE49-F238E27FC236}">
                <a16:creationId xmlns:a16="http://schemas.microsoft.com/office/drawing/2014/main" id="{6F28D974-C518-404B-9831-B09EBA51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5" name="score-cell">
            <a:extLst xmlns:a="http://schemas.openxmlformats.org/drawingml/2006/main">
              <a:ext uri="{FF2B5EF4-FFF2-40B4-BE49-F238E27FC236}">
                <a16:creationId xmlns:a16="http://schemas.microsoft.com/office/drawing/2014/main" id="{00F9A5FD-65B0-4437-A2F0-0B76ACC8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433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6" name="score-cell">
            <a:extLst xmlns:a="http://schemas.openxmlformats.org/drawingml/2006/main">
              <a:ext uri="{FF2B5EF4-FFF2-40B4-BE49-F238E27FC236}">
                <a16:creationId xmlns:a16="http://schemas.microsoft.com/office/drawing/2014/main" id="{A845EB93-7B3C-468E-9D06-93ABEAED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9433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7" name="score-cell">
            <a:extLst xmlns:a="http://schemas.openxmlformats.org/drawingml/2006/main">
              <a:ext uri="{FF2B5EF4-FFF2-40B4-BE49-F238E27FC236}">
                <a16:creationId xmlns:a16="http://schemas.microsoft.com/office/drawing/2014/main" id="{07E1E004-B3B5-424F-AD1F-80074F6D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8" name="candidate-placeholder">
            <a:extLst xmlns:a="http://schemas.openxmlformats.org/drawingml/2006/main">
              <a:ext uri="{FF2B5EF4-FFF2-40B4-BE49-F238E27FC236}">
                <a16:creationId xmlns:a16="http://schemas.microsoft.com/office/drawing/2014/main" id="{B1291083-E8EB-4693-8EA6-FE652C56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 5</a:t>
            </a:r>
          </a:p>
        </p:txBody>
      </p:sp>
      <p:sp>
        <p:nvSpPr>
          <p:cNvPr id="59" name="score-cell">
            <a:extLst xmlns:a="http://schemas.openxmlformats.org/drawingml/2006/main">
              <a:ext uri="{FF2B5EF4-FFF2-40B4-BE49-F238E27FC236}">
                <a16:creationId xmlns:a16="http://schemas.microsoft.com/office/drawing/2014/main" id="{304691AA-99D0-4177-91F2-256C0EA7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0" name="score-cell">
            <a:extLst xmlns:a="http://schemas.openxmlformats.org/drawingml/2006/main">
              <a:ext uri="{FF2B5EF4-FFF2-40B4-BE49-F238E27FC236}">
                <a16:creationId xmlns:a16="http://schemas.microsoft.com/office/drawing/2014/main" id="{817F54BC-F517-49CB-A28F-3B4C4FF5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1" name="score-cell">
            <a:extLst xmlns:a="http://schemas.openxmlformats.org/drawingml/2006/main">
              <a:ext uri="{FF2B5EF4-FFF2-40B4-BE49-F238E27FC236}">
                <a16:creationId xmlns:a16="http://schemas.microsoft.com/office/drawing/2014/main" id="{13C9CFB8-8A05-412E-9C9D-186BAC8D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2" name="score-cell">
            <a:extLst xmlns:a="http://schemas.openxmlformats.org/drawingml/2006/main">
              <a:ext uri="{FF2B5EF4-FFF2-40B4-BE49-F238E27FC236}">
                <a16:creationId xmlns:a16="http://schemas.microsoft.com/office/drawing/2014/main" id="{8991AD77-7E7E-436B-89C4-7584ACF0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3" name="score-cell">
            <a:extLst xmlns:a="http://schemas.openxmlformats.org/drawingml/2006/main">
              <a:ext uri="{FF2B5EF4-FFF2-40B4-BE49-F238E27FC236}">
                <a16:creationId xmlns:a16="http://schemas.microsoft.com/office/drawing/2014/main" id="{D7057121-B735-40D5-BFF8-85DEF362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00550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4" name="score-cell">
            <a:extLst xmlns:a="http://schemas.openxmlformats.org/drawingml/2006/main">
              <a:ext uri="{FF2B5EF4-FFF2-40B4-BE49-F238E27FC236}">
                <a16:creationId xmlns:a16="http://schemas.microsoft.com/office/drawing/2014/main" id="{62C399EF-82F7-476C-80EB-B5B2739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005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65" name="drop-rule">
            <a:extLst xmlns:a="http://schemas.openxmlformats.org/drawingml/2006/main">
              <a:ext uri="{FF2B5EF4-FFF2-40B4-BE49-F238E27FC236}">
                <a16:creationId xmlns:a16="http://schemas.microsoft.com/office/drawing/2014/main" id="{463191F3-1862-4D76-9FFA-506556FF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F59E0B"/>
                </a:solidFill>
                <a:latin typeface="Pretendard"/>
                <a:ea typeface="Pretendard"/>
                <a:cs typeface="Pretendard"/>
              </a:rPr>
              <a:t>제외 조건: 안전한 샘플 자료를 준비할 수 없음 · 사람 검토 기준을 설명할 수 없음 · 8시간 시연이 불가능함</a:t>
            </a:r>
          </a:p>
        </p:txBody>
      </p:sp>
    </p:spTree>
    <p:extLst>
      <p:ext uri="{BB962C8B-B14F-4D97-AF65-F5344CB8AC3E}">
        <p14:creationId xmlns:p14="http://schemas.microsoft.com/office/powerpoint/2010/main" val="1000611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8E28E932-392F-4E1D-AB3F-6DDA5EED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806E778-2B5D-456C-8E12-9558194D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0B11F8E9-6E6E-4850-AE10-9DFA57D2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5FCF089-96FD-46EC-974C-02E73097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C3FAE289-A2C3-4E05-A4EF-057E0050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A7043947-9267-4326-99EB-C238FEAA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3 · 16:45-17:05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6F09BBA-C73A-4E80-86C4-9927A01F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팀빌딩: 3인 1조, 총 5개 프로젝트팀을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7C5C6C7-C91E-4974-AC8E-A953FC72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부서보다 역할과 주제 축을 기준으로 팀을 구성합니다.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576c58aea425f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FFAB0BA-CCED-4846-979D-28D9F625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41AEF340-A694-4C10-90E6-781CDCE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D8F92DE-C009-4C64-A87C-4F0252CA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2DF74EB-B414-4FA7-B3C6-C6E44AAA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6C27878D-25DA-46C2-AE63-2375C014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94EC3008-B5FA-4F12-92DE-244798A1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 오너, 구현 담당, 검증·발표 담당을 먼저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정하고 주제 축을 선택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06652036-6E53-438A-BF3F-FBD5456F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7A1A1E6-FE49-4490-894C-E1547866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808E81C5-6DE9-4739-A2C8-FD789A22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B9D829E2-E3B2-4D7E-A752-2DF4E42E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0747CFCF-5B45-4F6E-B96D-20E3030F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구성표와 팀별 1순위 업무 문제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240DF16F-D01D-40D4-B4E2-82668DE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D8ACDF8-FE12-417C-8759-D76B2DD7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A7EC977E-4296-4E2B-A8B8-26064175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1A42E3F-2623-4B6D-8ADB-1F430AB3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78F7CC3F-BA67-4427-96A6-37B541E7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9997234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A673341B-B08C-46E0-AFED-989126BE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6C9059CF-C24C-4C2C-AFB5-F946B210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EE2B062E-2A78-4087-9068-81D18E13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ECB252AF-BEF0-4321-8801-05D1410C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C28C291B-EB0F-4666-A39C-3FB39F08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46BABF68-5874-4E2E-AE53-90BD0D2C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3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4D664B2-E6BC-465D-821D-48B4574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 구성 카드: 3명이 맡을 역할과 주제 축을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88E82DDB-5268-4C58-A4C8-3AFFE1EB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주제 축은 고정 배정이 아니라 8월 구현 과제를 좁히기 위한 권장 방향입니다.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b7ccb5fc640be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91FC7AA-42C2-4F51-B564-9940AEE5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5EF3D9CC-A161-42E7-9C37-EC6AEA4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팀명 / 주제 축</a:t>
            </a:r>
          </a:p>
        </p:txBody>
      </p:sp>
      <p:sp>
        <p:nvSpPr>
          <p:cNvPr id="12" name="field-팀명 / 주제 축">
            <a:extLst xmlns:a="http://schemas.openxmlformats.org/drawingml/2006/main">
              <a:ext uri="{FF2B5EF4-FFF2-40B4-BE49-F238E27FC236}">
                <a16:creationId xmlns:a16="http://schemas.microsoft.com/office/drawing/2014/main" id="{072937A9-2B67-407D-B799-41E6691E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8D30EE98-3E01-4AFF-8AEE-FECF9872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Team 1 · 서비스 운영/고객 접점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E47844AE-CB78-46D6-AC4A-E11E6CBC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오너</a:t>
            </a:r>
          </a:p>
        </p:txBody>
      </p:sp>
      <p:sp>
        <p:nvSpPr>
          <p:cNvPr id="15" name="field-업무 오너">
            <a:extLst xmlns:a="http://schemas.openxmlformats.org/drawingml/2006/main">
              <a:ext uri="{FF2B5EF4-FFF2-40B4-BE49-F238E27FC236}">
                <a16:creationId xmlns:a16="http://schemas.microsoft.com/office/drawing/2014/main" id="{C508387F-9853-48E7-9B40-D652055D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EF61E257-5B9A-44CE-8A67-C2292C64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부서 / 대표 업무 문제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E299FFD1-6D48-4346-980A-B5C86132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 담당</a:t>
            </a:r>
          </a:p>
        </p:txBody>
      </p:sp>
      <p:sp>
        <p:nvSpPr>
          <p:cNvPr id="18" name="field-구현 담당">
            <a:extLst xmlns:a="http://schemas.openxmlformats.org/drawingml/2006/main">
              <a:ext uri="{FF2B5EF4-FFF2-40B4-BE49-F238E27FC236}">
                <a16:creationId xmlns:a16="http://schemas.microsoft.com/office/drawing/2014/main" id="{7D13238B-7A2B-4980-8C78-40F740D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3314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FF2A59F1-E587-44A2-A70B-F15A506C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3009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구현 경험 / 사용할 도구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A1F9687-5694-466B-B2DF-13D7504C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검증·발표 담당</a:t>
            </a:r>
          </a:p>
        </p:txBody>
      </p:sp>
      <p:sp>
        <p:nvSpPr>
          <p:cNvPr id="21" name="field-검증·발표 담당">
            <a:extLst xmlns:a="http://schemas.openxmlformats.org/drawingml/2006/main">
              <a:ext uri="{FF2B5EF4-FFF2-40B4-BE49-F238E27FC236}">
                <a16:creationId xmlns:a16="http://schemas.microsoft.com/office/drawing/2014/main" id="{5145DB84-8C5A-4438-B368-4EB4A3B0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33147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FF051968-552A-454D-814C-BEDD9177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3009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이름 / 검토 기준 / 발표 역할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AE2737B9-DDA9-4D5E-9D5D-E7174814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90950"/>
            <a:ext cx="721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팀의 1순위 업무 문제</a:t>
            </a:r>
          </a:p>
        </p:txBody>
      </p:sp>
      <p:sp>
        <p:nvSpPr>
          <p:cNvPr id="24" name="field-팀의 1순위 업무 문제">
            <a:extLst xmlns:a="http://schemas.openxmlformats.org/drawingml/2006/main">
              <a:ext uri="{FF2B5EF4-FFF2-40B4-BE49-F238E27FC236}">
                <a16:creationId xmlns:a16="http://schemas.microsoft.com/office/drawing/2014/main" id="{E20F91D4-6CD0-48B5-9881-DC5C2678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57650"/>
            <a:ext cx="72199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298FFFED-1D40-4B38-A9AA-DD20FE7E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0"/>
            <a:ext cx="6915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우리가 8월 21일에 구현해볼 문제를 한 문장으로 작성</a:t>
            </a:r>
          </a:p>
        </p:txBody>
      </p:sp>
    </p:spTree>
    <p:extLst>
      <p:ext uri="{BB962C8B-B14F-4D97-AF65-F5344CB8AC3E}">
        <p14:creationId xmlns:p14="http://schemas.microsoft.com/office/powerpoint/2010/main" val="16432972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9B9A2457-AE6A-4D8B-A2B9-67B4A424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9EE10123-2F9F-465A-AE5F-B35E688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EE486A2-4C24-4814-AEBD-6E376787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528F244-91E5-4B0B-80D7-47FFCDBC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728BFE59-0020-45EA-94BE-A06BF717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A4D61A14-F730-4034-8DF6-045A5F19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Project Canvas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2A56E92-513E-4BA1-908F-2434F042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Project Canvas는 8월 구현 수업의 입력값입니다.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6539DA3-12AB-49AE-BFDB-41EB2296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토론 결과를 6개 칸으로 고정하면, 8월 21일에는 구현과 멘토링으로 바로 들어갈 수 있습니다.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8036be6fd49a0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E1C6B4D-05A8-4703-A592-2FF08A84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11" name="card-CANVAS 1">
            <a:extLst xmlns:a="http://schemas.openxmlformats.org/drawingml/2006/main">
              <a:ext uri="{FF2B5EF4-FFF2-40B4-BE49-F238E27FC236}">
                <a16:creationId xmlns:a16="http://schemas.microsoft.com/office/drawing/2014/main" id="{DF8D6065-8233-4D6E-98D8-738FA3BD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48FBF70-89F3-4C74-8397-298E783E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03BDA471-8AD5-44F3-B6DA-728263FF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CANVAS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8D555BB9-BFFC-4CB0-82B8-34C02063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CC7FE26-C76C-4ECA-985A-118948AC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무엇이 느리고 반복되는가?</a:t>
            </a:r>
          </a:p>
        </p:txBody>
      </p:sp>
      <p:sp>
        <p:nvSpPr>
          <p:cNvPr id="16" name="card-CANVAS 2">
            <a:extLst xmlns:a="http://schemas.openxmlformats.org/drawingml/2006/main">
              <a:ext uri="{FF2B5EF4-FFF2-40B4-BE49-F238E27FC236}">
                <a16:creationId xmlns:a16="http://schemas.microsoft.com/office/drawing/2014/main" id="{D6424F7E-EDB1-4149-9B21-20A43462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87CC693-DF93-4237-927F-775A5600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66F571E3-30D4-4F63-9DB6-25B6AA1E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CANVAS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EFF79B8-2E7F-44F3-A58B-F30F2A5E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방식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F137A749-C7D8-417A-8941-F5C4E17D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 어떤 자료로 판단하는가?</a:t>
            </a:r>
          </a:p>
        </p:txBody>
      </p:sp>
      <p:sp>
        <p:nvSpPr>
          <p:cNvPr id="21" name="card-CANVAS 3">
            <a:extLst xmlns:a="http://schemas.openxmlformats.org/drawingml/2006/main">
              <a:ext uri="{FF2B5EF4-FFF2-40B4-BE49-F238E27FC236}">
                <a16:creationId xmlns:a16="http://schemas.microsoft.com/office/drawing/2014/main" id="{FF1C6300-9DBE-4A1F-86FB-58505C39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8678F3C-0668-4791-8B05-22550C39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669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0F7FEFC-42A4-4EDC-A405-C648A32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CANVAS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01ECE21C-9381-4339-980A-C27D48B9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05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입력/출력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D1E8F5AB-3BCA-4234-8214-32FC5B10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AI가 참고할 입력과 생성할 초안</a:t>
            </a:r>
          </a:p>
        </p:txBody>
      </p:sp>
      <p:sp>
        <p:nvSpPr>
          <p:cNvPr id="26" name="card-CANVAS 4">
            <a:extLst xmlns:a="http://schemas.openxmlformats.org/drawingml/2006/main">
              <a:ext uri="{FF2B5EF4-FFF2-40B4-BE49-F238E27FC236}">
                <a16:creationId xmlns:a16="http://schemas.microsoft.com/office/drawing/2014/main" id="{DEBF6ED0-998B-4E68-AE47-DE4B967C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9AF7826-4791-4AF4-9D32-F3F83D9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1F9E7573-D0A1-45C6-95CE-9B175A06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CANVAS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ECA59DF-7F37-4A7C-B73C-AB952FA3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 보조 역할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3116F70A-3D50-4E19-9E8C-C558474D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검색, 분류, 요약, 초안, 검증</a:t>
            </a:r>
          </a:p>
        </p:txBody>
      </p:sp>
      <p:sp>
        <p:nvSpPr>
          <p:cNvPr id="31" name="card-CANVAS 5">
            <a:extLst xmlns:a="http://schemas.openxmlformats.org/drawingml/2006/main">
              <a:ext uri="{FF2B5EF4-FFF2-40B4-BE49-F238E27FC236}">
                <a16:creationId xmlns:a16="http://schemas.microsoft.com/office/drawing/2014/main" id="{A9A0F4B0-6970-4FB4-ACF9-036DECCB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5424F58-AE2F-4A39-945C-C908F67D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5C79FDF-2632-4B49-B237-3F956A1A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CANVAS 5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D655B352-22C4-47E2-B13E-BB72E1F5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 검토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2521C69E-51B7-4400-B5D2-0110DE0A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품질, 보안, 승인, 예외 기준</a:t>
            </a:r>
          </a:p>
        </p:txBody>
      </p:sp>
      <p:sp>
        <p:nvSpPr>
          <p:cNvPr id="36" name="card-CANVAS 6">
            <a:extLst xmlns:a="http://schemas.openxmlformats.org/drawingml/2006/main">
              <a:ext uri="{FF2B5EF4-FFF2-40B4-BE49-F238E27FC236}">
                <a16:creationId xmlns:a16="http://schemas.microsoft.com/office/drawing/2014/main" id="{9B5A3BB8-CF2E-42DD-A49E-99078977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29050"/>
            <a:ext cx="3429000" cy="1390650"/>
          </a:xfrm>
          <a:prstGeom xmlns:a="http://schemas.openxmlformats.org/drawingml/2006/main" prst="roundRect">
            <a:avLst>
              <a:gd name="adj" fmla="val 123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BA0E8F6-7EFE-4E2B-A828-9BF74E46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29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label">
            <a:extLst xmlns:a="http://schemas.openxmlformats.org/drawingml/2006/main">
              <a:ext uri="{FF2B5EF4-FFF2-40B4-BE49-F238E27FC236}">
                <a16:creationId xmlns:a16="http://schemas.microsoft.com/office/drawing/2014/main" id="{2E6AEDA3-E181-457C-9B24-8998B99F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195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CANVAS 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806B5512-1DC3-4A6B-97B4-679537C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데모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AB5FA129-4BF8-4D5A-BF99-A210A811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48200"/>
            <a:ext cx="297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8시간 안에 시연할 범위</a:t>
            </a:r>
          </a:p>
        </p:txBody>
      </p:sp>
    </p:spTree>
    <p:extLst>
      <p:ext uri="{BB962C8B-B14F-4D97-AF65-F5344CB8AC3E}">
        <p14:creationId xmlns:p14="http://schemas.microsoft.com/office/powerpoint/2010/main" val="9242400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FA0662AF-D5F8-4EA8-A2F4-27C076DE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5E5F190-C618-40DA-A5C5-73205F47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5F2C4DC4-788A-4A2F-AF17-A35D5182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C20B6C17-3451-4552-84A8-91967BC9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0E977E97-80C3-4584-94BF-2496BBB5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A5592DA-7291-488C-A717-E3AAF74A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4 · 17:05-17:35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52734ED-39EA-4AB7-96B2-FEA09ED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A: 문제와 현재 업무 방식을 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D6F215A8-DB59-47FC-9B5E-DA0E9657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적용 전에 현재 업무의 입력, 판단, 산출물을 명확히 설명합니다.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a2f141c5a4562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C241AC8-BC4D-4C86-873F-F0D390D1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EE275949-07AD-445D-B4C6-94817397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64337B0-03C0-4A20-A90C-4F583533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0C22A1D4-9AF2-43D9-88D4-19145743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F85E4694-2205-4EA9-8F8C-493BE839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F2AEF8BF-1586-4DEA-B0D4-3A9F382B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 토론 20분 → 업무 문제 한 문장 확정 →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 입력/출력/병목 정리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15AECAAC-D888-4B31-A0CC-6020765E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F77FCFF-F6B2-4340-B3C8-E193831B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0FBCDB42-8B30-482B-A757-5092D976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92598297-6B58-4103-90DA-171E1CC6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E071C47E-9160-4213-8F7B-5DC94A98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 문제, 현재 방식, 병목, 산출물 정의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D71EA8CE-156D-4788-9B20-236067CF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E4E0249-87DA-4361-851E-600982E3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28F4AAF-BD8C-4970-A9B1-C5E92482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5D58822D-48DA-426A-8C4B-C26D2002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75A1D727-1AD7-496E-8EA2-B66ADA38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8305104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2D0F1CEC-334D-4E71-AD33-5466A4B8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4DFEA838-6EBA-4093-AA5A-76930BCD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F148E2B6-7CE1-40F8-B1E3-FCB2B0EC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3C2EC389-9BC0-4A79-8BD0-EA035223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89D35221-2557-47F8-BC4B-CF44B71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7D3FF4E-1FFE-4FC7-82DB-23DB0373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4A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3E60B2B-4E48-49FE-BBA6-993A461A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A: 문제와 현재 방식을 명확히 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4CB1118-B99C-4249-93DE-6F56F754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적용 전에 현재 업무가 어떤 입력, 판단, 산출물로 구성되는지 먼저 설명합니다.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4400e7bad42f2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A9D62AE-6340-4DD6-AB65-BF86CE10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91814FAA-F6EA-419F-AE60-72032FE0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 한 문장</a:t>
            </a:r>
          </a:p>
        </p:txBody>
      </p:sp>
      <p:sp>
        <p:nvSpPr>
          <p:cNvPr id="12" name="field-업무 문제 한 문장">
            <a:extLst xmlns:a="http://schemas.openxmlformats.org/drawingml/2006/main">
              <a:ext uri="{FF2B5EF4-FFF2-40B4-BE49-F238E27FC236}">
                <a16:creationId xmlns:a16="http://schemas.microsoft.com/office/drawing/2014/main" id="{CE624EBB-37AB-460F-B918-4972150E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143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7B5E9CB6-7CA1-454E-849D-2BAC60A6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4838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현업 요청을 유형별로 분류하고 답변 초안을 만드는 데 시간이 많이 든다.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C375C5E7-CB29-44AF-A05E-CAED2A38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산출물</a:t>
            </a:r>
          </a:p>
        </p:txBody>
      </p:sp>
      <p:sp>
        <p:nvSpPr>
          <p:cNvPr id="15" name="field-현재 산출물">
            <a:extLst xmlns:a="http://schemas.openxmlformats.org/drawingml/2006/main">
              <a:ext uri="{FF2B5EF4-FFF2-40B4-BE49-F238E27FC236}">
                <a16:creationId xmlns:a16="http://schemas.microsoft.com/office/drawing/2014/main" id="{A21C0877-5FD0-4D0A-8911-1E364482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62200"/>
            <a:ext cx="5143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89FBBB04-1202-45DE-844B-1CE9D14A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4838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예: 답변 메일, 검토 의견, 보고서, 처리 티켓, 개발 이슈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6DE4B319-9859-45A3-ADB0-49962864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입력 자료</a:t>
            </a:r>
          </a:p>
        </p:txBody>
      </p:sp>
      <p:sp>
        <p:nvSpPr>
          <p:cNvPr id="18" name="field-현재 입력 자료">
            <a:extLst xmlns:a="http://schemas.openxmlformats.org/drawingml/2006/main">
              <a:ext uri="{FF2B5EF4-FFF2-40B4-BE49-F238E27FC236}">
                <a16:creationId xmlns:a16="http://schemas.microsoft.com/office/drawing/2014/main" id="{60986859-F657-4B78-8BDE-88176639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D4C93668-7DA3-4A01-A0EE-22DAD034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문서 / 메일 / 표 / 로그 / 정책 / 회의록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F2FDA7C6-BD84-4EEE-ACBB-284153EE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판단 기준</a:t>
            </a:r>
          </a:p>
        </p:txBody>
      </p:sp>
      <p:sp>
        <p:nvSpPr>
          <p:cNvPr id="21" name="field-판단 기준">
            <a:extLst xmlns:a="http://schemas.openxmlformats.org/drawingml/2006/main">
              <a:ext uri="{FF2B5EF4-FFF2-40B4-BE49-F238E27FC236}">
                <a16:creationId xmlns:a16="http://schemas.microsoft.com/office/drawing/2014/main" id="{A2B63BF6-7D31-4038-87D6-065C91AF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100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75962C83-B13B-42CE-B173-DB0BB4A1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어떤 규칙, 경험, 승인 기준으로 판단하는가?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69220E25-829C-475C-9349-5F864C66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9433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병목</a:t>
            </a:r>
          </a:p>
        </p:txBody>
      </p:sp>
      <p:sp>
        <p:nvSpPr>
          <p:cNvPr id="24" name="field-현재 병목">
            <a:extLst xmlns:a="http://schemas.openxmlformats.org/drawingml/2006/main">
              <a:ext uri="{FF2B5EF4-FFF2-40B4-BE49-F238E27FC236}">
                <a16:creationId xmlns:a16="http://schemas.microsoft.com/office/drawing/2014/main" id="{7BFE944A-2850-4965-B4F4-A6673EAB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0050"/>
            <a:ext cx="33147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2321B7E4-CC94-40FD-9BB9-1B5E15B7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3009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시간, 정확도, 누락, 반복, 검색, 승인 중 어디가 문제인가?</a:t>
            </a:r>
          </a:p>
        </p:txBody>
      </p:sp>
    </p:spTree>
    <p:extLst>
      <p:ext uri="{BB962C8B-B14F-4D97-AF65-F5344CB8AC3E}">
        <p14:creationId xmlns:p14="http://schemas.microsoft.com/office/powerpoint/2010/main" val="6879697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4446EA1A-590D-44CE-8731-AE023C1E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64C8A82A-515D-478A-A571-8E081274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7A104220-0F0D-4955-BE21-8F22D2FD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A4041DDD-DC64-4D16-8367-0F2124C8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B3CB2BDE-4E99-4F5F-8243-D3AF9D34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63E15AA9-A832-49DB-AF40-53D8585B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5 · 17:35-17:55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A03B0C9-1084-4AC9-968B-D77B936C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B: AI 보조 역할과 사람 검토 기준을 나눕니다.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A2698CA1-6FB6-48B3-9009-3712D7B4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AI가 보조할 단계와 사람이 검토·승인할 단계를 분리해 8월 구현 범위를 줄입니다.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06a9cbe1e4b35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B8A003D-E8AB-4BD5-B93F-7B4ACB2F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F483BCCB-D2E3-46F3-96DC-6DACA851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F6132AE-799B-4C3C-9C7F-D422DF3D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E6610C18-BCA4-48C0-9EF0-FACE1AD0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70262F5-F70D-4689-8876-16D3BCB4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279E7BC3-B863-4362-B0AD-8BBE971E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역할 선택 → 사용 금지 자료 표시 →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품질·보안·승인 기준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606AF87B-7D7C-44A8-9AEA-20A5320F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B524A98-C3DA-4323-AB0A-A0978AE8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83513040-96F3-46E8-A176-FB9656CD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C07B2E80-3482-4C00-BE64-38353396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28EAB84A-0F15-41FC-8F62-63A9FBB8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Agent 흐름 초안과 검증 기준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C8C46E92-C368-4CB2-9343-182D273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54BEAA3-8271-43B1-A840-9F4AFE14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6B84F04E-AC45-40C3-B17E-40BA99BB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072B48EC-DC67-47A2-AFBA-3024D22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BEC9245F-EB95-45B2-9577-7FC77CF6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145639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6184E789-9501-4598-A8E2-DA710F68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825773CB-AA77-44B2-8840-5C6A0A75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3D9D2B6-78CF-4711-902B-A01CB8A9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89E737B4-B248-45D9-83A4-7ACA4604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A2F08093-9A55-4A13-BA31-D60185C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EB536556-CE98-4E53-876A-04F33820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4B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4310C75-C7C0-43E3-9F34-0295A452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Project Canvas B: AI 보조와 사람 검토를 분리합니다.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E4C3C948-9BB4-49EC-B642-0CEDEE51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Agent는 업무 전체를 대신하지 않고 반복 가능한 일부 단계를 보조합니다.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1b15edef44dba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6E6644D-0B84-498C-AB41-B54CF713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DE3867B-98EF-4B4F-A98C-D52BFDE6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</a:t>
            </a:r>
          </a:p>
        </p:txBody>
      </p:sp>
      <p:sp>
        <p:nvSpPr>
          <p:cNvPr id="12" name="field-AI가 보조할 일">
            <a:extLst xmlns:a="http://schemas.openxmlformats.org/drawingml/2006/main">
              <a:ext uri="{FF2B5EF4-FFF2-40B4-BE49-F238E27FC236}">
                <a16:creationId xmlns:a16="http://schemas.microsoft.com/office/drawing/2014/main" id="{4B34AF2C-E310-412A-A584-D036462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429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7AB1D4D3-48C0-410E-83AC-70ACEA89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312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검색 / 분류 / 요약 / 초안 / 코드 / 체크리스트 검증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2DBF41F9-7B95-4E88-B299-7D1744EC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사람이 검토할 일</a:t>
            </a:r>
          </a:p>
        </p:txBody>
      </p:sp>
      <p:sp>
        <p:nvSpPr>
          <p:cNvPr id="15" name="field-사람이 검토할 일">
            <a:extLst xmlns:a="http://schemas.openxmlformats.org/drawingml/2006/main">
              <a:ext uri="{FF2B5EF4-FFF2-40B4-BE49-F238E27FC236}">
                <a16:creationId xmlns:a16="http://schemas.microsoft.com/office/drawing/2014/main" id="{CB1F8A9A-984C-4826-8A81-E5F9B49D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429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82014D92-B13A-4B96-A92B-4C7449EF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57450"/>
            <a:ext cx="312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정확도 / 보안 / 승인 / 대외 전달 / 예외 판단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3DC81803-C5E8-4655-AF35-F8A07794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5740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 금지 자료</a:t>
            </a:r>
          </a:p>
        </p:txBody>
      </p:sp>
      <p:sp>
        <p:nvSpPr>
          <p:cNvPr id="18" name="field-사용 금지 자료">
            <a:extLst xmlns:a="http://schemas.openxmlformats.org/drawingml/2006/main">
              <a:ext uri="{FF2B5EF4-FFF2-40B4-BE49-F238E27FC236}">
                <a16:creationId xmlns:a16="http://schemas.microsoft.com/office/drawing/2014/main" id="{6F22C3EF-04DD-4D3F-8966-5BC840B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24100"/>
            <a:ext cx="33147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E8842A16-B5AB-4088-8F29-35C090CE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574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개인정보 / 운영 로그 원본 / 접근키 / 민감 계약·재무</a:t>
            </a:r>
          </a:p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621B24C3-6925-4F4A-8D3A-590A64B6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스파로스 데브엑스에서 만들 흐름</a:t>
            </a:r>
          </a:p>
        </p:txBody>
      </p:sp>
      <p:sp>
        <p:nvSpPr>
          <p:cNvPr id="21" name="field-스파로스 데브엑스에서 만들 흐름">
            <a:extLst xmlns:a="http://schemas.openxmlformats.org/drawingml/2006/main">
              <a:ext uri="{FF2B5EF4-FFF2-40B4-BE49-F238E27FC236}">
                <a16:creationId xmlns:a16="http://schemas.microsoft.com/office/drawing/2014/main" id="{6780B701-1A59-4DA5-A4C5-4CC8DB2D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143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B89B45C8-63B3-41F4-8B16-D20A39FD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4838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입력 → Context → Agent/도구 → 출력 → 사람 검토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3D763076-8A65-489D-ADB6-CC994D4B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052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품질 기준</a:t>
            </a:r>
          </a:p>
        </p:txBody>
      </p:sp>
      <p:sp>
        <p:nvSpPr>
          <p:cNvPr id="24" name="field-품질 기준">
            <a:extLst xmlns:a="http://schemas.openxmlformats.org/drawingml/2006/main">
              <a:ext uri="{FF2B5EF4-FFF2-40B4-BE49-F238E27FC236}">
                <a16:creationId xmlns:a16="http://schemas.microsoft.com/office/drawing/2014/main" id="{C6A62B2B-AB63-48C5-945A-2F2DCE8B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5143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9DF3409A-ABD7-419F-A3BF-5F9F02E6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05300"/>
            <a:ext cx="4838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정답 기준, 허용 오차, 실패 시 처리, 검토자, 승인 조건</a:t>
            </a:r>
          </a:p>
        </p:txBody>
      </p:sp>
    </p:spTree>
    <p:extLst>
      <p:ext uri="{BB962C8B-B14F-4D97-AF65-F5344CB8AC3E}">
        <p14:creationId xmlns:p14="http://schemas.microsoft.com/office/powerpoint/2010/main" val="787673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C49E7AB1-F1C9-4A3E-B796-9652A1FA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3192D009-648F-4261-9A2D-B53AEBDC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3D2BFA0-A25E-45C9-B4CD-1D3DA31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6A0FA898-3E5B-43BF-89DC-360ED8B0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7E663CDE-6698-4169-B564-A11C58C3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C040ECBF-422B-44AF-8681-77D90366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6 · 17:55-18:10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EC6F51A-7D41-4BFA-9A25-52A3C78A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 범위 고정: 시연 장면을 하나로 좁힙니다.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0B8B751-1C67-4C05-BFF5-20F24F8F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휴식 전까지 8월 21일에 보여줄 핵심 장면을 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28bb2822d4950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27BDEB9-81F5-4D91-AE66-5A8043BD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EF7789BC-C81E-47D6-918E-04F66B51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D2DA9F8-E71F-40A6-8D10-66E9D8B2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8F3EB0D-FE6F-4CBE-A926-BEBDA746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F49AFC0-203B-471F-B863-3C9FA5F4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960BD7BB-77CB-447C-93EE-AF10EBB8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 장면, 샘플 데이터, 성공 기준, 제외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범위를 한 장에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BFB45917-E257-488F-8734-3FCA08E3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CFAA5F2-9B62-42F3-80BC-9373FF6B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0FAD5EFB-476B-4D65-8E2F-0A09E28F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2875B0AD-1815-450B-9233-FA419345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7FFAE8A-19EF-4629-AE92-A0953B65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 구현 범위와 준비물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DEEE88B2-EC19-43C2-8ECD-B662BE41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6670B00-0ADC-4C6D-AC9B-685B1030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42745979-9997-4DE0-BCBD-B6582E38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D0BF0BF-9C46-4ECB-B88A-9B7856DC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6A2C2F2D-DBC9-48E2-8E61-BC7E168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5776786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125ECE77-1E17-4860-8299-5769DC63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A1CECD8F-55D5-48E1-A081-990CD4A4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2A74443-615B-46E8-B82E-43C664CA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A4512E23-F8C0-464F-B0CB-88FE4B6D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A2E0D09B-2CAA-4963-AD1C-A40CDC3A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EF04E5EC-0B8B-49C8-BA8B-96E69328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A54C878-CB6E-4844-9DB8-2464228D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데모 범위: 시연할 장면을 정의합니다.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E5BF31D0-1D9F-459D-BBB3-02C719C8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 8시간 구현 수업에서는 하나의 핵심 흐름이 작동하는지가 중요합니다.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25db1149042a7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CF62E8F-7570-4C52-936C-D08173D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887FFB94-2360-4E67-A8AE-70D65A1A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데모 장면</a:t>
            </a:r>
          </a:p>
        </p:txBody>
      </p:sp>
      <p:sp>
        <p:nvSpPr>
          <p:cNvPr id="12" name="field-데모 장면">
            <a:extLst xmlns:a="http://schemas.openxmlformats.org/drawingml/2006/main">
              <a:ext uri="{FF2B5EF4-FFF2-40B4-BE49-F238E27FC236}">
                <a16:creationId xmlns:a16="http://schemas.microsoft.com/office/drawing/2014/main" id="{70143767-55A6-43C8-8D64-092CFFEA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663E55B7-2FB6-43AB-971A-B88B802C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사용자가 무엇을 입력하고 어떤 결과를 보는가?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5F9D9814-7BD6-4CA7-87F9-9B895F7B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샘플 데이터</a:t>
            </a:r>
          </a:p>
        </p:txBody>
      </p:sp>
      <p:sp>
        <p:nvSpPr>
          <p:cNvPr id="15" name="field-샘플 데이터">
            <a:extLst xmlns:a="http://schemas.openxmlformats.org/drawingml/2006/main">
              <a:ext uri="{FF2B5EF4-FFF2-40B4-BE49-F238E27FC236}">
                <a16:creationId xmlns:a16="http://schemas.microsoft.com/office/drawing/2014/main" id="{0C7604F8-233F-405E-9483-D0ED4CD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3429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B5FAB44C-330C-4FEB-BA9C-B40FAFCC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3124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 사용할 안전한 샘플 문서/표/텍스트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7BCE980A-5DE9-465C-95D6-922B2AAD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성공 기준</a:t>
            </a:r>
          </a:p>
        </p:txBody>
      </p:sp>
      <p:sp>
        <p:nvSpPr>
          <p:cNvPr id="18" name="field-성공 기준">
            <a:extLst xmlns:a="http://schemas.openxmlformats.org/drawingml/2006/main">
              <a:ext uri="{FF2B5EF4-FFF2-40B4-BE49-F238E27FC236}">
                <a16:creationId xmlns:a16="http://schemas.microsoft.com/office/drawing/2014/main" id="{8FDB3343-22C8-44E7-9F81-6FC30F35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57450"/>
            <a:ext cx="33147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80F012E7-F4FB-4774-805D-9BC98528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90800"/>
            <a:ext cx="3009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데모가 성공했다고 판단할 최소 기준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09835C95-C5FB-4F4E-842D-4C6CB4BE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구현에서 제외할 것</a:t>
            </a:r>
          </a:p>
        </p:txBody>
      </p:sp>
      <p:sp>
        <p:nvSpPr>
          <p:cNvPr id="21" name="field-구현에서 제외할 것">
            <a:extLst xmlns:a="http://schemas.openxmlformats.org/drawingml/2006/main">
              <a:ext uri="{FF2B5EF4-FFF2-40B4-BE49-F238E27FC236}">
                <a16:creationId xmlns:a16="http://schemas.microsoft.com/office/drawing/2014/main" id="{F5A1B8B1-5F57-4012-98EF-B3F4DAAC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143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F4131C5B-F5B2-4E9F-A652-FC3A4E7A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4838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로그인/권한/실데이터 연동/대외 배포 등 이번 데모에서 제외할 범위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A51EAC76-8D33-433E-9001-294015B6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910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멘토에게 물어볼 것</a:t>
            </a:r>
          </a:p>
        </p:txBody>
      </p:sp>
      <p:sp>
        <p:nvSpPr>
          <p:cNvPr id="24" name="field-멘토에게 물어볼 것">
            <a:extLst xmlns:a="http://schemas.openxmlformats.org/drawingml/2006/main">
              <a:ext uri="{FF2B5EF4-FFF2-40B4-BE49-F238E27FC236}">
                <a16:creationId xmlns:a16="http://schemas.microsoft.com/office/drawing/2014/main" id="{B429948F-422A-41D0-AD5B-9599A8B7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57700"/>
            <a:ext cx="5143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7CFD0A07-E706-4DDE-8DAA-187AEE93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91050"/>
            <a:ext cx="4838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 구현, 품질 검증, 데이터 구성, 발표 구조 관련 질문</a:t>
            </a:r>
          </a:p>
        </p:txBody>
      </p:sp>
    </p:spTree>
    <p:extLst>
      <p:ext uri="{BB962C8B-B14F-4D97-AF65-F5344CB8AC3E}">
        <p14:creationId xmlns:p14="http://schemas.microsoft.com/office/powerpoint/2010/main" val="59224559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9D1C629B-413F-4769-8F26-ADC8600A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42197386-B3E9-428C-8F6F-14E56138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5AEED236-BEE1-4DE1-A0F9-F2DEB279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EB748909-502A-4BD9-8445-C806E48D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254AA02D-1C36-47EA-B43A-C7DA7A96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1DE4390-5772-4810-ABF3-2EB6E649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7 · 18:10-18:35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3474263-267B-4ADB-BCE5-71CAB55B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발표: 5분 안에 과제 방향을 공유합니다.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9F59B56-A7D9-489B-8E34-06313D89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 팀과 멘토 질문을 통해 구현 가능성과 리스크를 빠르게 검토합니다.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a9be66a484792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6F0DC39-AA52-44D2-973D-9CBE6D8A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B09AF006-98C7-44F1-A2AA-C3F501CD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167D63B-B459-418F-9250-96B01379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CFA01D78-B592-42F4-AD9A-9E1FF0D5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39DD5E4-85A4-40A4-82B2-C21FFC59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2FFF20BC-CA27-49B5-94B9-D56412FA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5개 팀 x 5분 발표. 질문은 발표 후 피드백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기록지에 남김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5EFEE2FE-7E8F-43E6-BC86-95B13890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94B6550-CF66-44A6-A085-72E8C57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ACA7AB76-9111-462B-A565-279AF3C5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5E24B3F1-2414-443F-99A1-5528707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4604896-3AFF-41A3-80BF-00E694C2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발표 내용과 개선 질문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CBD058E5-7082-4135-A9AA-E78BC3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7024F6F-27EB-49FC-9332-86848422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13752923-C2C3-46D7-86F0-A8EEA3FA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38A29DD-B33B-4DD1-A370-B52FBBBE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57224CD5-2A4B-488B-8D68-B8585ED0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10944549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19BE37E6-4A29-42D8-9C9E-0539B726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BD9E2F67-72CA-411A-8587-191621A6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FC3761AE-9033-4710-8090-8A7CFEAE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533C5A90-55E5-4360-B36D-87DE6582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47FBC48A-B4E8-4ADE-9503-138F6269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1D0F24A2-06C3-4572-8213-08A306B7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발표 템플릿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367A138-9145-4DAB-8BB5-132EF491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1차 발표는 5분 안에 같은 순서로 진행합니다.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6452C9B-E1B6-4644-BC08-36471D14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질문은 발표 후 받습니다. 발표자는 솔루션보다 업무 문제와 구현 가능성을 먼저 말합니다.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71940dcfa43e6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22947C3-A930-40F3-8818-BC3A3556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11" name="card-1분">
            <a:extLst xmlns:a="http://schemas.openxmlformats.org/drawingml/2006/main">
              <a:ext uri="{FF2B5EF4-FFF2-40B4-BE49-F238E27FC236}">
                <a16:creationId xmlns:a16="http://schemas.microsoft.com/office/drawing/2014/main" id="{1092A2C5-EB59-4483-8DC5-62E31D3E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82F4996-3BE6-4F06-83DA-C4F8C392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0F496B5-00C4-41EA-88DA-65A77830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A58CA58F-3E79-429E-BFEE-DB8AB42E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 문제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3621B1A1-BAFC-4ECC-A44A-FAEE8DC6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 어떤 업무가 왜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어렵고 반복되는가?</a:t>
            </a:r>
          </a:p>
        </p:txBody>
      </p:sp>
      <p:sp>
        <p:nvSpPr>
          <p:cNvPr id="16" name="card-1분">
            <a:extLst xmlns:a="http://schemas.openxmlformats.org/drawingml/2006/main">
              <a:ext uri="{FF2B5EF4-FFF2-40B4-BE49-F238E27FC236}">
                <a16:creationId xmlns:a16="http://schemas.microsoft.com/office/drawing/2014/main" id="{0CE2F155-F9F5-4572-8A30-A842B3B0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9C76316-35A3-4E08-A474-D11844BF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5E1F53C7-2C55-4FF6-A3CC-F2D4FEE6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E59C849C-53CD-47F9-9497-C884BA96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현재 방식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DBF144A0-F451-440F-BC3B-8A487279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입력 자료, 판단 기준,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산출물은 무엇인가?</a:t>
            </a:r>
          </a:p>
        </p:txBody>
      </p:sp>
      <p:sp>
        <p:nvSpPr>
          <p:cNvPr id="21" name="card-1분">
            <a:extLst xmlns:a="http://schemas.openxmlformats.org/drawingml/2006/main">
              <a:ext uri="{FF2B5EF4-FFF2-40B4-BE49-F238E27FC236}">
                <a16:creationId xmlns:a16="http://schemas.microsoft.com/office/drawing/2014/main" id="{65E38B8D-5652-4335-AF10-6D92583B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DDEE89B-C873-4600-923F-52D049B4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52E56232-E618-443B-834C-C2830D64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9F7E7032-9640-49CB-B323-AA6EAFAD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 보조 역할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8E431690-FBAB-44BD-8D02-A119D798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Agent가 보조할 단계와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사람이 검토할 단계는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무엇인가?</a:t>
            </a:r>
          </a:p>
        </p:txBody>
      </p:sp>
      <p:sp>
        <p:nvSpPr>
          <p:cNvPr id="26" name="card-1분">
            <a:extLst xmlns:a="http://schemas.openxmlformats.org/drawingml/2006/main">
              <a:ext uri="{FF2B5EF4-FFF2-40B4-BE49-F238E27FC236}">
                <a16:creationId xmlns:a16="http://schemas.microsoft.com/office/drawing/2014/main" id="{1568C5DB-FBF6-415B-8249-C39A15FA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52A7D6D-F712-4872-A690-E105A89A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E70ECBD8-9D26-42CC-B740-6E955038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40103AD0-DAFD-4EE2-B72D-13544AAA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데모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9A0BD99C-9426-48B1-A7EC-8E3BC3BC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21일에 어떤 시연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장면을 보여줄 것인가?</a:t>
            </a:r>
          </a:p>
        </p:txBody>
      </p:sp>
      <p:sp>
        <p:nvSpPr>
          <p:cNvPr id="31" name="card-1분">
            <a:extLst xmlns:a="http://schemas.openxmlformats.org/drawingml/2006/main">
              <a:ext uri="{FF2B5EF4-FFF2-40B4-BE49-F238E27FC236}">
                <a16:creationId xmlns:a16="http://schemas.microsoft.com/office/drawing/2014/main" id="{56E56649-3E25-48BE-9B0F-1BF7333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33625"/>
            <a:ext cx="2000250" cy="2714625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8392A67-7B55-4497-9ED2-4B1E6CAB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33625"/>
            <a:ext cx="762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ard-label">
            <a:extLst xmlns:a="http://schemas.openxmlformats.org/drawingml/2006/main">
              <a:ext uri="{FF2B5EF4-FFF2-40B4-BE49-F238E27FC236}">
                <a16:creationId xmlns:a16="http://schemas.microsoft.com/office/drawing/2014/main" id="{C5B027E8-A14A-460F-BB9E-BBE681D0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2412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6B7CFF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34" name="card-title">
            <a:extLst xmlns:a="http://schemas.openxmlformats.org/drawingml/2006/main">
              <a:ext uri="{FF2B5EF4-FFF2-40B4-BE49-F238E27FC236}">
                <a16:creationId xmlns:a16="http://schemas.microsoft.com/office/drawing/2014/main" id="{83A8A7E6-1527-4685-8BAB-4CA452E3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09875"/>
            <a:ext cx="1543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35" name="card-body">
            <a:extLst xmlns:a="http://schemas.openxmlformats.org/drawingml/2006/main">
              <a:ext uri="{FF2B5EF4-FFF2-40B4-BE49-F238E27FC236}">
                <a16:creationId xmlns:a16="http://schemas.microsoft.com/office/drawing/2014/main" id="{8F4FC55C-B25A-4EBF-BD8E-AEBF6D70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24225"/>
            <a:ext cx="15430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수업 전까지 누가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어떤 자료를 준비할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것인가?</a:t>
            </a:r>
          </a:p>
        </p:txBody>
      </p:sp>
    </p:spTree>
    <p:extLst>
      <p:ext uri="{BB962C8B-B14F-4D97-AF65-F5344CB8AC3E}">
        <p14:creationId xmlns:p14="http://schemas.microsoft.com/office/powerpoint/2010/main" val="21442455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42A70CBE-399B-4FEC-9261-A7C7AC67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006B0FCA-1644-4D9D-B8B9-D7794DE4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60615253-FAD1-4C46-8500-7CD9A160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147ABCBB-FFE6-4633-A0B5-EF888D37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CFC191A9-B852-4112-978F-90A3D33A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41A927EF-5429-4608-B02D-E0C2F256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피드백 기준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4AC6694-90EF-4D6F-9091-EDB870AE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피드백은 아이디어 평가가 아니라 구현 가능성 검토입니다.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05D851E5-A8B3-4A80-8AEE-8DC80299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 팀은 아래 네 기준으로 질문하고, 발표 팀은 준비계획에 반영합니다.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bfd6bc0e84108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BD93B2E-4733-42BB-900E-72AE03D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11" name="card-CHECK 1">
            <a:extLst xmlns:a="http://schemas.openxmlformats.org/drawingml/2006/main">
              <a:ext uri="{FF2B5EF4-FFF2-40B4-BE49-F238E27FC236}">
                <a16:creationId xmlns:a16="http://schemas.microsoft.com/office/drawing/2014/main" id="{300375E9-9701-4D23-AD81-ACBA705D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C5777FD-6043-42FA-89FA-9F3C632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3734D75E-C314-4894-B2CF-2D1B8C19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CHECK 1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F8B93D54-CBFD-491E-9412-880EC5AD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현업성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D0B7A6E-517B-4E28-80C0-81F8CD50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 문제가 실제 업무 시간을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줄이거나 품질을 높이는가?</a:t>
            </a:r>
          </a:p>
        </p:txBody>
      </p:sp>
      <p:sp>
        <p:nvSpPr>
          <p:cNvPr id="16" name="card-CHECK 2">
            <a:extLst xmlns:a="http://schemas.openxmlformats.org/drawingml/2006/main">
              <a:ext uri="{FF2B5EF4-FFF2-40B4-BE49-F238E27FC236}">
                <a16:creationId xmlns:a16="http://schemas.microsoft.com/office/drawing/2014/main" id="{B3E5953A-977D-4B8A-BE2F-F95F86B4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12A8A3F-1F5B-4020-B7C4-918F382B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239BD2C4-89D9-49FE-B758-4A0931E0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CHECK 2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0C6568A0-C485-4376-A63F-2B2C4C11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자료성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D216D7D9-78C4-4FBB-AC88-F1F80EE0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21일에 안전한 샘플 자료를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가져올 수 있는가?</a:t>
            </a:r>
          </a:p>
        </p:txBody>
      </p:sp>
      <p:sp>
        <p:nvSpPr>
          <p:cNvPr id="21" name="card-CHECK 3">
            <a:extLst xmlns:a="http://schemas.openxmlformats.org/drawingml/2006/main">
              <a:ext uri="{FF2B5EF4-FFF2-40B4-BE49-F238E27FC236}">
                <a16:creationId xmlns:a16="http://schemas.microsoft.com/office/drawing/2014/main" id="{2C986AC8-EA32-4584-88BD-D93EB88C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46B7ED9-A430-4D43-B49B-0C0F3BA3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B1557895-458C-4652-8621-311E0E05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CHECK 3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CBF93FDD-9E26-4FCE-8F73-C034A364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구현성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5BD22C1A-83E8-499A-97CA-92566EDE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스파로스 데브엑스에서 하루 안에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핵심 흐름을 만들 수 있는가?</a:t>
            </a:r>
          </a:p>
        </p:txBody>
      </p:sp>
      <p:sp>
        <p:nvSpPr>
          <p:cNvPr id="26" name="card-CHECK 4">
            <a:extLst xmlns:a="http://schemas.openxmlformats.org/drawingml/2006/main">
              <a:ext uri="{FF2B5EF4-FFF2-40B4-BE49-F238E27FC236}">
                <a16:creationId xmlns:a16="http://schemas.microsoft.com/office/drawing/2014/main" id="{BC1F558B-7A2E-4B3A-98A5-67AD18D0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28875"/>
            <a:ext cx="25527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9E16AF65-2DC6-4F45-9497-848A8ED0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28875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label">
            <a:extLst xmlns:a="http://schemas.openxmlformats.org/drawingml/2006/main">
              <a:ext uri="{FF2B5EF4-FFF2-40B4-BE49-F238E27FC236}">
                <a16:creationId xmlns:a16="http://schemas.microsoft.com/office/drawing/2014/main" id="{3625477A-B126-4A73-A273-906BA55B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19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FFC400"/>
                </a:solidFill>
                <a:latin typeface="Pretendard"/>
                <a:ea typeface="Pretendard"/>
                <a:cs typeface="Pretendard"/>
              </a:rPr>
              <a:t>CHECK 4</a:t>
            </a:r>
          </a:p>
        </p:txBody>
      </p:sp>
      <p:sp>
        <p:nvSpPr>
          <p:cNvPr id="29" name="card-title">
            <a:extLst xmlns:a="http://schemas.openxmlformats.org/drawingml/2006/main">
              <a:ext uri="{FF2B5EF4-FFF2-40B4-BE49-F238E27FC236}">
                <a16:creationId xmlns:a16="http://schemas.microsoft.com/office/drawing/2014/main" id="{3E4489DE-3914-4E81-BD8B-433F459F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0512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검증성</a:t>
            </a:r>
          </a:p>
        </p:txBody>
      </p:sp>
      <p:sp>
        <p:nvSpPr>
          <p:cNvPr id="30" name="card-body">
            <a:extLst xmlns:a="http://schemas.openxmlformats.org/drawingml/2006/main">
              <a:ext uri="{FF2B5EF4-FFF2-40B4-BE49-F238E27FC236}">
                <a16:creationId xmlns:a16="http://schemas.microsoft.com/office/drawing/2014/main" id="{0AEC8A18-B9CE-4256-AE2C-3E98648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19475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 결과를 사람이 검토할 기준이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분명한가?</a:t>
            </a:r>
          </a:p>
        </p:txBody>
      </p:sp>
    </p:spTree>
    <p:extLst>
      <p:ext uri="{BB962C8B-B14F-4D97-AF65-F5344CB8AC3E}">
        <p14:creationId xmlns:p14="http://schemas.microsoft.com/office/powerpoint/2010/main" val="13879318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FB97D130-E111-473D-9CCD-21F2F59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4F001C05-7803-4026-AA43-FC87FE50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BC80003F-0609-4D6C-832D-44739DB9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F2BCE3C5-F540-441A-9EED-A1C290A5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E50837E2-870B-419C-9A72-C8D73661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0DDF455-92C6-43E4-9B2E-CF903DED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6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3555F60-EF75-4986-AD53-076030FD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동료 피드백 기록지: 각 팀 발표를 들으며 질문을 남깁니다.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96620665-A9F3-446A-8AB2-B65A15FE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좋은 질문은 8월 구현 리스크를 줄이는 질문입니다.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31a1f54ff4e94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464100F-3665-44E2-8CFF-C5D383FA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11" name="fb-header">
            <a:extLst xmlns:a="http://schemas.openxmlformats.org/drawingml/2006/main">
              <a:ext uri="{FF2B5EF4-FFF2-40B4-BE49-F238E27FC236}">
                <a16:creationId xmlns:a16="http://schemas.microsoft.com/office/drawing/2014/main" id="{4378178B-3772-4A3B-9B21-E5451742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2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10A77EDF-DBF4-44CC-936D-3C9E04CB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</a:t>
            </a:r>
          </a:p>
        </p:txBody>
      </p:sp>
      <p:sp>
        <p:nvSpPr>
          <p:cNvPr id="13" name="fb-header">
            <a:extLst xmlns:a="http://schemas.openxmlformats.org/drawingml/2006/main">
              <a:ext uri="{FF2B5EF4-FFF2-40B4-BE49-F238E27FC236}">
                <a16:creationId xmlns:a16="http://schemas.microsoft.com/office/drawing/2014/main" id="{52E1C54B-F5E2-47EC-AB04-C8E9060C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145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4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FC0B9B0D-5525-4F62-8B16-103DA563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383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강점</a:t>
            </a:r>
          </a:p>
        </p:txBody>
      </p:sp>
      <p:sp>
        <p:nvSpPr>
          <p:cNvPr id="15" name="fb-header">
            <a:extLst xmlns:a="http://schemas.openxmlformats.org/drawingml/2006/main">
              <a:ext uri="{FF2B5EF4-FFF2-40B4-BE49-F238E27FC236}">
                <a16:creationId xmlns:a16="http://schemas.microsoft.com/office/drawing/2014/main" id="{B6458257-157A-4D8B-A15F-3E4B627A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145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F4E16258-71B1-42B1-A0F6-0F08CA52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383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가장 큰 리스크</a:t>
            </a:r>
          </a:p>
        </p:txBody>
      </p:sp>
      <p:sp>
        <p:nvSpPr>
          <p:cNvPr id="17" name="fb-header">
            <a:extLst xmlns:a="http://schemas.openxmlformats.org/drawingml/2006/main">
              <a:ext uri="{FF2B5EF4-FFF2-40B4-BE49-F238E27FC236}">
                <a16:creationId xmlns:a16="http://schemas.microsoft.com/office/drawing/2014/main" id="{789D01AA-7743-4748-91B7-F721D793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14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8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8643C7C3-898A-45A6-AFFF-73D06E88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 자료</a:t>
            </a:r>
          </a:p>
        </p:txBody>
      </p:sp>
      <p:sp>
        <p:nvSpPr>
          <p:cNvPr id="19" name="fb-header">
            <a:extLst xmlns:a="http://schemas.openxmlformats.org/drawingml/2006/main">
              <a:ext uri="{FF2B5EF4-FFF2-40B4-BE49-F238E27FC236}">
                <a16:creationId xmlns:a16="http://schemas.microsoft.com/office/drawing/2014/main" id="{12701C5B-CA09-45A4-B65A-49C7472B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14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0" name="fb-header-text">
            <a:extLst xmlns:a="http://schemas.openxmlformats.org/drawingml/2006/main">
              <a:ext uri="{FF2B5EF4-FFF2-40B4-BE49-F238E27FC236}">
                <a16:creationId xmlns:a16="http://schemas.microsoft.com/office/drawing/2014/main" id="{EACE6C61-0107-44C7-984E-BD9C88A5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38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21" name="fb-cell">
            <a:extLst xmlns:a="http://schemas.openxmlformats.org/drawingml/2006/main">
              <a:ext uri="{FF2B5EF4-FFF2-40B4-BE49-F238E27FC236}">
                <a16:creationId xmlns:a16="http://schemas.microsoft.com/office/drawing/2014/main" id="{1D9D2415-AAE2-4D4E-834C-4E38BA52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team-label">
            <a:extLst xmlns:a="http://schemas.openxmlformats.org/drawingml/2006/main">
              <a:ext uri="{FF2B5EF4-FFF2-40B4-BE49-F238E27FC236}">
                <a16:creationId xmlns:a16="http://schemas.microsoft.com/office/drawing/2014/main" id="{60D90AB5-4087-47C1-BECA-88C809E5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1</a:t>
            </a:r>
          </a:p>
        </p:txBody>
      </p:sp>
      <p:sp>
        <p:nvSpPr>
          <p:cNvPr id="23" name="fb-cell">
            <a:extLst xmlns:a="http://schemas.openxmlformats.org/drawingml/2006/main">
              <a:ext uri="{FF2B5EF4-FFF2-40B4-BE49-F238E27FC236}">
                <a16:creationId xmlns:a16="http://schemas.microsoft.com/office/drawing/2014/main" id="{A64C8D0D-E4E9-4F24-A38C-B8B42FFA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71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4" name="fb-cell">
            <a:extLst xmlns:a="http://schemas.openxmlformats.org/drawingml/2006/main">
              <a:ext uri="{FF2B5EF4-FFF2-40B4-BE49-F238E27FC236}">
                <a16:creationId xmlns:a16="http://schemas.microsoft.com/office/drawing/2014/main" id="{99240A54-615C-470D-8EE7-1B385B55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b-cell">
            <a:extLst xmlns:a="http://schemas.openxmlformats.org/drawingml/2006/main">
              <a:ext uri="{FF2B5EF4-FFF2-40B4-BE49-F238E27FC236}">
                <a16:creationId xmlns:a16="http://schemas.microsoft.com/office/drawing/2014/main" id="{DC916421-E80A-4142-9A75-58C0454B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6" name="fb-cell">
            <a:extLst xmlns:a="http://schemas.openxmlformats.org/drawingml/2006/main">
              <a:ext uri="{FF2B5EF4-FFF2-40B4-BE49-F238E27FC236}">
                <a16:creationId xmlns:a16="http://schemas.microsoft.com/office/drawing/2014/main" id="{4580EAF8-0081-4916-A38C-6DDEA85B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7" name="fb-cell">
            <a:extLst xmlns:a="http://schemas.openxmlformats.org/drawingml/2006/main">
              <a:ext uri="{FF2B5EF4-FFF2-40B4-BE49-F238E27FC236}">
                <a16:creationId xmlns:a16="http://schemas.microsoft.com/office/drawing/2014/main" id="{B8D18784-458A-4459-AB46-B1B40810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8" name="team-label">
            <a:extLst xmlns:a="http://schemas.openxmlformats.org/drawingml/2006/main">
              <a:ext uri="{FF2B5EF4-FFF2-40B4-BE49-F238E27FC236}">
                <a16:creationId xmlns:a16="http://schemas.microsoft.com/office/drawing/2014/main" id="{68A66B4A-A868-4B29-A097-20B8F769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2</a:t>
            </a:r>
          </a:p>
        </p:txBody>
      </p:sp>
      <p:sp>
        <p:nvSpPr>
          <p:cNvPr id="29" name="fb-cell">
            <a:extLst xmlns:a="http://schemas.openxmlformats.org/drawingml/2006/main">
              <a:ext uri="{FF2B5EF4-FFF2-40B4-BE49-F238E27FC236}">
                <a16:creationId xmlns:a16="http://schemas.microsoft.com/office/drawing/2014/main" id="{D563AD57-D306-42A0-82B6-C64AA87A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24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0" name="fb-cell">
            <a:extLst xmlns:a="http://schemas.openxmlformats.org/drawingml/2006/main">
              <a:ext uri="{FF2B5EF4-FFF2-40B4-BE49-F238E27FC236}">
                <a16:creationId xmlns:a16="http://schemas.microsoft.com/office/drawing/2014/main" id="{3EABB9AA-5E5D-43F8-8793-BDC0CA7F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1" name="fb-cell">
            <a:extLst xmlns:a="http://schemas.openxmlformats.org/drawingml/2006/main">
              <a:ext uri="{FF2B5EF4-FFF2-40B4-BE49-F238E27FC236}">
                <a16:creationId xmlns:a16="http://schemas.microsoft.com/office/drawing/2014/main" id="{A1D891A5-872B-4E4E-B56E-CA614EAE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242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2" name="fb-cell">
            <a:extLst xmlns:a="http://schemas.openxmlformats.org/drawingml/2006/main">
              <a:ext uri="{FF2B5EF4-FFF2-40B4-BE49-F238E27FC236}">
                <a16:creationId xmlns:a16="http://schemas.microsoft.com/office/drawing/2014/main" id="{C8D6A0B9-B491-47A2-B670-AC39F506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242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3" name="fb-cell">
            <a:extLst xmlns:a="http://schemas.openxmlformats.org/drawingml/2006/main">
              <a:ext uri="{FF2B5EF4-FFF2-40B4-BE49-F238E27FC236}">
                <a16:creationId xmlns:a16="http://schemas.microsoft.com/office/drawing/2014/main" id="{1E9DD80D-B4C2-42B3-8BC1-0CB16F73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4" name="team-label">
            <a:extLst xmlns:a="http://schemas.openxmlformats.org/drawingml/2006/main">
              <a:ext uri="{FF2B5EF4-FFF2-40B4-BE49-F238E27FC236}">
                <a16:creationId xmlns:a16="http://schemas.microsoft.com/office/drawing/2014/main" id="{88F0C9C1-BC4A-4D88-B842-F8C08C28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3</a:t>
            </a:r>
          </a:p>
        </p:txBody>
      </p:sp>
      <p:sp>
        <p:nvSpPr>
          <p:cNvPr id="35" name="fb-cell">
            <a:extLst xmlns:a="http://schemas.openxmlformats.org/drawingml/2006/main">
              <a:ext uri="{FF2B5EF4-FFF2-40B4-BE49-F238E27FC236}">
                <a16:creationId xmlns:a16="http://schemas.microsoft.com/office/drawing/2014/main" id="{9BB20032-DAD0-4719-B791-89D51B9B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6" name="fb-cell">
            <a:extLst xmlns:a="http://schemas.openxmlformats.org/drawingml/2006/main">
              <a:ext uri="{FF2B5EF4-FFF2-40B4-BE49-F238E27FC236}">
                <a16:creationId xmlns:a16="http://schemas.microsoft.com/office/drawing/2014/main" id="{2A23F088-8387-46E8-B1CF-26566CB3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7" name="fb-cell">
            <a:extLst xmlns:a="http://schemas.openxmlformats.org/drawingml/2006/main">
              <a:ext uri="{FF2B5EF4-FFF2-40B4-BE49-F238E27FC236}">
                <a16:creationId xmlns:a16="http://schemas.microsoft.com/office/drawing/2014/main" id="{C763226C-9FE8-4214-874D-A53B00F1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766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8" name="fb-cell">
            <a:extLst xmlns:a="http://schemas.openxmlformats.org/drawingml/2006/main">
              <a:ext uri="{FF2B5EF4-FFF2-40B4-BE49-F238E27FC236}">
                <a16:creationId xmlns:a16="http://schemas.microsoft.com/office/drawing/2014/main" id="{1AA3F784-78C8-4E64-A49F-58EF39B3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766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39" name="fb-cell">
            <a:extLst xmlns:a="http://schemas.openxmlformats.org/drawingml/2006/main">
              <a:ext uri="{FF2B5EF4-FFF2-40B4-BE49-F238E27FC236}">
                <a16:creationId xmlns:a16="http://schemas.microsoft.com/office/drawing/2014/main" id="{786F3CAB-5439-49AB-A2B7-91C4890C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0" name="team-label">
            <a:extLst xmlns:a="http://schemas.openxmlformats.org/drawingml/2006/main">
              <a:ext uri="{FF2B5EF4-FFF2-40B4-BE49-F238E27FC236}">
                <a16:creationId xmlns:a16="http://schemas.microsoft.com/office/drawing/2014/main" id="{3928F476-E2A1-4E45-9887-FD37243F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4</a:t>
            </a:r>
          </a:p>
        </p:txBody>
      </p:sp>
      <p:sp>
        <p:nvSpPr>
          <p:cNvPr id="41" name="fb-cell">
            <a:extLst xmlns:a="http://schemas.openxmlformats.org/drawingml/2006/main">
              <a:ext uri="{FF2B5EF4-FFF2-40B4-BE49-F238E27FC236}">
                <a16:creationId xmlns:a16="http://schemas.microsoft.com/office/drawing/2014/main" id="{FDB9D119-074F-4D39-A8AF-6F5219E5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291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2" name="fb-cell">
            <a:extLst xmlns:a="http://schemas.openxmlformats.org/drawingml/2006/main">
              <a:ext uri="{FF2B5EF4-FFF2-40B4-BE49-F238E27FC236}">
                <a16:creationId xmlns:a16="http://schemas.microsoft.com/office/drawing/2014/main" id="{8E6B10E1-D5B6-4083-8840-D2DDC978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3" name="fb-cell">
            <a:extLst xmlns:a="http://schemas.openxmlformats.org/drawingml/2006/main">
              <a:ext uri="{FF2B5EF4-FFF2-40B4-BE49-F238E27FC236}">
                <a16:creationId xmlns:a16="http://schemas.microsoft.com/office/drawing/2014/main" id="{6BC1525D-9B4D-4DA3-94AE-B18CBE7B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4" name="fb-cell">
            <a:extLst xmlns:a="http://schemas.openxmlformats.org/drawingml/2006/main">
              <a:ext uri="{FF2B5EF4-FFF2-40B4-BE49-F238E27FC236}">
                <a16:creationId xmlns:a16="http://schemas.microsoft.com/office/drawing/2014/main" id="{464BBA96-E176-44DF-A2C3-1166FD6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291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5" name="fb-cell">
            <a:extLst xmlns:a="http://schemas.openxmlformats.org/drawingml/2006/main">
              <a:ext uri="{FF2B5EF4-FFF2-40B4-BE49-F238E27FC236}">
                <a16:creationId xmlns:a16="http://schemas.microsoft.com/office/drawing/2014/main" id="{4CB1B20B-CC21-45BC-B5AB-5CF4301E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95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6" name="team-label">
            <a:extLst xmlns:a="http://schemas.openxmlformats.org/drawingml/2006/main">
              <a:ext uri="{FF2B5EF4-FFF2-40B4-BE49-F238E27FC236}">
                <a16:creationId xmlns:a16="http://schemas.microsoft.com/office/drawing/2014/main" id="{72ADC86B-FD6F-4CB9-8EAA-0020282C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Team 5</a:t>
            </a:r>
          </a:p>
        </p:txBody>
      </p:sp>
      <p:sp>
        <p:nvSpPr>
          <p:cNvPr id="47" name="fb-cell">
            <a:extLst xmlns:a="http://schemas.openxmlformats.org/drawingml/2006/main">
              <a:ext uri="{FF2B5EF4-FFF2-40B4-BE49-F238E27FC236}">
                <a16:creationId xmlns:a16="http://schemas.microsoft.com/office/drawing/2014/main" id="{610E3A69-56A5-4A79-80BF-318D3116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815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8" name="fb-cell">
            <a:extLst xmlns:a="http://schemas.openxmlformats.org/drawingml/2006/main">
              <a:ext uri="{FF2B5EF4-FFF2-40B4-BE49-F238E27FC236}">
                <a16:creationId xmlns:a16="http://schemas.microsoft.com/office/drawing/2014/main" id="{C29ACF2E-0EA0-4EBF-8044-B74D3390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815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49" name="fb-cell">
            <a:extLst xmlns:a="http://schemas.openxmlformats.org/drawingml/2006/main">
              <a:ext uri="{FF2B5EF4-FFF2-40B4-BE49-F238E27FC236}">
                <a16:creationId xmlns:a16="http://schemas.microsoft.com/office/drawing/2014/main" id="{3F2AE5B3-B08F-4A8F-B570-6C9DD77E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7815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50" name="fb-cell">
            <a:extLst xmlns:a="http://schemas.openxmlformats.org/drawingml/2006/main">
              <a:ext uri="{FF2B5EF4-FFF2-40B4-BE49-F238E27FC236}">
                <a16:creationId xmlns:a16="http://schemas.microsoft.com/office/drawing/2014/main" id="{90EAB887-1940-4D6F-810C-8112D3A8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796674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7FF380E4-8BDD-44E1-B9D5-6EF4352A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58A78153-3878-402C-BB2C-6627F959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8079DD6D-75E4-4185-B047-051ED6DF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513602E7-55B3-48EA-B4FD-1C712AA0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B17A4325-2631-4521-98D6-3E389A14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F882985A-9440-4423-B3DB-16E6FDE3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ACTIVITY 8 · 18:35-18:50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89278FB-7B3F-4628-942B-F853C7CA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준비계획 확정: 다음 수업 전까지 할 일을 배정합니다.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21BCF0EB-C6A2-4BD3-936C-DF176834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8월 21일이 아이디어 회의로 시작되지 않도록 준비물과 담당자를 확정합니다.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b9969656f4995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DA38449-F59B-4C35-8729-5A3CCEA6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11" name="card-진행 방법">
            <a:extLst xmlns:a="http://schemas.openxmlformats.org/drawingml/2006/main">
              <a:ext uri="{FF2B5EF4-FFF2-40B4-BE49-F238E27FC236}">
                <a16:creationId xmlns:a16="http://schemas.microsoft.com/office/drawing/2014/main" id="{2D5752F7-DB11-465B-B809-000B3845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D3A0B8E-EEF8-450B-969C-8E9B7A66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534FE8C3-E81A-4363-9F14-A07F416A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진행 방법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5B52A55F-29CC-4E67-B291-231F1E95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C896F796-53C3-4CAE-94C8-FF58E632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피드백 반영 → 샘플 자료/금지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자료/담당자/마감 작성</a:t>
            </a:r>
          </a:p>
        </p:txBody>
      </p:sp>
      <p:sp>
        <p:nvSpPr>
          <p:cNvPr id="16" name="card-결과물">
            <a:extLst xmlns:a="http://schemas.openxmlformats.org/drawingml/2006/main">
              <a:ext uri="{FF2B5EF4-FFF2-40B4-BE49-F238E27FC236}">
                <a16:creationId xmlns:a16="http://schemas.microsoft.com/office/drawing/2014/main" id="{DAF7CDCF-6E9E-4A5F-96A9-F36AF288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402D316-A1E4-41FD-B427-F23C2D8F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46FD5A4C-9F69-4E52-B822-E5EE964D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772C8193-43CC-46F8-AF2C-4BD033FC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Output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D724C5D6-1D37-40CD-B78E-3356BE9E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팀별 사전 준비 목록과 담당자</a:t>
            </a:r>
          </a:p>
        </p:txBody>
      </p:sp>
      <p:sp>
        <p:nvSpPr>
          <p:cNvPr id="21" name="card-운영 팁">
            <a:extLst xmlns:a="http://schemas.openxmlformats.org/drawingml/2006/main">
              <a:ext uri="{FF2B5EF4-FFF2-40B4-BE49-F238E27FC236}">
                <a16:creationId xmlns:a16="http://schemas.microsoft.com/office/drawing/2014/main" id="{8B6E6108-B018-43BA-88D6-1FADBCFF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7460783-3D96-42F1-83E1-E58E4E2F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9FA78FA9-AE86-496D-8B78-214AFB2C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 팁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B7D20B60-5BD6-4DB1-95DC-A62D469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Facilitator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0C097C96-0BA9-4738-8EC7-1C06BDB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타이머를 보이게 두고, 각 팀의 산출물은</a:t>
            </a:r>
          </a:p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 단계 장표에 바로 옮겨 적게 합니다.</a:t>
            </a:r>
          </a:p>
        </p:txBody>
      </p:sp>
    </p:spTree>
    <p:extLst>
      <p:ext uri="{BB962C8B-B14F-4D97-AF65-F5344CB8AC3E}">
        <p14:creationId xmlns:p14="http://schemas.microsoft.com/office/powerpoint/2010/main" val="41638786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8CF345BB-B1A3-4A4A-ACA6-641CB3D1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265974FF-94B8-499F-A5FF-7B6B8D35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5C09B190-8596-4DB1-BA12-F8FF4BC8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C4E0A2D3-A12B-412A-ABEB-001410B0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437E3CBB-E0E1-4D05-9AF4-1E9180BF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4F8E2056-BD97-404C-8F2E-8473FB5B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워크시트 7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59B1C215-E101-47A2-8020-58F00954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21일까지 준비할 것을 팀별로 확정합니다.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BBDA0D21-5EEB-438C-9284-C33AB2A7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누가, 언제까지, 어떤 자료를 준비할지 명확해야 다음 수업이 구현으로 시작됩니다.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e43e11ddb449e8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17C509D-2864-45D7-876A-0FC8A51D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11" name="field-label">
            <a:extLst xmlns:a="http://schemas.openxmlformats.org/drawingml/2006/main">
              <a:ext uri="{FF2B5EF4-FFF2-40B4-BE49-F238E27FC236}">
                <a16:creationId xmlns:a16="http://schemas.microsoft.com/office/drawing/2014/main" id="{E2D0C351-D427-4EBE-9864-15F2CC6F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준비할 샘플 자료</a:t>
            </a:r>
          </a:p>
        </p:txBody>
      </p:sp>
      <p:sp>
        <p:nvSpPr>
          <p:cNvPr id="12" name="field-준비할 샘플 자료">
            <a:extLst xmlns:a="http://schemas.openxmlformats.org/drawingml/2006/main">
              <a:ext uri="{FF2B5EF4-FFF2-40B4-BE49-F238E27FC236}">
                <a16:creationId xmlns:a16="http://schemas.microsoft.com/office/drawing/2014/main" id="{57C59C92-10FD-47D0-9CEA-20DA1C7B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429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field-hint">
            <a:extLst xmlns:a="http://schemas.openxmlformats.org/drawingml/2006/main">
              <a:ext uri="{FF2B5EF4-FFF2-40B4-BE49-F238E27FC236}">
                <a16:creationId xmlns:a16="http://schemas.microsoft.com/office/drawing/2014/main" id="{810A0EB0-1A0B-49A8-BEF5-8A6ABBB8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문서, 표, 예시 요청, 화면 캡처, 정책 문구 등</a:t>
            </a:r>
          </a:p>
        </p:txBody>
      </p:sp>
      <p:sp>
        <p:nvSpPr>
          <p:cNvPr id="14" name="field-label">
            <a:extLst xmlns:a="http://schemas.openxmlformats.org/drawingml/2006/main">
              <a:ext uri="{FF2B5EF4-FFF2-40B4-BE49-F238E27FC236}">
                <a16:creationId xmlns:a16="http://schemas.microsoft.com/office/drawing/2014/main" id="{99C05A67-9F79-4190-A68A-B2BE3CE7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 / 마감</a:t>
            </a:r>
          </a:p>
        </p:txBody>
      </p:sp>
      <p:sp>
        <p:nvSpPr>
          <p:cNvPr id="15" name="field-담당자 / 마감">
            <a:extLst xmlns:a="http://schemas.openxmlformats.org/drawingml/2006/main">
              <a:ext uri="{FF2B5EF4-FFF2-40B4-BE49-F238E27FC236}">
                <a16:creationId xmlns:a16="http://schemas.microsoft.com/office/drawing/2014/main" id="{23DF372E-FA01-4642-9A09-5EA4C408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3429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6" name="field-hint">
            <a:extLst xmlns:a="http://schemas.openxmlformats.org/drawingml/2006/main">
              <a:ext uri="{FF2B5EF4-FFF2-40B4-BE49-F238E27FC236}">
                <a16:creationId xmlns:a16="http://schemas.microsoft.com/office/drawing/2014/main" id="{248A5DCE-360E-44AD-AA61-7BED9EA4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누가 언제까지 준비할 것인가?</a:t>
            </a:r>
          </a:p>
        </p:txBody>
      </p:sp>
      <p:sp>
        <p:nvSpPr>
          <p:cNvPr id="17" name="field-label">
            <a:extLst xmlns:a="http://schemas.openxmlformats.org/drawingml/2006/main">
              <a:ext uri="{FF2B5EF4-FFF2-40B4-BE49-F238E27FC236}">
                <a16:creationId xmlns:a16="http://schemas.microsoft.com/office/drawing/2014/main" id="{614A4E34-D788-486B-AB3C-ED55856F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금지 자료</a:t>
            </a:r>
          </a:p>
        </p:txBody>
      </p:sp>
      <p:sp>
        <p:nvSpPr>
          <p:cNvPr id="18" name="field-금지 자료">
            <a:extLst xmlns:a="http://schemas.openxmlformats.org/drawingml/2006/main">
              <a:ext uri="{FF2B5EF4-FFF2-40B4-BE49-F238E27FC236}">
                <a16:creationId xmlns:a16="http://schemas.microsoft.com/office/drawing/2014/main" id="{3A43DC15-7032-4F50-A5B0-D7910418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57450"/>
            <a:ext cx="3314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9" name="field-hint">
            <a:extLst xmlns:a="http://schemas.openxmlformats.org/drawingml/2006/main">
              <a:ext uri="{FF2B5EF4-FFF2-40B4-BE49-F238E27FC236}">
                <a16:creationId xmlns:a16="http://schemas.microsoft.com/office/drawing/2014/main" id="{B8333D0D-1BE6-44E8-A18D-23388A16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90800"/>
            <a:ext cx="3009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사용하지 않을 민감 자료와 대체 샘플</a:t>
            </a:r>
          </a:p>
        </p:txBody>
      </p:sp>
      <p:sp>
        <p:nvSpPr>
          <p:cNvPr id="20" name="field-label">
            <a:extLst xmlns:a="http://schemas.openxmlformats.org/drawingml/2006/main">
              <a:ext uri="{FF2B5EF4-FFF2-40B4-BE49-F238E27FC236}">
                <a16:creationId xmlns:a16="http://schemas.microsoft.com/office/drawing/2014/main" id="{4E49F99A-AA6A-4C54-A655-7AD175F4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구현 시작점</a:t>
            </a:r>
          </a:p>
        </p:txBody>
      </p:sp>
      <p:sp>
        <p:nvSpPr>
          <p:cNvPr id="21" name="field-8월 21일 구현 시작점">
            <a:extLst xmlns:a="http://schemas.openxmlformats.org/drawingml/2006/main">
              <a:ext uri="{FF2B5EF4-FFF2-40B4-BE49-F238E27FC236}">
                <a16:creationId xmlns:a16="http://schemas.microsoft.com/office/drawing/2014/main" id="{12E1C382-4640-431F-B69B-703F4510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143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2" name="field-hint">
            <a:extLst xmlns:a="http://schemas.openxmlformats.org/drawingml/2006/main">
              <a:ext uri="{FF2B5EF4-FFF2-40B4-BE49-F238E27FC236}">
                <a16:creationId xmlns:a16="http://schemas.microsoft.com/office/drawing/2014/main" id="{EB0C2F9D-71FE-499F-AD38-57E3A036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4838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첫 30분에 멘토와 확인할 구현 범위와 질문</a:t>
            </a:r>
          </a:p>
        </p:txBody>
      </p:sp>
      <p:sp>
        <p:nvSpPr>
          <p:cNvPr id="23" name="field-label">
            <a:extLst xmlns:a="http://schemas.openxmlformats.org/drawingml/2006/main">
              <a:ext uri="{FF2B5EF4-FFF2-40B4-BE49-F238E27FC236}">
                <a16:creationId xmlns:a16="http://schemas.microsoft.com/office/drawing/2014/main" id="{CFCC0720-68D3-4A63-9BB3-D11300A2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28일 발표 가설</a:t>
            </a:r>
          </a:p>
        </p:txBody>
      </p:sp>
      <p:sp>
        <p:nvSpPr>
          <p:cNvPr id="24" name="field-8월 28일 발표 가설">
            <a:extLst xmlns:a="http://schemas.openxmlformats.org/drawingml/2006/main">
              <a:ext uri="{FF2B5EF4-FFF2-40B4-BE49-F238E27FC236}">
                <a16:creationId xmlns:a16="http://schemas.microsoft.com/office/drawing/2014/main" id="{01C6C074-557C-49C9-AC26-ED05E486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5143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25" name="field-hint">
            <a:extLst xmlns:a="http://schemas.openxmlformats.org/drawingml/2006/main">
              <a:ext uri="{FF2B5EF4-FFF2-40B4-BE49-F238E27FC236}">
                <a16:creationId xmlns:a16="http://schemas.microsoft.com/office/drawing/2014/main" id="{45BC4A0E-5A06-4306-9F7B-C3A7678A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4838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어떤 업무를 어떻게 바꿨다고 발표할 것인가?</a:t>
            </a:r>
          </a:p>
        </p:txBody>
      </p:sp>
    </p:spTree>
    <p:extLst>
      <p:ext uri="{BB962C8B-B14F-4D97-AF65-F5344CB8AC3E}">
        <p14:creationId xmlns:p14="http://schemas.microsoft.com/office/powerpoint/2010/main" val="167379749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4107BC34-5AE5-4F24-9544-BD198F64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C4C0F00F-F29A-4321-BC60-A8E55D0E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61F709C7-A78B-4A19-9902-62364BD8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D53F61FC-047F-48BE-A3D1-1DFD6E60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F8E21683-3B04-469C-9A00-B303418F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2BB27CE6-6485-407F-9104-427FBDD5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다음 수업 연결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B24C7F4-7EEB-43D2-8EF6-7C2919F8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오늘 만든 과제는 8월 두 번의 실행 수업으로 이어집니다.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B580B96-EAF0-4112-857B-B7FA6A3A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6월 26일은 문제와 팀을 정하고, 8월에는 구현과 발표를 통해 현업 적용 인사이트를 남깁니다.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491a4207c4f5b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152FA1A-5B7D-4627-B416-DF2223AF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11" name="card-08.21 · 8시간">
            <a:extLst xmlns:a="http://schemas.openxmlformats.org/drawingml/2006/main">
              <a:ext uri="{FF2B5EF4-FFF2-40B4-BE49-F238E27FC236}">
                <a16:creationId xmlns:a16="http://schemas.microsoft.com/office/drawing/2014/main" id="{AD4B1C10-E4FE-4663-857F-87D999F8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337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E6E5F15-CBB6-422C-BBD0-6DAA45C5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d-label">
            <a:extLst xmlns:a="http://schemas.openxmlformats.org/drawingml/2006/main">
              <a:ext uri="{FF2B5EF4-FFF2-40B4-BE49-F238E27FC236}">
                <a16:creationId xmlns:a16="http://schemas.microsoft.com/office/drawing/2014/main" id="{53437462-4EAB-456B-B895-5D8299F8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08.21 · 8시간</a:t>
            </a:r>
          </a:p>
        </p:txBody>
      </p:sp>
      <p:sp>
        <p:nvSpPr>
          <p:cNvPr id="14" name="card-title">
            <a:extLst xmlns:a="http://schemas.openxmlformats.org/drawingml/2006/main">
              <a:ext uri="{FF2B5EF4-FFF2-40B4-BE49-F238E27FC236}">
                <a16:creationId xmlns:a16="http://schemas.microsoft.com/office/drawing/2014/main" id="{23142F3C-368F-4903-9BF4-D552548B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프로젝트 구현 및 멘토링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18D5A257-5DBD-436D-B14C-8B11C9DC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8765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Project Canvas를 기준으로 스파로스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데브엑스에서 AI Agent 또는 업무 보조 도구를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구현합니다.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산출물: 작동 데모, 검증 체크리스트, 개선 요청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16" name="card-08.28 · 8시간">
            <a:extLst xmlns:a="http://schemas.openxmlformats.org/drawingml/2006/main">
              <a:ext uri="{FF2B5EF4-FFF2-40B4-BE49-F238E27FC236}">
                <a16:creationId xmlns:a16="http://schemas.microsoft.com/office/drawing/2014/main" id="{6DF4F96B-EF64-40F0-929C-B159BAB4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DC1DE40-DF38-48DA-92AD-FC68E87F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6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label">
            <a:extLst xmlns:a="http://schemas.openxmlformats.org/drawingml/2006/main">
              <a:ext uri="{FF2B5EF4-FFF2-40B4-BE49-F238E27FC236}">
                <a16:creationId xmlns:a16="http://schemas.microsoft.com/office/drawing/2014/main" id="{53657394-98B2-4DAE-A832-C81C128A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765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11A67A"/>
                </a:solidFill>
                <a:latin typeface="Pretendard"/>
                <a:ea typeface="Pretendard"/>
                <a:cs typeface="Pretendard"/>
              </a:rPr>
              <a:t>08.28 · 8시간</a:t>
            </a:r>
          </a:p>
        </p:txBody>
      </p:sp>
      <p:sp>
        <p:nvSpPr>
          <p:cNvPr id="19" name="card-title">
            <a:extLst xmlns:a="http://schemas.openxmlformats.org/drawingml/2006/main">
              <a:ext uri="{FF2B5EF4-FFF2-40B4-BE49-F238E27FC236}">
                <a16:creationId xmlns:a16="http://schemas.microsoft.com/office/drawing/2014/main" id="{DCBE126D-FEE9-49B4-B1A2-9DB04F35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876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프로젝트 발표 및 회고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9BE00BC8-EDB7-484A-9A2B-6EBB29FD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28765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데모를 발표 가능한 형태로 정리하고, 현업 적용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가능성과 조직 지원 조건을 회고합니다.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산출물: 5분 발표안, 데모 시나리오, 후속 AX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과제 후보</a:t>
            </a:r>
          </a:p>
        </p:txBody>
      </p:sp>
      <p:sp>
        <p:nvSpPr>
          <p:cNvPr id="21" name="card-사전 준비">
            <a:extLst xmlns:a="http://schemas.openxmlformats.org/drawingml/2006/main">
              <a:ext uri="{FF2B5EF4-FFF2-40B4-BE49-F238E27FC236}">
                <a16:creationId xmlns:a16="http://schemas.microsoft.com/office/drawing/2014/main" id="{F61A957C-6E72-4C10-8548-DAFE35D3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3143250" cy="2809875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CE25079-C168-4376-846B-B631666A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86000"/>
            <a:ext cx="762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label">
            <a:extLst xmlns:a="http://schemas.openxmlformats.org/drawingml/2006/main">
              <a:ext uri="{FF2B5EF4-FFF2-40B4-BE49-F238E27FC236}">
                <a16:creationId xmlns:a16="http://schemas.microsoft.com/office/drawing/2014/main" id="{F22646CA-C505-458C-9DB3-59972306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사전 준비</a:t>
            </a:r>
          </a:p>
        </p:txBody>
      </p:sp>
      <p:sp>
        <p:nvSpPr>
          <p:cNvPr id="24" name="card-title">
            <a:extLst xmlns:a="http://schemas.openxmlformats.org/drawingml/2006/main">
              <a:ext uri="{FF2B5EF4-FFF2-40B4-BE49-F238E27FC236}">
                <a16:creationId xmlns:a16="http://schemas.microsoft.com/office/drawing/2014/main" id="{44FD2D1C-9388-4A87-9D90-5DE432CE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7622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준비</a:t>
            </a:r>
          </a:p>
        </p:txBody>
      </p:sp>
      <p:sp>
        <p:nvSpPr>
          <p:cNvPr id="25" name="card-body">
            <a:extLst xmlns:a="http://schemas.openxmlformats.org/drawingml/2006/main">
              <a:ext uri="{FF2B5EF4-FFF2-40B4-BE49-F238E27FC236}">
                <a16:creationId xmlns:a16="http://schemas.microsoft.com/office/drawing/2014/main" id="{A98C09E8-48AA-43BF-B513-E8222094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76600"/>
            <a:ext cx="26860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샘플 자료 준비, 금지 자료 정리, 현재 업무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프로세스 설명, 멘토 질문 목록 작성이</a:t>
            </a:r>
          </a:p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6771416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ecor-ring-1">
            <a:extLst xmlns:a="http://schemas.openxmlformats.org/drawingml/2006/main">
              <a:ext uri="{FF2B5EF4-FFF2-40B4-BE49-F238E27FC236}">
                <a16:creationId xmlns:a16="http://schemas.microsoft.com/office/drawing/2014/main" id="{53B3687E-2444-48F7-A0C2-3F229529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09600" y="-800100"/>
            <a:ext cx="342900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2" name="decor-ring-2">
            <a:extLst xmlns:a="http://schemas.openxmlformats.org/drawingml/2006/main">
              <a:ext uri="{FF2B5EF4-FFF2-40B4-BE49-F238E27FC236}">
                <a16:creationId xmlns:a16="http://schemas.microsoft.com/office/drawing/2014/main" id="{B2E7D882-DC09-4AA5-95F2-BB9E213B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" y="-895350"/>
            <a:ext cx="2762250" cy="2095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BFF"/>
            </a:solidFill>
            <a:prstDash val="solid"/>
          </a:ln>
        </p:spPr>
      </p:sp>
      <p:sp>
        <p:nvSpPr>
          <p:cNvPr id="3" name="decor-orb-1">
            <a:extLst xmlns:a="http://schemas.openxmlformats.org/drawingml/2006/main">
              <a:ext uri="{FF2B5EF4-FFF2-40B4-BE49-F238E27FC236}">
                <a16:creationId xmlns:a16="http://schemas.microsoft.com/office/drawing/2014/main" id="{3479BD1E-55AC-4651-8987-310984E3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33375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ecor-orb-2">
            <a:extLst xmlns:a="http://schemas.openxmlformats.org/drawingml/2006/main">
              <a:ext uri="{FF2B5EF4-FFF2-40B4-BE49-F238E27FC236}">
                <a16:creationId xmlns:a16="http://schemas.microsoft.com/office/drawing/2014/main" id="{EBE8EDE3-E1E2-41B1-ABA2-19E3B01F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2952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itle-bar">
            <a:extLst xmlns:a="http://schemas.openxmlformats.org/drawingml/2006/main">
              <a:ext uri="{FF2B5EF4-FFF2-40B4-BE49-F238E27FC236}">
                <a16:creationId xmlns:a16="http://schemas.microsoft.com/office/drawing/2014/main" id="{585B1C91-333A-4A6F-BB56-4A2CC65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830C12B-9994-4DA2-8D45-1829E182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수업 종료 전 확인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1402e9d3b4b6d"/>
          <a:stretch xmlns:a="http://schemas.openxmlformats.org/drawingml/2006/main"/>
        </p:blipFill>
        <p:spPr>
          <a:xfrm xmlns:a="http://schemas.openxmlformats.org/drawingml/2006/main">
            <a:off x="10668000" y="269137"/>
            <a:ext cx="1257300" cy="204677"/>
          </a:xfrm>
          <a:prstGeom xmlns:a="http://schemas.openxmlformats.org/drawingml/2006/main" prst="rect">
            <a:avLst/>
          </a:prstGeom>
        </p:spPr>
      </p:pic>
      <p:sp>
        <p:nvSpPr>
          <p:cNvPr id="8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DCED2F1E-042B-4A2E-9D4D-3C0CADDF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9" name="check-text">
            <a:extLst xmlns:a="http://schemas.openxmlformats.org/drawingml/2006/main">
              <a:ext uri="{FF2B5EF4-FFF2-40B4-BE49-F238E27FC236}">
                <a16:creationId xmlns:a16="http://schemas.microsoft.com/office/drawing/2014/main" id="{131C71D3-2DFA-4F8B-ABCC-80937DAB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668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팀명과 3인 역할이 정해졌는가?</a:t>
            </a:r>
          </a:p>
        </p:txBody>
      </p:sp>
      <p:sp>
        <p:nvSpPr>
          <p:cNvPr id="10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2377DBA2-E068-4D85-B1AF-06C07067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1" name="check-text">
            <a:extLst xmlns:a="http://schemas.openxmlformats.org/drawingml/2006/main">
              <a:ext uri="{FF2B5EF4-FFF2-40B4-BE49-F238E27FC236}">
                <a16:creationId xmlns:a16="http://schemas.microsoft.com/office/drawing/2014/main" id="{FEE29DA7-3DC5-465C-8B06-3391A08F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해결할 업무 문제를 한 문장으로 썼는가?</a:t>
            </a:r>
          </a:p>
        </p:txBody>
      </p:sp>
      <p:sp>
        <p:nvSpPr>
          <p:cNvPr id="12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855B3F73-2FD6-4694-8FFC-FBA8B0DD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3" name="check-text">
            <a:extLst xmlns:a="http://schemas.openxmlformats.org/drawingml/2006/main">
              <a:ext uri="{FF2B5EF4-FFF2-40B4-BE49-F238E27FC236}">
                <a16:creationId xmlns:a16="http://schemas.microsoft.com/office/drawing/2014/main" id="{1D88DC2C-065E-45F7-B825-4EADEE95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AI가 보조할 일과 사람이 검토할 일이 분리됐는가?</a:t>
            </a:r>
          </a:p>
        </p:txBody>
      </p:sp>
      <p:sp>
        <p:nvSpPr>
          <p:cNvPr id="14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F6585162-6DD3-4B19-9B75-DC67C7E5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</p:sp>
      <p:sp>
        <p:nvSpPr>
          <p:cNvPr id="15" name="check-text">
            <a:extLst xmlns:a="http://schemas.openxmlformats.org/drawingml/2006/main">
              <a:ext uri="{FF2B5EF4-FFF2-40B4-BE49-F238E27FC236}">
                <a16:creationId xmlns:a16="http://schemas.microsoft.com/office/drawing/2014/main" id="{332886BA-F4DA-4D03-9D85-40AC4D80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8월 21일 데모 장면과 샘플 자료가 정해졌는가?</a:t>
            </a:r>
          </a:p>
        </p:txBody>
      </p:sp>
      <p:sp>
        <p:nvSpPr>
          <p:cNvPr id="16" name="check-square">
            <a:extLst xmlns:a="http://schemas.openxmlformats.org/drawingml/2006/main">
              <a:ext uri="{FF2B5EF4-FFF2-40B4-BE49-F238E27FC236}">
                <a16:creationId xmlns:a16="http://schemas.microsoft.com/office/drawing/2014/main" id="{95B804C3-6DD5-4842-B679-2CB3B6F3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7" name="check-text">
            <a:extLst xmlns:a="http://schemas.openxmlformats.org/drawingml/2006/main">
              <a:ext uri="{FF2B5EF4-FFF2-40B4-BE49-F238E27FC236}">
                <a16:creationId xmlns:a16="http://schemas.microsoft.com/office/drawing/2014/main" id="{9D99DC39-9AAE-4C87-B2DA-6D50DBF5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팀별 준비 담당자와 마감이 정해졌는가?</a:t>
            </a:r>
          </a:p>
        </p:txBody>
      </p:sp>
      <p:sp>
        <p:nvSpPr>
          <p:cNvPr id="18" name="closing-panel">
            <a:extLst xmlns:a="http://schemas.openxmlformats.org/drawingml/2006/main">
              <a:ext uri="{FF2B5EF4-FFF2-40B4-BE49-F238E27FC236}">
                <a16:creationId xmlns:a16="http://schemas.microsoft.com/office/drawing/2014/main" id="{3D4241CB-9C61-42CD-BF65-1FF4567B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67200"/>
            <a:ext cx="485775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4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2DC9E183-787A-4E87-824B-A9A87FD1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29150"/>
            <a:ext cx="42481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오늘 남길 것은 도구 사용 경험이 아니라,</a:t>
            </a:r>
          </a:p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2F80ED"/>
                </a:solidFill>
                <a:latin typeface="Pretendard"/>
                <a:ea typeface="Pretendard"/>
                <a:cs typeface="Pretendard"/>
              </a:rPr>
              <a:t>현업 업무를 AI와 함께 처리하는 실행 기준입니다.</a:t>
            </a:r>
          </a:p>
        </p:txBody>
      </p:sp>
      <p:sp>
        <p:nvSpPr>
          <p:cNvPr id="2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FE38CDF-54BA-4783-BA3B-83D95D15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43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270038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2026-06-26T00:49:06.4660000Z</dcterms:created>
  <dcterms:modified xsi:type="dcterms:W3CDTF">2026-06-26T00:49:06.4660000Z</dcterms:modified>
</coreProperties>
</file>